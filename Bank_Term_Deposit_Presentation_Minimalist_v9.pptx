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9"/>
    <p:restoredTop sz="94610"/>
  </p:normalViewPr>
  <p:slideViewPr>
    <p:cSldViewPr snapToGrid="0" snapToObjects="1">
      <p:cViewPr varScale="1">
        <p:scale>
          <a:sx n="122" d="100"/>
          <a:sy n="122" d="100"/>
        </p:scale>
        <p:origin x="4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7843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(Bahasa Indonesia):
Pembuka: perkenalkan judul project dan use case. Tekankan bahwa tujuan project adalah membantu campaign manager memprioritaskan client untuk campaign term deposit berdasarkan data historis dan prediction score. Sebutkan nama presenter sesuai pembagian presentasi.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(Bahasa Indonesia):
Slide ini menjelaskan alur presentasi. Kita mulai dari konteks stakeholder dan masalah bisnis, lalu masuk ke data, insight EDA, pendekatan machine learning, dan terakhir rekomendasi yang bisa digunakan untuk keputusan campaign.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merangkum keseluruhan project. Background-nya adalah direct marketing untuk produk term deposit. Problem utamanya adalah conversion rate historical hanya 11,27%, sehingga campaign perlu prioritas yang lebih terarah. Stakeholder utama adalah Marketing atau Campaign Manager. Target yang diprediksi adalah y = yes, yaitu client melakukan subscription. Pendekatannya menggabungkan Data Analytics dan Machine Learning Classification. Metric utama adalah Average Precision karena class subscriber sangat minoritas dan kita membutuhkan ranking client.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ini berada pada konteks direct marketing banking. Stakeholder yang paling membutuhkan output adalah Marketing atau Campaign Manager karena mereka perlu menentukan client mana yang diprioritaskan. CRM menyediakan konteks profile dan interaction history, Product Manager melihat product performance, Contact Center menjalankan call campaign, dan analytics team membantu mengubah data historis menjadi ranking support.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Masalah bisnisnya bukan sekadar memprediksi ya atau tidak, tetapi membantu campaign team menentukan prioritas sebelum contact attempt dilakukan. Karena hanya 11,27% historical observations menghasilkan subscription, jika semua client diperlakukan sama maka effort campaign menjadi kurang terarah. Machine learning digunakan karena banyak feature yang saling berinteraksi, sehingga model dapat menghasilkan score untuk ranking.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data understanding dimulai dari sumber dan unit analisis. Satu baris data merepresentasikan satu observasi client dalam konteks campaign, bukan unique customer karena tidak ada client ID. Total terdapat 41.188 observasi dan 21 kolom. Feature dibagi menjadi profile, financial, campaign context, previous campaign, dan economic indicators. Tidak ada external data yang digabung untuk modeling; external benchmark hanya digunakan untuk business scenario cost.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Attribute reference ini membantu menjelaskan arti setiap kelompok kolom. Feature duration memang ada di dataset, tetapi hanya digunakan sebagai leakage diagnostic dan tidak masuk pre-contact model. Feature pdays, previous, dan poutcome penting karena membawa informasi dari previous campaign. Economic indicators penting karena hasil EDA dan model interpretation menunjukkan sinyal yang cukup kuat.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y sangat imbalanced. Hanya 4.640 observasi atau 11,27% yang subscribe, sedangkan 88,73% tidak subscribe. Karena itu, accuracy saja tidak cukup. Model bisa terlihat akurat hanya dengan menebak mayoritas no, tetapi gagal menemukan subscriber. Maka metric utama yang digunakan adalah Average Precision.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menambahkan distribusi feature yang paling relevan. Nilai pdays = 999 muncul sangat dominan, yaitu 96,32%, dan artinya client belum pernah dihubungi pada previous campaign. Poutcome = nonexistent juga dominan karena banyak client tidak punya previous campaign outcome. Karena nilai-nilai ini memiliki makna bisnis, kita tidak menganggapnya sebagai missing value biasa.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cleaning dan feature engineering dirangkum dalam flow. Pertama, feature availability dicek berdasarkan scoring time. Duration dihapus karena baru diketahui setelah call selesai. Pdays tidak langsung digunakan sebagai angka biasa karena 999 punya makna tidak pernah dihubungi sebelumnya. Unknown dan nonexistent dipertahankan karena memiliki makna semantik atau struktural. Encoding dan scaling dipilih berdasarkan cardinality, distribusi, dan business meaning.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Dari EDA, signal paling kuat secara descriptive adalah previous campaign success. Subscription rate untuk poutcome success mencapai 65,11%, jauh di atas overall rate 11,27%. Cellular contact juga memiliki subscription rate lebih tinggi dibanding telephone. Namun semua ini bersifat asosiasi, bukan bukti sebab-akibat. Karena itu, temuan ini dipakai sebagai supporting context.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Multivariate analysis menggunakan Spearman correlation karena beberapa numerical features skewed dan memiliki extreme values. Economic indicators seperti emp.var.rate, euribor3m, dan nr.employed sangat berkorelasi. Artinya, feature ini membawa informasi yang overlapping tentang kondisi ekonomi. Karena itu interpretasi model harus hati-hati dan monitoring distribution perlu dilakukan ketika campaign berbeda periode.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Pendekatan analytical terdiri dari dua bagian. Analytics digunakan untuk memahami pola dalam data, sedangkan model classification digunakan untuk menghasilkan prediction score. Di training flow, Random Oversampling hanya diterapkan pada training fold agar minority class lebih terlihat oleh model. Di scoring flow, oversampling tidak digunakan; eligible clients masuk ke feature engineering, preprocessing, Gradient Boosting, lalu menghasilkan prediction score.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menunjukkan pemilihan model berbasis cross-validation. Semua model dibandingkan dengan protocol yang sama. Naive baseline hanya menghasilkan AP sekitar 0,1127. Gradient Boosting tanpa treatment sudah baik, tetapi Gradient Boosting dengan Random Oversampling menghasilkan 5-fold CV AP tertinggi, yaitu 0,4634. Tuning sudah dicoba, tetapi AP menjadi 0,4625, sehingga base configuration dipertahankan.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model dievaluasi pada untouched test set. Hasilnya AP 0,4810 dan ROC-AUC 0,8140. Test AP ini masih sejalan dengan 5-fold CV AP 0,4634, sehingga model cukup konsisten untuk ranking pada unseen data. Average Precision tetap menjadi metric utama karena fokus pada subscriber sebagai positive class yang minoritas.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Gradient Boosting bekerja dengan membangun pohon keputusan secara bertahap. Setiap tree berikutnya belajar dari error tree sebelumnya. Random Oversampling membantu menambah exposure positive class hanya selama training folds. Final model menghasilkan score, bukan keputusan otomatis. Decision business tetap membutuhkan threshold, capacity, dan rule dari stakeholder.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Threshold bukan universal optimum. Pada threshold 0,50, recall lebih tinggi dan lebih banyak actual subscriber tertangkap, tetapi target pool lebih besar. Pada threshold 0,60, target pool lebih kecil dan precision lebih tinggi. Jadi pemilihan threshold harus disesuaikan dengan kapasitas campaign dan prioritas bisnis.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impact dihitung dari confusion matrix dan contact-cost scenario. Jika threshold dinaikkan dari 0,50 ke 0,60, false positive turun dari 994 menjadi 731. Dengan asumsi USD 5 per contact, potential unnecessary contact cost turun sekitar USD 1.315. Dengan sensitivity cost USD 9,10, reduction sekitar USD 2.393,30. Namun trade-off-nya adalah false negative naik 42 actual subscribers. Karena baseline cost sebelum ML tidak tersedia, ini tetap disebut illustrative scenario.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model interpretation, permutation importance menunjukkan feature mana yang paling menurunkan AP ketika diacak. SHAP digunakan sebagai explanation tambahan pada transformed features. Keduanya konsisten menunjukkan bahwa economic indicators menjadi major predictive signals. Namun ini tetap predictive dan associational, bukan causal. Pdays harus dibaca sebagai previous-contact history karena sudah melalui feature engineering.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Limitasi utama model adalah temporal generalization karena data berasal dari satu konteks campaign historis. Dataset juga tidak memiliki revenue per subscription, deposit value, profitability, atau CLV, sehingga tidak bisa menghitung ROI. Tidak ada unique client ID, sehingga row merepresentasikan observation. Beberapa feature juga conditional tergantung scoring time. Alternatif model sudah dievaluasi, tetapi tidak mengalahkan Gradient Boosting plus ROS pada CV AP.</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Kesimpulannya, secara diagnostic previous campaign success adalah signal historis yang kuat, repeated contacts perlu direview, dan economic conditions perlu dimonitor. Secara predictive, model Gradient Boosting plus Random Oversampling dipilih dengan test AP 0,4810 dan ROC-AUC 0,8140. Secara keputusan bisnis, threshold 0,50 cocok untuk coverage, sedangkan 0,60 lebih selective.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 dibuat langsung dari hasil analisis. Pertama, gunakan prediction score untuk ranking eligible clients sebelum contact. Kedua, gunakan previous response dan contact history sebagai konteks segmentation. Ketiga, review client dengan repeated contacts sebelum additional attempts. Keempat, monitor economic context dan model performance antar periode. Threshold final harus disesuaikan dengan kapasitas campaign dan observed performance.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Sampai di sini, kesimpulan utama kami adalah prediction score dapat membantu campaign team membuat prioritas client yang lebih terarah. Kami siap menerima pertanyaan dan diskusi.</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0B2545"/>
          </a:solidFill>
          <a:ln w="12700">
            <a:solidFill>
              <a:srgbClr val="0B2545"/>
            </a:solidFill>
            <a:prstDash val="solid"/>
          </a:ln>
        </p:spPr>
      </p:sp>
      <p:sp>
        <p:nvSpPr>
          <p:cNvPr id="3" name="Text 1"/>
          <p:cNvSpPr/>
          <p:nvPr/>
        </p:nvSpPr>
        <p:spPr>
          <a:xfrm>
            <a:off x="411480" y="502920"/>
            <a:ext cx="3657600" cy="228600"/>
          </a:xfrm>
          <a:prstGeom prst="rect">
            <a:avLst/>
          </a:prstGeom>
          <a:noFill/>
          <a:ln/>
        </p:spPr>
        <p:txBody>
          <a:bodyPr wrap="square" lIns="0" tIns="0" rIns="0" bIns="0" rtlCol="0" anchor="ctr"/>
          <a:lstStyle/>
          <a:p>
            <a:pPr marL="0" indent="0">
              <a:buNone/>
            </a:pPr>
            <a:r>
              <a:rPr lang="en-US" sz="850" b="1" dirty="0">
                <a:solidFill>
                  <a:srgbClr val="20A7A5"/>
                </a:solidFill>
                <a:latin typeface="Aptos" pitchFamily="34" charset="0"/>
                <a:ea typeface="Aptos" pitchFamily="34" charset="-122"/>
                <a:cs typeface="Aptos" pitchFamily="34" charset="-120"/>
              </a:rPr>
              <a:t>DATA SCIENCE FINAL PROJECT</a:t>
            </a:r>
            <a:endParaRPr lang="en-US" sz="850" dirty="0"/>
          </a:p>
        </p:txBody>
      </p:sp>
      <p:sp>
        <p:nvSpPr>
          <p:cNvPr id="4" name="Text 2"/>
          <p:cNvSpPr/>
          <p:nvPr/>
        </p:nvSpPr>
        <p:spPr>
          <a:xfrm>
            <a:off x="411480" y="960120"/>
            <a:ext cx="4572000" cy="475488"/>
          </a:xfrm>
          <a:prstGeom prst="rect">
            <a:avLst/>
          </a:prstGeom>
          <a:noFill/>
          <a:ln/>
        </p:spPr>
        <p:txBody>
          <a:bodyPr wrap="square" lIns="0" tIns="0" rIns="0" bIns="0" rtlCol="0" anchor="ctr"/>
          <a:lstStyle/>
          <a:p>
            <a:pPr marL="0" indent="0">
              <a:buNone/>
            </a:pPr>
            <a:r>
              <a:rPr lang="en-US" sz="2700" b="1" dirty="0">
                <a:solidFill>
                  <a:srgbClr val="0B2545"/>
                </a:solidFill>
                <a:latin typeface="Aptos" pitchFamily="34" charset="0"/>
                <a:ea typeface="Aptos" pitchFamily="34" charset="-122"/>
                <a:cs typeface="Aptos" pitchFamily="34" charset="-120"/>
              </a:rPr>
              <a:t>Data-Driven Bank Marketing</a:t>
            </a:r>
            <a:endParaRPr lang="en-US" sz="2700" dirty="0"/>
          </a:p>
        </p:txBody>
      </p:sp>
      <p:sp>
        <p:nvSpPr>
          <p:cNvPr id="5" name="Text 3"/>
          <p:cNvSpPr/>
          <p:nvPr/>
        </p:nvSpPr>
        <p:spPr>
          <a:xfrm>
            <a:off x="411480" y="1618488"/>
            <a:ext cx="4572000" cy="457200"/>
          </a:xfrm>
          <a:prstGeom prst="rect">
            <a:avLst/>
          </a:prstGeom>
          <a:noFill/>
          <a:ln/>
        </p:spPr>
        <p:txBody>
          <a:bodyPr wrap="square" lIns="0" tIns="0" rIns="0" bIns="0" rtlCol="0" anchor="ctr"/>
          <a:lstStyle/>
          <a:p>
            <a:pPr marL="0" indent="0">
              <a:buNone/>
            </a:pPr>
            <a:r>
              <a:rPr lang="en-US" sz="2100" dirty="0">
                <a:solidFill>
                  <a:srgbClr val="263238"/>
                </a:solidFill>
                <a:latin typeface="Aptos" pitchFamily="34" charset="0"/>
                <a:ea typeface="Aptos" pitchFamily="34" charset="-122"/>
                <a:cs typeface="Aptos" pitchFamily="34" charset="-120"/>
              </a:rPr>
              <a:t>Term Deposit Prediction</a:t>
            </a:r>
            <a:endParaRPr lang="en-US" sz="2100" dirty="0"/>
          </a:p>
        </p:txBody>
      </p:sp>
      <p:sp>
        <p:nvSpPr>
          <p:cNvPr id="6" name="Shape 4"/>
          <p:cNvSpPr/>
          <p:nvPr/>
        </p:nvSpPr>
        <p:spPr>
          <a:xfrm>
            <a:off x="411480" y="2157984"/>
            <a:ext cx="1737360" cy="36576"/>
          </a:xfrm>
          <a:prstGeom prst="rect">
            <a:avLst/>
          </a:prstGeom>
          <a:solidFill>
            <a:srgbClr val="F4A340"/>
          </a:solidFill>
          <a:ln w="12700">
            <a:solidFill>
              <a:srgbClr val="F4A340"/>
            </a:solidFill>
            <a:prstDash val="solid"/>
          </a:ln>
        </p:spPr>
      </p:sp>
      <p:sp>
        <p:nvSpPr>
          <p:cNvPr id="7" name="Text 5"/>
          <p:cNvSpPr/>
          <p:nvPr/>
        </p:nvSpPr>
        <p:spPr>
          <a:xfrm>
            <a:off x="411480" y="2587752"/>
            <a:ext cx="4480560" cy="310896"/>
          </a:xfrm>
          <a:prstGeom prst="rect">
            <a:avLst/>
          </a:prstGeom>
          <a:noFill/>
          <a:ln/>
        </p:spPr>
        <p:txBody>
          <a:bodyPr wrap="square" lIns="0" tIns="0" rIns="0" bIns="0" rtlCol="0" anchor="ctr"/>
          <a:lstStyle/>
          <a:p>
            <a:pPr marL="0" indent="0">
              <a:buNone/>
            </a:pPr>
            <a:r>
              <a:rPr lang="en-US" sz="1580" dirty="0">
                <a:solidFill>
                  <a:srgbClr val="263238"/>
                </a:solidFill>
                <a:latin typeface="Aptos" pitchFamily="34" charset="0"/>
                <a:ea typeface="Aptos" pitchFamily="34" charset="-122"/>
                <a:cs typeface="Aptos" pitchFamily="34" charset="-120"/>
              </a:rPr>
              <a:t>Client Ranking for Campaign Prioritization</a:t>
            </a:r>
            <a:endParaRPr lang="en-US" sz="1580" dirty="0"/>
          </a:p>
        </p:txBody>
      </p:sp>
      <p:pic>
        <p:nvPicPr>
          <p:cNvPr id="8" name="Image 0" descr="/mnt/data/cover_visual_extract.png"/>
          <p:cNvPicPr>
            <a:picLocks noChangeAspect="1"/>
          </p:cNvPicPr>
          <p:nvPr/>
        </p:nvPicPr>
        <p:blipFill>
          <a:blip r:embed="rId3"/>
          <a:stretch>
            <a:fillRect/>
          </a:stretch>
        </p:blipFill>
        <p:spPr>
          <a:xfrm>
            <a:off x="5321808" y="994153"/>
            <a:ext cx="6855864" cy="3858473"/>
          </a:xfrm>
          <a:prstGeom prst="rect">
            <a:avLst/>
          </a:prstGeom>
        </p:spPr>
      </p:pic>
      <p:sp>
        <p:nvSpPr>
          <p:cNvPr id="9" name="Text 6"/>
          <p:cNvSpPr/>
          <p:nvPr/>
        </p:nvSpPr>
        <p:spPr>
          <a:xfrm>
            <a:off x="411480" y="4892040"/>
            <a:ext cx="3291840" cy="685800"/>
          </a:xfrm>
          <a:prstGeom prst="rect">
            <a:avLst/>
          </a:prstGeom>
          <a:solidFill>
            <a:srgbClr val="F4F8FA"/>
          </a:solidFill>
          <a:ln>
            <a:solidFill>
              <a:srgbClr val="D7E6EA">
                <a:alpha val="65000"/>
              </a:srgbClr>
            </a:solidFill>
          </a:ln>
        </p:spPr>
        <p:txBody>
          <a:bodyPr wrap="square" lIns="1524" tIns="1524" rIns="1524" bIns="1524" rtlCol="0" anchor="ctr">
            <a:normAutofit/>
          </a:bodyPr>
          <a:lstStyle/>
          <a:p>
            <a:pPr marL="0" indent="0">
              <a:buNone/>
            </a:pPr>
            <a:r>
              <a:rPr lang="en-US" sz="1220" dirty="0">
                <a:solidFill>
                  <a:srgbClr val="0B2545"/>
                </a:solidFill>
                <a:latin typeface="Aptos" pitchFamily="34" charset="0"/>
                <a:ea typeface="Aptos" pitchFamily="34" charset="-122"/>
                <a:cs typeface="Aptos" pitchFamily="34" charset="-120"/>
              </a:rPr>
              <a:t> Presented by:</a:t>
            </a:r>
            <a:endParaRPr lang="en-US" sz="1220" dirty="0"/>
          </a:p>
          <a:p>
            <a:pPr marL="0" indent="0">
              <a:buNone/>
            </a:pPr>
            <a:r>
              <a:rPr lang="en-US" sz="1220" dirty="0">
                <a:solidFill>
                  <a:srgbClr val="0B2545"/>
                </a:solidFill>
                <a:latin typeface="Aptos" pitchFamily="34" charset="0"/>
                <a:ea typeface="Aptos" pitchFamily="34" charset="-122"/>
                <a:cs typeface="Aptos" pitchFamily="34" charset="-120"/>
              </a:rPr>
              <a:t> Rika Fadhilah Naufal</a:t>
            </a:r>
            <a:endParaRPr lang="en-US" sz="1220" dirty="0"/>
          </a:p>
          <a:p>
            <a:pPr marL="0" indent="0">
              <a:buNone/>
            </a:pPr>
            <a:r>
              <a:rPr lang="en-US" sz="1220" dirty="0">
                <a:solidFill>
                  <a:srgbClr val="0B2545"/>
                </a:solidFill>
                <a:latin typeface="Aptos" pitchFamily="34" charset="0"/>
                <a:ea typeface="Aptos" pitchFamily="34" charset="-122"/>
                <a:cs typeface="Aptos" pitchFamily="34" charset="-120"/>
              </a:rPr>
              <a:t> </a:t>
            </a:r>
            <a:r>
              <a:rPr lang="en-US" sz="1220" dirty="0" err="1">
                <a:solidFill>
                  <a:srgbClr val="0B2545"/>
                </a:solidFill>
                <a:latin typeface="Aptos" pitchFamily="34" charset="0"/>
                <a:ea typeface="Aptos" pitchFamily="34" charset="-122"/>
                <a:cs typeface="Aptos" pitchFamily="34" charset="-120"/>
              </a:rPr>
              <a:t>Yonkie</a:t>
            </a:r>
            <a:r>
              <a:rPr lang="en-US" sz="1220" dirty="0">
                <a:solidFill>
                  <a:srgbClr val="0B2545"/>
                </a:solidFill>
                <a:latin typeface="Aptos" pitchFamily="34" charset="0"/>
                <a:ea typeface="Aptos" pitchFamily="34" charset="-122"/>
                <a:cs typeface="Aptos" pitchFamily="34" charset="-120"/>
              </a:rPr>
              <a:t> Yudha Ardika</a:t>
            </a:r>
            <a:endParaRPr lang="en-US" sz="1220" dirty="0"/>
          </a:p>
        </p:txBody>
      </p:sp>
      <p:sp>
        <p:nvSpPr>
          <p:cNvPr id="10" name="Text 7"/>
          <p:cNvSpPr/>
          <p:nvPr/>
        </p:nvSpPr>
        <p:spPr>
          <a:xfrm>
            <a:off x="11155680" y="201168"/>
            <a:ext cx="658368" cy="164592"/>
          </a:xfrm>
          <a:prstGeom prst="rect">
            <a:avLst/>
          </a:prstGeom>
          <a:noFill/>
          <a:ln/>
        </p:spPr>
        <p:txBody>
          <a:bodyPr wrap="square" lIns="0" tIns="0" rIns="0" bIns="0" rtlCol="0" anchor="ctr"/>
          <a:lstStyle/>
          <a:p>
            <a:pPr marL="0" indent="0" algn="r">
              <a:buNone/>
            </a:pPr>
            <a:r>
              <a:rPr lang="en-US" sz="720" dirty="0">
                <a:solidFill>
                  <a:srgbClr val="5D6A75"/>
                </a:solidFill>
                <a:latin typeface="Aptos" pitchFamily="34" charset="0"/>
                <a:ea typeface="Aptos" pitchFamily="34" charset="-122"/>
                <a:cs typeface="Aptos" pitchFamily="34" charset="-120"/>
              </a:rPr>
              <a:t>1/20</a:t>
            </a:r>
            <a:endParaRPr lang="en-US" sz="7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0B2545"/>
          </a:solidFill>
          <a:ln w="12700">
            <a:solidFill>
              <a:srgbClr val="0B2545"/>
            </a:solidFill>
            <a:prstDash val="solid"/>
          </a:ln>
        </p:spPr>
      </p:sp>
      <p:sp>
        <p:nvSpPr>
          <p:cNvPr id="3" name="Text 1"/>
          <p:cNvSpPr/>
          <p:nvPr/>
        </p:nvSpPr>
        <p:spPr>
          <a:xfrm>
            <a:off x="292608" y="201168"/>
            <a:ext cx="6035040" cy="219456"/>
          </a:xfrm>
          <a:prstGeom prst="rect">
            <a:avLst/>
          </a:prstGeom>
          <a:noFill/>
          <a:ln/>
        </p:spPr>
        <p:txBody>
          <a:bodyPr wrap="square" lIns="0" tIns="0" rIns="0" bIns="0" rtlCol="0" anchor="ctr"/>
          <a:lstStyle/>
          <a:p>
            <a:pPr marL="0" indent="0">
              <a:buNone/>
            </a:pPr>
            <a:r>
              <a:rPr lang="en-US" sz="780" b="1" dirty="0">
                <a:solidFill>
                  <a:srgbClr val="20A7A5"/>
                </a:solidFill>
                <a:latin typeface="Aptos" pitchFamily="34" charset="0"/>
                <a:ea typeface="Aptos" pitchFamily="34" charset="-122"/>
                <a:cs typeface="Aptos" pitchFamily="34" charset="-120"/>
              </a:rPr>
              <a:t>PRESENTATION FLOW</a:t>
            </a:r>
            <a:endParaRPr lang="en-US" sz="780" dirty="0"/>
          </a:p>
        </p:txBody>
      </p:sp>
      <p:sp>
        <p:nvSpPr>
          <p:cNvPr id="4" name="Text 2"/>
          <p:cNvSpPr/>
          <p:nvPr/>
        </p:nvSpPr>
        <p:spPr>
          <a:xfrm>
            <a:off x="292608" y="502920"/>
            <a:ext cx="7406640" cy="475488"/>
          </a:xfrm>
          <a:prstGeom prst="rect">
            <a:avLst/>
          </a:prstGeom>
          <a:noFill/>
          <a:ln/>
        </p:spPr>
        <p:txBody>
          <a:bodyPr wrap="square" lIns="0" tIns="0" rIns="0" bIns="0" rtlCol="0" anchor="ctr"/>
          <a:lstStyle/>
          <a:p>
            <a:pPr marL="0" indent="0">
              <a:buNone/>
            </a:pPr>
            <a:r>
              <a:rPr lang="en-US" sz="2400" b="1" dirty="0">
                <a:solidFill>
                  <a:srgbClr val="0B2545"/>
                </a:solidFill>
                <a:latin typeface="Aptos" pitchFamily="34" charset="0"/>
                <a:ea typeface="Aptos" pitchFamily="34" charset="-122"/>
                <a:cs typeface="Aptos" pitchFamily="34" charset="-120"/>
              </a:rPr>
              <a:t>Agenda</a:t>
            </a:r>
            <a:endParaRPr lang="en-US" sz="2400" dirty="0"/>
          </a:p>
        </p:txBody>
      </p:sp>
      <p:sp>
        <p:nvSpPr>
          <p:cNvPr id="5" name="Shape 3"/>
          <p:cNvSpPr/>
          <p:nvPr/>
        </p:nvSpPr>
        <p:spPr>
          <a:xfrm>
            <a:off x="292608" y="1051560"/>
            <a:ext cx="1572768" cy="27432"/>
          </a:xfrm>
          <a:prstGeom prst="rect">
            <a:avLst/>
          </a:prstGeom>
          <a:solidFill>
            <a:srgbClr val="F4A340"/>
          </a:solidFill>
          <a:ln w="12700">
            <a:solidFill>
              <a:srgbClr val="F4A340"/>
            </a:solidFill>
            <a:prstDash val="solid"/>
          </a:ln>
        </p:spPr>
      </p:sp>
      <p:sp>
        <p:nvSpPr>
          <p:cNvPr id="6" name="Text 4"/>
          <p:cNvSpPr/>
          <p:nvPr/>
        </p:nvSpPr>
        <p:spPr>
          <a:xfrm>
            <a:off x="11155680" y="201168"/>
            <a:ext cx="658368" cy="164592"/>
          </a:xfrm>
          <a:prstGeom prst="rect">
            <a:avLst/>
          </a:prstGeom>
          <a:noFill/>
          <a:ln/>
        </p:spPr>
        <p:txBody>
          <a:bodyPr wrap="square" lIns="0" tIns="0" rIns="0" bIns="0" rtlCol="0" anchor="ctr"/>
          <a:lstStyle/>
          <a:p>
            <a:pPr marL="0" indent="0" algn="r">
              <a:buNone/>
            </a:pPr>
            <a:r>
              <a:rPr lang="en-US" sz="720" dirty="0">
                <a:solidFill>
                  <a:srgbClr val="5D6A75"/>
                </a:solidFill>
                <a:latin typeface="Aptos" pitchFamily="34" charset="0"/>
                <a:ea typeface="Aptos" pitchFamily="34" charset="-122"/>
                <a:cs typeface="Aptos" pitchFamily="34" charset="-120"/>
              </a:rPr>
              <a:t>2/20</a:t>
            </a:r>
            <a:endParaRPr lang="en-US" sz="720" dirty="0"/>
          </a:p>
        </p:txBody>
      </p:sp>
      <p:sp>
        <p:nvSpPr>
          <p:cNvPr id="7" name="Text 5"/>
          <p:cNvSpPr/>
          <p:nvPr/>
        </p:nvSpPr>
        <p:spPr>
          <a:xfrm>
            <a:off x="457200" y="1417320"/>
            <a:ext cx="502920" cy="320040"/>
          </a:xfrm>
          <a:prstGeom prst="rect">
            <a:avLst/>
          </a:prstGeom>
          <a:noFill/>
          <a:ln/>
        </p:spPr>
        <p:txBody>
          <a:bodyPr wrap="square" lIns="0" tIns="0" rIns="0" bIns="0" rtlCol="0" anchor="ctr"/>
          <a:lstStyle/>
          <a:p>
            <a:pPr marL="0" indent="0">
              <a:buNone/>
            </a:pPr>
            <a:r>
              <a:rPr lang="en-US" sz="1200" b="1" dirty="0">
                <a:solidFill>
                  <a:srgbClr val="20A7A5"/>
                </a:solidFill>
                <a:latin typeface="Aptos" pitchFamily="34" charset="0"/>
                <a:ea typeface="Aptos" pitchFamily="34" charset="-122"/>
                <a:cs typeface="Aptos" pitchFamily="34" charset="-120"/>
              </a:rPr>
              <a:t>01</a:t>
            </a:r>
            <a:endParaRPr lang="en-US" sz="1200" dirty="0"/>
          </a:p>
        </p:txBody>
      </p:sp>
      <p:sp>
        <p:nvSpPr>
          <p:cNvPr id="8" name="Text 6"/>
          <p:cNvSpPr/>
          <p:nvPr/>
        </p:nvSpPr>
        <p:spPr>
          <a:xfrm>
            <a:off x="1078992" y="1371600"/>
            <a:ext cx="3474720" cy="237744"/>
          </a:xfrm>
          <a:prstGeom prst="rect">
            <a:avLst/>
          </a:prstGeom>
          <a:noFill/>
          <a:ln/>
        </p:spPr>
        <p:txBody>
          <a:bodyPr wrap="square" lIns="0" tIns="0" rIns="0" bIns="0" rtlCol="0" anchor="ctr"/>
          <a:lstStyle/>
          <a:p>
            <a:pPr marL="0" indent="0">
              <a:buNone/>
            </a:pPr>
            <a:r>
              <a:rPr lang="en-US" sz="1420" b="1" dirty="0">
                <a:solidFill>
                  <a:srgbClr val="0B2545"/>
                </a:solidFill>
                <a:latin typeface="Aptos" pitchFamily="34" charset="0"/>
                <a:ea typeface="Aptos" pitchFamily="34" charset="-122"/>
                <a:cs typeface="Aptos" pitchFamily="34" charset="-120"/>
              </a:rPr>
              <a:t>Profile Group Intro</a:t>
            </a:r>
            <a:endParaRPr lang="en-US" sz="1420" dirty="0"/>
          </a:p>
        </p:txBody>
      </p:sp>
      <p:sp>
        <p:nvSpPr>
          <p:cNvPr id="9" name="Text 7"/>
          <p:cNvSpPr/>
          <p:nvPr/>
        </p:nvSpPr>
        <p:spPr>
          <a:xfrm>
            <a:off x="1078992" y="1664208"/>
            <a:ext cx="3931920" cy="228600"/>
          </a:xfrm>
          <a:prstGeom prst="rect">
            <a:avLst/>
          </a:prstGeom>
          <a:noFill/>
          <a:ln/>
        </p:spPr>
        <p:txBody>
          <a:bodyPr wrap="square" lIns="0" tIns="0" rIns="0" bIns="0" rtlCol="0" anchor="ctr"/>
          <a:lstStyle/>
          <a:p>
            <a:pPr marL="0" indent="0">
              <a:buNone/>
            </a:pPr>
            <a:r>
              <a:rPr lang="en-US" sz="1050" dirty="0">
                <a:solidFill>
                  <a:srgbClr val="5D6A75"/>
                </a:solidFill>
                <a:latin typeface="Aptos" pitchFamily="34" charset="0"/>
                <a:ea typeface="Aptos" pitchFamily="34" charset="-122"/>
                <a:cs typeface="Aptos" pitchFamily="34" charset="-120"/>
              </a:rPr>
              <a:t>Project scope and stakeholder context</a:t>
            </a:r>
            <a:endParaRPr lang="en-US" sz="1050" dirty="0"/>
          </a:p>
        </p:txBody>
      </p:sp>
      <p:sp>
        <p:nvSpPr>
          <p:cNvPr id="10" name="Text 8"/>
          <p:cNvSpPr/>
          <p:nvPr/>
        </p:nvSpPr>
        <p:spPr>
          <a:xfrm>
            <a:off x="457200" y="2221992"/>
            <a:ext cx="502920" cy="320040"/>
          </a:xfrm>
          <a:prstGeom prst="rect">
            <a:avLst/>
          </a:prstGeom>
          <a:noFill/>
          <a:ln/>
        </p:spPr>
        <p:txBody>
          <a:bodyPr wrap="square" lIns="0" tIns="0" rIns="0" bIns="0" rtlCol="0" anchor="ctr"/>
          <a:lstStyle/>
          <a:p>
            <a:pPr marL="0" indent="0">
              <a:buNone/>
            </a:pPr>
            <a:r>
              <a:rPr lang="en-US" sz="1200" b="1" dirty="0">
                <a:solidFill>
                  <a:srgbClr val="20A7A5"/>
                </a:solidFill>
                <a:latin typeface="Aptos" pitchFamily="34" charset="0"/>
                <a:ea typeface="Aptos" pitchFamily="34" charset="-122"/>
                <a:cs typeface="Aptos" pitchFamily="34" charset="-120"/>
              </a:rPr>
              <a:t>02</a:t>
            </a:r>
            <a:endParaRPr lang="en-US" sz="1200" dirty="0"/>
          </a:p>
        </p:txBody>
      </p:sp>
      <p:sp>
        <p:nvSpPr>
          <p:cNvPr id="11" name="Text 9"/>
          <p:cNvSpPr/>
          <p:nvPr/>
        </p:nvSpPr>
        <p:spPr>
          <a:xfrm>
            <a:off x="1078992" y="2176272"/>
            <a:ext cx="3474720" cy="237744"/>
          </a:xfrm>
          <a:prstGeom prst="rect">
            <a:avLst/>
          </a:prstGeom>
          <a:noFill/>
          <a:ln/>
        </p:spPr>
        <p:txBody>
          <a:bodyPr wrap="square" lIns="0" tIns="0" rIns="0" bIns="0" rtlCol="0" anchor="ctr"/>
          <a:lstStyle/>
          <a:p>
            <a:pPr marL="0" indent="0">
              <a:buNone/>
            </a:pPr>
            <a:r>
              <a:rPr lang="en-US" sz="1420" b="1" dirty="0">
                <a:solidFill>
                  <a:srgbClr val="0B2545"/>
                </a:solidFill>
                <a:latin typeface="Aptos" pitchFamily="34" charset="0"/>
                <a:ea typeface="Aptos" pitchFamily="34" charset="-122"/>
                <a:cs typeface="Aptos" pitchFamily="34" charset="-120"/>
              </a:rPr>
              <a:t>Problem Formulation</a:t>
            </a:r>
            <a:endParaRPr lang="en-US" sz="1420" dirty="0"/>
          </a:p>
        </p:txBody>
      </p:sp>
      <p:sp>
        <p:nvSpPr>
          <p:cNvPr id="12" name="Text 10"/>
          <p:cNvSpPr/>
          <p:nvPr/>
        </p:nvSpPr>
        <p:spPr>
          <a:xfrm>
            <a:off x="1078992" y="2468880"/>
            <a:ext cx="3931920" cy="228600"/>
          </a:xfrm>
          <a:prstGeom prst="rect">
            <a:avLst/>
          </a:prstGeom>
          <a:noFill/>
          <a:ln/>
        </p:spPr>
        <p:txBody>
          <a:bodyPr wrap="square" lIns="0" tIns="0" rIns="0" bIns="0" rtlCol="0" anchor="ctr"/>
          <a:lstStyle/>
          <a:p>
            <a:pPr marL="0" indent="0">
              <a:buNone/>
            </a:pPr>
            <a:r>
              <a:rPr lang="en-US" sz="1050" dirty="0">
                <a:solidFill>
                  <a:srgbClr val="5D6A75"/>
                </a:solidFill>
                <a:latin typeface="Aptos" pitchFamily="34" charset="0"/>
                <a:ea typeface="Aptos" pitchFamily="34" charset="-122"/>
                <a:cs typeface="Aptos" pitchFamily="34" charset="-120"/>
              </a:rPr>
              <a:t>Business problem and ML target</a:t>
            </a:r>
            <a:endParaRPr lang="en-US" sz="1050" dirty="0"/>
          </a:p>
        </p:txBody>
      </p:sp>
      <p:sp>
        <p:nvSpPr>
          <p:cNvPr id="13" name="Text 11"/>
          <p:cNvSpPr/>
          <p:nvPr/>
        </p:nvSpPr>
        <p:spPr>
          <a:xfrm>
            <a:off x="457200" y="3026664"/>
            <a:ext cx="502920" cy="320040"/>
          </a:xfrm>
          <a:prstGeom prst="rect">
            <a:avLst/>
          </a:prstGeom>
          <a:noFill/>
          <a:ln/>
        </p:spPr>
        <p:txBody>
          <a:bodyPr wrap="square" lIns="0" tIns="0" rIns="0" bIns="0" rtlCol="0" anchor="ctr"/>
          <a:lstStyle/>
          <a:p>
            <a:pPr marL="0" indent="0">
              <a:buNone/>
            </a:pPr>
            <a:r>
              <a:rPr lang="en-US" sz="1200" b="1" dirty="0">
                <a:solidFill>
                  <a:srgbClr val="20A7A5"/>
                </a:solidFill>
                <a:latin typeface="Aptos" pitchFamily="34" charset="0"/>
                <a:ea typeface="Aptos" pitchFamily="34" charset="-122"/>
                <a:cs typeface="Aptos" pitchFamily="34" charset="-120"/>
              </a:rPr>
              <a:t>03</a:t>
            </a:r>
            <a:endParaRPr lang="en-US" sz="1200" dirty="0"/>
          </a:p>
        </p:txBody>
      </p:sp>
      <p:sp>
        <p:nvSpPr>
          <p:cNvPr id="14" name="Text 12"/>
          <p:cNvSpPr/>
          <p:nvPr/>
        </p:nvSpPr>
        <p:spPr>
          <a:xfrm>
            <a:off x="1078992" y="2980944"/>
            <a:ext cx="3474720" cy="237744"/>
          </a:xfrm>
          <a:prstGeom prst="rect">
            <a:avLst/>
          </a:prstGeom>
          <a:noFill/>
          <a:ln/>
        </p:spPr>
        <p:txBody>
          <a:bodyPr wrap="square" lIns="0" tIns="0" rIns="0" bIns="0" rtlCol="0" anchor="ctr"/>
          <a:lstStyle/>
          <a:p>
            <a:pPr marL="0" indent="0">
              <a:buNone/>
            </a:pPr>
            <a:r>
              <a:rPr lang="en-US" sz="1420" b="1" dirty="0">
                <a:solidFill>
                  <a:srgbClr val="0B2545"/>
                </a:solidFill>
                <a:latin typeface="Aptos" pitchFamily="34" charset="0"/>
                <a:ea typeface="Aptos" pitchFamily="34" charset="-122"/>
                <a:cs typeface="Aptos" pitchFamily="34" charset="-120"/>
              </a:rPr>
              <a:t>Data Understanding</a:t>
            </a:r>
            <a:endParaRPr lang="en-US" sz="1420" dirty="0"/>
          </a:p>
        </p:txBody>
      </p:sp>
      <p:sp>
        <p:nvSpPr>
          <p:cNvPr id="15" name="Text 13"/>
          <p:cNvSpPr/>
          <p:nvPr/>
        </p:nvSpPr>
        <p:spPr>
          <a:xfrm>
            <a:off x="1078992" y="3273552"/>
            <a:ext cx="3931920" cy="228600"/>
          </a:xfrm>
          <a:prstGeom prst="rect">
            <a:avLst/>
          </a:prstGeom>
          <a:noFill/>
          <a:ln/>
        </p:spPr>
        <p:txBody>
          <a:bodyPr wrap="square" lIns="0" tIns="0" rIns="0" bIns="0" rtlCol="0" anchor="ctr"/>
          <a:lstStyle/>
          <a:p>
            <a:pPr marL="0" indent="0">
              <a:buNone/>
            </a:pPr>
            <a:r>
              <a:rPr lang="en-US" sz="1050" dirty="0">
                <a:solidFill>
                  <a:srgbClr val="5D6A75"/>
                </a:solidFill>
                <a:latin typeface="Aptos" pitchFamily="34" charset="0"/>
                <a:ea typeface="Aptos" pitchFamily="34" charset="-122"/>
                <a:cs typeface="Aptos" pitchFamily="34" charset="-120"/>
              </a:rPr>
              <a:t>Dataset, target, leakage, preprocessing</a:t>
            </a:r>
            <a:endParaRPr lang="en-US" sz="1050" dirty="0"/>
          </a:p>
        </p:txBody>
      </p:sp>
      <p:sp>
        <p:nvSpPr>
          <p:cNvPr id="16" name="Text 14"/>
          <p:cNvSpPr/>
          <p:nvPr/>
        </p:nvSpPr>
        <p:spPr>
          <a:xfrm>
            <a:off x="457200" y="3831336"/>
            <a:ext cx="502920" cy="320040"/>
          </a:xfrm>
          <a:prstGeom prst="rect">
            <a:avLst/>
          </a:prstGeom>
          <a:noFill/>
          <a:ln/>
        </p:spPr>
        <p:txBody>
          <a:bodyPr wrap="square" lIns="0" tIns="0" rIns="0" bIns="0" rtlCol="0" anchor="ctr"/>
          <a:lstStyle/>
          <a:p>
            <a:pPr marL="0" indent="0">
              <a:buNone/>
            </a:pPr>
            <a:r>
              <a:rPr lang="en-US" sz="1200" b="1" dirty="0">
                <a:solidFill>
                  <a:srgbClr val="20A7A5"/>
                </a:solidFill>
                <a:latin typeface="Aptos" pitchFamily="34" charset="0"/>
                <a:ea typeface="Aptos" pitchFamily="34" charset="-122"/>
                <a:cs typeface="Aptos" pitchFamily="34" charset="-120"/>
              </a:rPr>
              <a:t>04</a:t>
            </a:r>
            <a:endParaRPr lang="en-US" sz="1200" dirty="0"/>
          </a:p>
        </p:txBody>
      </p:sp>
      <p:sp>
        <p:nvSpPr>
          <p:cNvPr id="17" name="Text 15"/>
          <p:cNvSpPr/>
          <p:nvPr/>
        </p:nvSpPr>
        <p:spPr>
          <a:xfrm>
            <a:off x="1078992" y="3785616"/>
            <a:ext cx="3474720" cy="237744"/>
          </a:xfrm>
          <a:prstGeom prst="rect">
            <a:avLst/>
          </a:prstGeom>
          <a:noFill/>
          <a:ln/>
        </p:spPr>
        <p:txBody>
          <a:bodyPr wrap="square" lIns="0" tIns="0" rIns="0" bIns="0" rtlCol="0" anchor="ctr"/>
          <a:lstStyle/>
          <a:p>
            <a:pPr marL="0" indent="0">
              <a:buNone/>
            </a:pPr>
            <a:r>
              <a:rPr lang="en-US" sz="1420" b="1" dirty="0">
                <a:solidFill>
                  <a:srgbClr val="0B2545"/>
                </a:solidFill>
                <a:latin typeface="Aptos" pitchFamily="34" charset="0"/>
                <a:ea typeface="Aptos" pitchFamily="34" charset="-122"/>
                <a:cs typeface="Aptos" pitchFamily="34" charset="-120"/>
              </a:rPr>
              <a:t>Findings and Solution</a:t>
            </a:r>
            <a:endParaRPr lang="en-US" sz="1420" dirty="0"/>
          </a:p>
        </p:txBody>
      </p:sp>
      <p:sp>
        <p:nvSpPr>
          <p:cNvPr id="18" name="Text 16"/>
          <p:cNvSpPr/>
          <p:nvPr/>
        </p:nvSpPr>
        <p:spPr>
          <a:xfrm>
            <a:off x="1078992" y="4078224"/>
            <a:ext cx="3931920" cy="228600"/>
          </a:xfrm>
          <a:prstGeom prst="rect">
            <a:avLst/>
          </a:prstGeom>
          <a:noFill/>
          <a:ln/>
        </p:spPr>
        <p:txBody>
          <a:bodyPr wrap="square" lIns="0" tIns="0" rIns="0" bIns="0" rtlCol="0" anchor="ctr"/>
          <a:lstStyle/>
          <a:p>
            <a:pPr marL="0" indent="0">
              <a:buNone/>
            </a:pPr>
            <a:r>
              <a:rPr lang="en-US" sz="1050" dirty="0">
                <a:solidFill>
                  <a:srgbClr val="5D6A75"/>
                </a:solidFill>
                <a:latin typeface="Aptos" pitchFamily="34" charset="0"/>
                <a:ea typeface="Aptos" pitchFamily="34" charset="-122"/>
                <a:cs typeface="Aptos" pitchFamily="34" charset="-120"/>
              </a:rPr>
              <a:t>EDA, model, threshold, interpretation</a:t>
            </a:r>
            <a:endParaRPr lang="en-US" sz="1050" dirty="0"/>
          </a:p>
        </p:txBody>
      </p:sp>
      <p:sp>
        <p:nvSpPr>
          <p:cNvPr id="19" name="Text 17"/>
          <p:cNvSpPr/>
          <p:nvPr/>
        </p:nvSpPr>
        <p:spPr>
          <a:xfrm>
            <a:off x="457200" y="4636008"/>
            <a:ext cx="502920" cy="320040"/>
          </a:xfrm>
          <a:prstGeom prst="rect">
            <a:avLst/>
          </a:prstGeom>
          <a:noFill/>
          <a:ln/>
        </p:spPr>
        <p:txBody>
          <a:bodyPr wrap="square" lIns="0" tIns="0" rIns="0" bIns="0" rtlCol="0" anchor="ctr"/>
          <a:lstStyle/>
          <a:p>
            <a:pPr marL="0" indent="0">
              <a:buNone/>
            </a:pPr>
            <a:r>
              <a:rPr lang="en-US" sz="1200" b="1" dirty="0">
                <a:solidFill>
                  <a:srgbClr val="20A7A5"/>
                </a:solidFill>
                <a:latin typeface="Aptos" pitchFamily="34" charset="0"/>
                <a:ea typeface="Aptos" pitchFamily="34" charset="-122"/>
                <a:cs typeface="Aptos" pitchFamily="34" charset="-120"/>
              </a:rPr>
              <a:t>05</a:t>
            </a:r>
            <a:endParaRPr lang="en-US" sz="1200" dirty="0"/>
          </a:p>
        </p:txBody>
      </p:sp>
      <p:sp>
        <p:nvSpPr>
          <p:cNvPr id="20" name="Text 18"/>
          <p:cNvSpPr/>
          <p:nvPr/>
        </p:nvSpPr>
        <p:spPr>
          <a:xfrm>
            <a:off x="1078992" y="4590288"/>
            <a:ext cx="3474720" cy="237744"/>
          </a:xfrm>
          <a:prstGeom prst="rect">
            <a:avLst/>
          </a:prstGeom>
          <a:noFill/>
          <a:ln/>
        </p:spPr>
        <p:txBody>
          <a:bodyPr wrap="square" lIns="0" tIns="0" rIns="0" bIns="0" rtlCol="0" anchor="ctr"/>
          <a:lstStyle/>
          <a:p>
            <a:pPr marL="0" indent="0">
              <a:buNone/>
            </a:pPr>
            <a:r>
              <a:rPr lang="en-US" sz="1420" b="1" dirty="0">
                <a:solidFill>
                  <a:srgbClr val="0B2545"/>
                </a:solidFill>
                <a:latin typeface="Aptos" pitchFamily="34" charset="0"/>
                <a:ea typeface="Aptos" pitchFamily="34" charset="-122"/>
                <a:cs typeface="Aptos" pitchFamily="34" charset="-120"/>
              </a:rPr>
              <a:t>Conclusion and Recommendation</a:t>
            </a:r>
            <a:endParaRPr lang="en-US" sz="1420" dirty="0"/>
          </a:p>
        </p:txBody>
      </p:sp>
      <p:sp>
        <p:nvSpPr>
          <p:cNvPr id="21" name="Text 19"/>
          <p:cNvSpPr/>
          <p:nvPr/>
        </p:nvSpPr>
        <p:spPr>
          <a:xfrm>
            <a:off x="1078992" y="4882896"/>
            <a:ext cx="3931920" cy="228600"/>
          </a:xfrm>
          <a:prstGeom prst="rect">
            <a:avLst/>
          </a:prstGeom>
          <a:noFill/>
          <a:ln/>
        </p:spPr>
        <p:txBody>
          <a:bodyPr wrap="square" lIns="0" tIns="0" rIns="0" bIns="0" rtlCol="0" anchor="ctr"/>
          <a:lstStyle/>
          <a:p>
            <a:pPr marL="0" indent="0">
              <a:buNone/>
            </a:pPr>
            <a:r>
              <a:rPr lang="en-US" sz="1050" dirty="0">
                <a:solidFill>
                  <a:srgbClr val="5D6A75"/>
                </a:solidFill>
                <a:latin typeface="Aptos" pitchFamily="34" charset="0"/>
                <a:ea typeface="Aptos" pitchFamily="34" charset="-122"/>
                <a:cs typeface="Aptos" pitchFamily="34" charset="-120"/>
              </a:rPr>
              <a:t>Actionable decisions and next steps</a:t>
            </a:r>
            <a:endParaRPr lang="en-US" sz="1050" dirty="0"/>
          </a:p>
        </p:txBody>
      </p:sp>
      <p:sp>
        <p:nvSpPr>
          <p:cNvPr id="23" name="Text 21"/>
          <p:cNvSpPr/>
          <p:nvPr/>
        </p:nvSpPr>
        <p:spPr>
          <a:xfrm>
            <a:off x="6035040" y="2980944"/>
            <a:ext cx="947318" cy="475488"/>
          </a:xfrm>
          <a:prstGeom prst="rect">
            <a:avLst/>
          </a:prstGeom>
          <a:solidFill>
            <a:srgbClr val="20A7A5"/>
          </a:solidFill>
          <a:ln>
            <a:solidFill>
              <a:srgbClr val="20A7A5"/>
            </a:solidFill>
          </a:ln>
        </p:spPr>
        <p:txBody>
          <a:bodyPr wrap="square" lIns="508" tIns="508" rIns="508" bIns="508"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Stakeholder</a:t>
            </a:r>
            <a:endParaRPr lang="en-US" sz="920" dirty="0"/>
          </a:p>
          <a:p>
            <a:pPr marL="0" indent="0" algn="ctr">
              <a:buNone/>
            </a:pPr>
            <a:r>
              <a:rPr lang="en-US" sz="920" b="1" dirty="0">
                <a:solidFill>
                  <a:srgbClr val="FFFFFF"/>
                </a:solidFill>
                <a:latin typeface="Aptos" pitchFamily="34" charset="0"/>
                <a:ea typeface="Aptos" pitchFamily="34" charset="-122"/>
                <a:cs typeface="Aptos" pitchFamily="34" charset="-120"/>
              </a:rPr>
              <a:t>Need</a:t>
            </a:r>
            <a:endParaRPr lang="en-US" sz="920" dirty="0"/>
          </a:p>
        </p:txBody>
      </p:sp>
      <p:sp>
        <p:nvSpPr>
          <p:cNvPr id="24" name="Shape 22"/>
          <p:cNvSpPr/>
          <p:nvPr/>
        </p:nvSpPr>
        <p:spPr>
          <a:xfrm>
            <a:off x="7009790" y="3145536"/>
            <a:ext cx="109728" cy="146304"/>
          </a:xfrm>
          <a:prstGeom prst="chevron">
            <a:avLst/>
          </a:prstGeom>
          <a:solidFill>
            <a:srgbClr val="5D6A75">
              <a:alpha val="85000"/>
            </a:srgbClr>
          </a:solidFill>
          <a:ln w="12700">
            <a:solidFill>
              <a:srgbClr val="5D6A75">
                <a:alpha val="0"/>
              </a:srgbClr>
            </a:solidFill>
            <a:prstDash val="solid"/>
          </a:ln>
        </p:spPr>
      </p:sp>
      <p:sp>
        <p:nvSpPr>
          <p:cNvPr id="25" name="Text 23"/>
          <p:cNvSpPr/>
          <p:nvPr/>
        </p:nvSpPr>
        <p:spPr>
          <a:xfrm>
            <a:off x="7146950" y="2980944"/>
            <a:ext cx="947318" cy="475488"/>
          </a:xfrm>
          <a:prstGeom prst="rect">
            <a:avLst/>
          </a:prstGeom>
          <a:solidFill>
            <a:srgbClr val="0B2545"/>
          </a:solidFill>
          <a:ln>
            <a:solidFill>
              <a:srgbClr val="0B2545"/>
            </a:solidFill>
          </a:ln>
        </p:spPr>
        <p:txBody>
          <a:bodyPr wrap="square" lIns="508" tIns="508" rIns="508" bIns="508"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Define</a:t>
            </a:r>
            <a:endParaRPr lang="en-US" sz="920" dirty="0"/>
          </a:p>
        </p:txBody>
      </p:sp>
      <p:sp>
        <p:nvSpPr>
          <p:cNvPr id="26" name="Shape 24"/>
          <p:cNvSpPr/>
          <p:nvPr/>
        </p:nvSpPr>
        <p:spPr>
          <a:xfrm>
            <a:off x="8121701" y="3145536"/>
            <a:ext cx="109728" cy="146304"/>
          </a:xfrm>
          <a:prstGeom prst="chevron">
            <a:avLst/>
          </a:prstGeom>
          <a:solidFill>
            <a:srgbClr val="5D6A75">
              <a:alpha val="85000"/>
            </a:srgbClr>
          </a:solidFill>
          <a:ln w="12700">
            <a:solidFill>
              <a:srgbClr val="5D6A75">
                <a:alpha val="0"/>
              </a:srgbClr>
            </a:solidFill>
            <a:prstDash val="solid"/>
          </a:ln>
        </p:spPr>
      </p:sp>
      <p:sp>
        <p:nvSpPr>
          <p:cNvPr id="27" name="Text 25"/>
          <p:cNvSpPr/>
          <p:nvPr/>
        </p:nvSpPr>
        <p:spPr>
          <a:xfrm>
            <a:off x="8258861" y="2980944"/>
            <a:ext cx="947318" cy="475488"/>
          </a:xfrm>
          <a:prstGeom prst="rect">
            <a:avLst/>
          </a:prstGeom>
          <a:solidFill>
            <a:srgbClr val="0B2545"/>
          </a:solidFill>
          <a:ln>
            <a:solidFill>
              <a:srgbClr val="0B2545"/>
            </a:solidFill>
          </a:ln>
        </p:spPr>
        <p:txBody>
          <a:bodyPr wrap="square" lIns="508" tIns="508" rIns="508" bIns="508"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Analyze</a:t>
            </a:r>
            <a:endParaRPr lang="en-US" sz="920" dirty="0"/>
          </a:p>
        </p:txBody>
      </p:sp>
      <p:sp>
        <p:nvSpPr>
          <p:cNvPr id="28" name="Shape 26"/>
          <p:cNvSpPr/>
          <p:nvPr/>
        </p:nvSpPr>
        <p:spPr>
          <a:xfrm>
            <a:off x="9233611" y="3145536"/>
            <a:ext cx="109728" cy="146304"/>
          </a:xfrm>
          <a:prstGeom prst="chevron">
            <a:avLst/>
          </a:prstGeom>
          <a:solidFill>
            <a:srgbClr val="5D6A75">
              <a:alpha val="85000"/>
            </a:srgbClr>
          </a:solidFill>
          <a:ln w="12700">
            <a:solidFill>
              <a:srgbClr val="5D6A75">
                <a:alpha val="0"/>
              </a:srgbClr>
            </a:solidFill>
            <a:prstDash val="solid"/>
          </a:ln>
        </p:spPr>
      </p:sp>
      <p:sp>
        <p:nvSpPr>
          <p:cNvPr id="29" name="Text 27"/>
          <p:cNvSpPr/>
          <p:nvPr/>
        </p:nvSpPr>
        <p:spPr>
          <a:xfrm>
            <a:off x="9370771" y="2980944"/>
            <a:ext cx="947318" cy="475488"/>
          </a:xfrm>
          <a:prstGeom prst="rect">
            <a:avLst/>
          </a:prstGeom>
          <a:solidFill>
            <a:srgbClr val="0B2545"/>
          </a:solidFill>
          <a:ln>
            <a:solidFill>
              <a:srgbClr val="0B2545"/>
            </a:solidFill>
          </a:ln>
        </p:spPr>
        <p:txBody>
          <a:bodyPr wrap="square" lIns="508" tIns="508" rIns="508" bIns="508"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Model</a:t>
            </a:r>
            <a:endParaRPr lang="en-US" sz="920" dirty="0"/>
          </a:p>
        </p:txBody>
      </p:sp>
      <p:sp>
        <p:nvSpPr>
          <p:cNvPr id="30" name="Shape 28"/>
          <p:cNvSpPr/>
          <p:nvPr/>
        </p:nvSpPr>
        <p:spPr>
          <a:xfrm>
            <a:off x="10345522" y="3145536"/>
            <a:ext cx="109728" cy="146304"/>
          </a:xfrm>
          <a:prstGeom prst="chevron">
            <a:avLst/>
          </a:prstGeom>
          <a:solidFill>
            <a:srgbClr val="5D6A75">
              <a:alpha val="85000"/>
            </a:srgbClr>
          </a:solidFill>
          <a:ln w="12700">
            <a:solidFill>
              <a:srgbClr val="5D6A75">
                <a:alpha val="0"/>
              </a:srgbClr>
            </a:solidFill>
            <a:prstDash val="solid"/>
          </a:ln>
        </p:spPr>
      </p:sp>
      <p:sp>
        <p:nvSpPr>
          <p:cNvPr id="31" name="Text 29"/>
          <p:cNvSpPr/>
          <p:nvPr/>
        </p:nvSpPr>
        <p:spPr>
          <a:xfrm>
            <a:off x="10482682" y="2980944"/>
            <a:ext cx="947318" cy="475488"/>
          </a:xfrm>
          <a:prstGeom prst="rect">
            <a:avLst/>
          </a:prstGeom>
          <a:solidFill>
            <a:srgbClr val="F4A340"/>
          </a:solidFill>
          <a:ln>
            <a:solidFill>
              <a:srgbClr val="F4A340"/>
            </a:solidFill>
          </a:ln>
        </p:spPr>
        <p:txBody>
          <a:bodyPr wrap="square" lIns="508" tIns="508" rIns="508" bIns="508"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Decide</a:t>
            </a:r>
            <a:endParaRPr lang="en-US" sz="9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09243D"/>
          </a:solidFill>
          <a:ln w="12700">
            <a:solidFill>
              <a:srgbClr val="09243D">
                <a:alpha val="0"/>
              </a:srgbClr>
            </a:solidFill>
            <a:prstDash val="solid"/>
          </a:ln>
        </p:spPr>
      </p:sp>
      <p:sp>
        <p:nvSpPr>
          <p:cNvPr id="3" name="Text 1"/>
          <p:cNvSpPr/>
          <p:nvPr/>
        </p:nvSpPr>
        <p:spPr>
          <a:xfrm>
            <a:off x="320040" y="201168"/>
            <a:ext cx="6949440" cy="201168"/>
          </a:xfrm>
          <a:prstGeom prst="rect">
            <a:avLst/>
          </a:prstGeom>
          <a:noFill/>
          <a:ln/>
        </p:spPr>
        <p:txBody>
          <a:bodyPr wrap="square" lIns="0" tIns="0" rIns="0" bIns="0" rtlCol="0" anchor="ctr"/>
          <a:lstStyle/>
          <a:p>
            <a:pPr marL="0" indent="0">
              <a:buNone/>
            </a:pPr>
            <a:r>
              <a:rPr lang="en-US" sz="850" b="1" dirty="0">
                <a:solidFill>
                  <a:srgbClr val="20A7A6"/>
                </a:solidFill>
                <a:latin typeface="Lato" pitchFamily="34" charset="0"/>
                <a:ea typeface="Lato" pitchFamily="34" charset="-122"/>
                <a:cs typeface="Lato" pitchFamily="34" charset="-120"/>
              </a:rPr>
              <a:t>EXECUTIVE SUMMARY</a:t>
            </a:r>
            <a:endParaRPr lang="en-US" sz="850" dirty="0"/>
          </a:p>
        </p:txBody>
      </p:sp>
      <p:sp>
        <p:nvSpPr>
          <p:cNvPr id="4" name="Text 2"/>
          <p:cNvSpPr/>
          <p:nvPr/>
        </p:nvSpPr>
        <p:spPr>
          <a:xfrm>
            <a:off x="11338560" y="182880"/>
            <a:ext cx="502920" cy="182880"/>
          </a:xfrm>
          <a:prstGeom prst="rect">
            <a:avLst/>
          </a:prstGeom>
          <a:noFill/>
          <a:ln/>
        </p:spPr>
        <p:txBody>
          <a:bodyPr wrap="square" lIns="0" tIns="0" rIns="0" bIns="0" rtlCol="0" anchor="ctr"/>
          <a:lstStyle/>
          <a:p>
            <a:pPr marL="0" indent="0" algn="r">
              <a:buNone/>
            </a:pPr>
            <a:r>
              <a:rPr lang="en-US" sz="750" dirty="0">
                <a:solidFill>
                  <a:srgbClr val="6B7280"/>
                </a:solidFill>
                <a:latin typeface="Lato" pitchFamily="34" charset="0"/>
                <a:ea typeface="Lato" pitchFamily="34" charset="-122"/>
                <a:cs typeface="Lato" pitchFamily="34" charset="-120"/>
              </a:rPr>
              <a:t>3/23</a:t>
            </a:r>
            <a:endParaRPr lang="en-US" sz="750" dirty="0"/>
          </a:p>
        </p:txBody>
      </p:sp>
      <p:sp>
        <p:nvSpPr>
          <p:cNvPr id="5" name="Text 3"/>
          <p:cNvSpPr/>
          <p:nvPr/>
        </p:nvSpPr>
        <p:spPr>
          <a:xfrm>
            <a:off x="320040" y="566928"/>
            <a:ext cx="5303520" cy="512064"/>
          </a:xfrm>
          <a:prstGeom prst="rect">
            <a:avLst/>
          </a:prstGeom>
          <a:noFill/>
          <a:ln/>
        </p:spPr>
        <p:txBody>
          <a:bodyPr wrap="square" lIns="0" tIns="0" rIns="0" bIns="0" rtlCol="0" anchor="ctr">
            <a:normAutofit/>
          </a:bodyPr>
          <a:lstStyle/>
          <a:p>
            <a:pPr marL="0" indent="0">
              <a:buNone/>
            </a:pPr>
            <a:r>
              <a:rPr lang="en-US" sz="2700" b="1" dirty="0">
                <a:solidFill>
                  <a:srgbClr val="09243D"/>
                </a:solidFill>
                <a:latin typeface="Lato" pitchFamily="34" charset="0"/>
                <a:ea typeface="Lato" pitchFamily="34" charset="-122"/>
                <a:cs typeface="Lato" pitchFamily="34" charset="-120"/>
              </a:rPr>
              <a:t>Executive Summary</a:t>
            </a:r>
            <a:endParaRPr lang="en-US" sz="2700" dirty="0"/>
          </a:p>
        </p:txBody>
      </p:sp>
      <p:sp>
        <p:nvSpPr>
          <p:cNvPr id="7" name="Text 5"/>
          <p:cNvSpPr/>
          <p:nvPr/>
        </p:nvSpPr>
        <p:spPr>
          <a:xfrm>
            <a:off x="411480" y="1353312"/>
            <a:ext cx="1234440" cy="228600"/>
          </a:xfrm>
          <a:prstGeom prst="rect">
            <a:avLst/>
          </a:prstGeom>
          <a:noFill/>
          <a:ln/>
        </p:spPr>
        <p:txBody>
          <a:bodyPr wrap="square" lIns="0" tIns="0" rIns="0" bIns="0" rtlCol="0" anchor="ctr"/>
          <a:lstStyle/>
          <a:p>
            <a:pPr marL="0" indent="0">
              <a:buNone/>
            </a:pPr>
            <a:r>
              <a:rPr lang="en-US" sz="1180" b="1" dirty="0">
                <a:solidFill>
                  <a:srgbClr val="20A7A6"/>
                </a:solidFill>
                <a:latin typeface="Lato" pitchFamily="34" charset="0"/>
                <a:ea typeface="Lato" pitchFamily="34" charset="-122"/>
                <a:cs typeface="Lato" pitchFamily="34" charset="-120"/>
              </a:rPr>
              <a:t>Background</a:t>
            </a:r>
            <a:endParaRPr lang="en-US" sz="1180" dirty="0"/>
          </a:p>
        </p:txBody>
      </p:sp>
      <p:sp>
        <p:nvSpPr>
          <p:cNvPr id="8" name="Text 6"/>
          <p:cNvSpPr/>
          <p:nvPr/>
        </p:nvSpPr>
        <p:spPr>
          <a:xfrm>
            <a:off x="1828800" y="1325880"/>
            <a:ext cx="5394960" cy="347472"/>
          </a:xfrm>
          <a:prstGeom prst="rect">
            <a:avLst/>
          </a:prstGeom>
          <a:noFill/>
          <a:ln/>
        </p:spPr>
        <p:txBody>
          <a:bodyPr wrap="square" lIns="0" tIns="0" rIns="0" bIns="0" rtlCol="0" anchor="ctr">
            <a:normAutofit/>
          </a:bodyPr>
          <a:lstStyle/>
          <a:p>
            <a:pPr marL="0" indent="0">
              <a:buNone/>
            </a:pPr>
            <a:r>
              <a:rPr lang="en-US" sz="1140" dirty="0">
                <a:solidFill>
                  <a:srgbClr val="152238"/>
                </a:solidFill>
                <a:latin typeface="Lato" pitchFamily="34" charset="0"/>
                <a:ea typeface="Lato" pitchFamily="34" charset="-122"/>
                <a:cs typeface="Lato" pitchFamily="34" charset="-120"/>
              </a:rPr>
              <a:t>Bank offers term deposits through direct marketing calls. Project focus: improve client prioritization for subscription campaigns.</a:t>
            </a:r>
            <a:endParaRPr lang="en-US" sz="1140" dirty="0"/>
          </a:p>
        </p:txBody>
      </p:sp>
      <p:sp>
        <p:nvSpPr>
          <p:cNvPr id="9" name="Text 7"/>
          <p:cNvSpPr/>
          <p:nvPr/>
        </p:nvSpPr>
        <p:spPr>
          <a:xfrm>
            <a:off x="411480" y="1956816"/>
            <a:ext cx="1234440" cy="228600"/>
          </a:xfrm>
          <a:prstGeom prst="rect">
            <a:avLst/>
          </a:prstGeom>
          <a:noFill/>
          <a:ln/>
        </p:spPr>
        <p:txBody>
          <a:bodyPr wrap="square" lIns="0" tIns="0" rIns="0" bIns="0" rtlCol="0" anchor="ctr"/>
          <a:lstStyle/>
          <a:p>
            <a:pPr marL="0" indent="0">
              <a:buNone/>
            </a:pPr>
            <a:r>
              <a:rPr lang="en-US" sz="1180" b="1" dirty="0">
                <a:solidFill>
                  <a:srgbClr val="20A7A6"/>
                </a:solidFill>
                <a:latin typeface="Lato" pitchFamily="34" charset="0"/>
                <a:ea typeface="Lato" pitchFamily="34" charset="-122"/>
                <a:cs typeface="Lato" pitchFamily="34" charset="-120"/>
              </a:rPr>
              <a:t>Problem</a:t>
            </a:r>
            <a:endParaRPr lang="en-US" sz="1180" dirty="0"/>
          </a:p>
        </p:txBody>
      </p:sp>
      <p:sp>
        <p:nvSpPr>
          <p:cNvPr id="10" name="Text 8"/>
          <p:cNvSpPr/>
          <p:nvPr/>
        </p:nvSpPr>
        <p:spPr>
          <a:xfrm>
            <a:off x="1828800" y="1929384"/>
            <a:ext cx="5394960" cy="347472"/>
          </a:xfrm>
          <a:prstGeom prst="rect">
            <a:avLst/>
          </a:prstGeom>
          <a:noFill/>
          <a:ln/>
        </p:spPr>
        <p:txBody>
          <a:bodyPr wrap="square" lIns="0" tIns="0" rIns="0" bIns="0" rtlCol="0" anchor="ctr">
            <a:normAutofit/>
          </a:bodyPr>
          <a:lstStyle/>
          <a:p>
            <a:pPr marL="0" indent="0">
              <a:buNone/>
            </a:pPr>
            <a:r>
              <a:rPr lang="en-US" sz="1140" dirty="0">
                <a:solidFill>
                  <a:srgbClr val="152238"/>
                </a:solidFill>
                <a:latin typeface="Lato" pitchFamily="34" charset="0"/>
                <a:ea typeface="Lato" pitchFamily="34" charset="-122"/>
                <a:cs typeface="Lato" pitchFamily="34" charset="-120"/>
              </a:rPr>
              <a:t>Only 11.27% of observations converted, so campaign effort needs better prioritization.</a:t>
            </a:r>
            <a:endParaRPr lang="en-US" sz="1140" dirty="0"/>
          </a:p>
        </p:txBody>
      </p:sp>
      <p:sp>
        <p:nvSpPr>
          <p:cNvPr id="11" name="Text 9"/>
          <p:cNvSpPr/>
          <p:nvPr/>
        </p:nvSpPr>
        <p:spPr>
          <a:xfrm>
            <a:off x="411480" y="2560320"/>
            <a:ext cx="1234440" cy="228600"/>
          </a:xfrm>
          <a:prstGeom prst="rect">
            <a:avLst/>
          </a:prstGeom>
          <a:noFill/>
          <a:ln/>
        </p:spPr>
        <p:txBody>
          <a:bodyPr wrap="square" lIns="0" tIns="0" rIns="0" bIns="0" rtlCol="0" anchor="ctr"/>
          <a:lstStyle/>
          <a:p>
            <a:pPr marL="0" indent="0">
              <a:buNone/>
            </a:pPr>
            <a:r>
              <a:rPr lang="en-US" sz="1180" b="1" dirty="0">
                <a:solidFill>
                  <a:srgbClr val="20A7A6"/>
                </a:solidFill>
                <a:latin typeface="Lato" pitchFamily="34" charset="0"/>
                <a:ea typeface="Lato" pitchFamily="34" charset="-122"/>
                <a:cs typeface="Lato" pitchFamily="34" charset="-120"/>
              </a:rPr>
              <a:t>Stakeholder</a:t>
            </a:r>
            <a:endParaRPr lang="en-US" sz="1180" dirty="0"/>
          </a:p>
        </p:txBody>
      </p:sp>
      <p:sp>
        <p:nvSpPr>
          <p:cNvPr id="12" name="Text 10"/>
          <p:cNvSpPr/>
          <p:nvPr/>
        </p:nvSpPr>
        <p:spPr>
          <a:xfrm>
            <a:off x="1828800" y="2532888"/>
            <a:ext cx="5394960" cy="347472"/>
          </a:xfrm>
          <a:prstGeom prst="rect">
            <a:avLst/>
          </a:prstGeom>
          <a:noFill/>
          <a:ln/>
        </p:spPr>
        <p:txBody>
          <a:bodyPr wrap="square" lIns="0" tIns="0" rIns="0" bIns="0" rtlCol="0" anchor="ctr">
            <a:normAutofit/>
          </a:bodyPr>
          <a:lstStyle/>
          <a:p>
            <a:pPr marL="0" indent="0">
              <a:buNone/>
            </a:pPr>
            <a:r>
              <a:rPr lang="en-US" sz="1140" dirty="0">
                <a:solidFill>
                  <a:srgbClr val="152238"/>
                </a:solidFill>
                <a:latin typeface="Lato" pitchFamily="34" charset="0"/>
                <a:ea typeface="Lato" pitchFamily="34" charset="-122"/>
                <a:cs typeface="Lato" pitchFamily="34" charset="-120"/>
              </a:rPr>
              <a:t>Marketing / Campaign Manager uses ranking output; CRM, Product, and Contact Center support execution.</a:t>
            </a:r>
            <a:endParaRPr lang="en-US" sz="1140" dirty="0"/>
          </a:p>
        </p:txBody>
      </p:sp>
      <p:sp>
        <p:nvSpPr>
          <p:cNvPr id="13" name="Text 11"/>
          <p:cNvSpPr/>
          <p:nvPr/>
        </p:nvSpPr>
        <p:spPr>
          <a:xfrm>
            <a:off x="411480" y="3163824"/>
            <a:ext cx="1234440" cy="228600"/>
          </a:xfrm>
          <a:prstGeom prst="rect">
            <a:avLst/>
          </a:prstGeom>
          <a:noFill/>
          <a:ln/>
        </p:spPr>
        <p:txBody>
          <a:bodyPr wrap="square" lIns="0" tIns="0" rIns="0" bIns="0" rtlCol="0" anchor="ctr"/>
          <a:lstStyle/>
          <a:p>
            <a:pPr marL="0" indent="0">
              <a:buNone/>
            </a:pPr>
            <a:r>
              <a:rPr lang="en-US" sz="1180" b="1" dirty="0">
                <a:solidFill>
                  <a:srgbClr val="20A7A6"/>
                </a:solidFill>
                <a:latin typeface="Lato" pitchFamily="34" charset="0"/>
                <a:ea typeface="Lato" pitchFamily="34" charset="-122"/>
                <a:cs typeface="Lato" pitchFamily="34" charset="-120"/>
              </a:rPr>
              <a:t>Goal</a:t>
            </a:r>
            <a:endParaRPr lang="en-US" sz="1180" dirty="0"/>
          </a:p>
        </p:txBody>
      </p:sp>
      <p:sp>
        <p:nvSpPr>
          <p:cNvPr id="14" name="Text 12"/>
          <p:cNvSpPr/>
          <p:nvPr/>
        </p:nvSpPr>
        <p:spPr>
          <a:xfrm>
            <a:off x="1828800" y="3136392"/>
            <a:ext cx="5394960" cy="347472"/>
          </a:xfrm>
          <a:prstGeom prst="rect">
            <a:avLst/>
          </a:prstGeom>
          <a:noFill/>
          <a:ln/>
        </p:spPr>
        <p:txBody>
          <a:bodyPr wrap="square" lIns="0" tIns="0" rIns="0" bIns="0" rtlCol="0" anchor="ctr">
            <a:normAutofit/>
          </a:bodyPr>
          <a:lstStyle/>
          <a:p>
            <a:pPr marL="0" indent="0">
              <a:buNone/>
            </a:pPr>
            <a:r>
              <a:rPr lang="en-US" sz="1140" dirty="0">
                <a:solidFill>
                  <a:srgbClr val="152238"/>
                </a:solidFill>
                <a:latin typeface="Lato" pitchFamily="34" charset="0"/>
                <a:ea typeface="Lato" pitchFamily="34" charset="-122"/>
                <a:cs typeface="Lato" pitchFamily="34" charset="-120"/>
              </a:rPr>
              <a:t>Predict subscription score before contact; target = y = yes, meaning client subscribes to term deposit.</a:t>
            </a:r>
            <a:endParaRPr lang="en-US" sz="1140" dirty="0"/>
          </a:p>
        </p:txBody>
      </p:sp>
      <p:sp>
        <p:nvSpPr>
          <p:cNvPr id="15" name="Text 13"/>
          <p:cNvSpPr/>
          <p:nvPr/>
        </p:nvSpPr>
        <p:spPr>
          <a:xfrm>
            <a:off x="411480" y="3767328"/>
            <a:ext cx="1234440" cy="228600"/>
          </a:xfrm>
          <a:prstGeom prst="rect">
            <a:avLst/>
          </a:prstGeom>
          <a:noFill/>
          <a:ln/>
        </p:spPr>
        <p:txBody>
          <a:bodyPr wrap="square" lIns="0" tIns="0" rIns="0" bIns="0" rtlCol="0" anchor="ctr"/>
          <a:lstStyle/>
          <a:p>
            <a:pPr marL="0" indent="0">
              <a:buNone/>
            </a:pPr>
            <a:r>
              <a:rPr lang="en-US" sz="1180" b="1" dirty="0">
                <a:solidFill>
                  <a:srgbClr val="20A7A6"/>
                </a:solidFill>
                <a:latin typeface="Lato" pitchFamily="34" charset="0"/>
                <a:ea typeface="Lato" pitchFamily="34" charset="-122"/>
                <a:cs typeface="Lato" pitchFamily="34" charset="-120"/>
              </a:rPr>
              <a:t>Approach</a:t>
            </a:r>
            <a:endParaRPr lang="en-US" sz="1180" dirty="0"/>
          </a:p>
        </p:txBody>
      </p:sp>
      <p:sp>
        <p:nvSpPr>
          <p:cNvPr id="16" name="Text 14"/>
          <p:cNvSpPr/>
          <p:nvPr/>
        </p:nvSpPr>
        <p:spPr>
          <a:xfrm>
            <a:off x="1828800" y="3739896"/>
            <a:ext cx="5394960" cy="347472"/>
          </a:xfrm>
          <a:prstGeom prst="rect">
            <a:avLst/>
          </a:prstGeom>
          <a:noFill/>
          <a:ln/>
        </p:spPr>
        <p:txBody>
          <a:bodyPr wrap="square" lIns="0" tIns="0" rIns="0" bIns="0" rtlCol="0" anchor="ctr">
            <a:normAutofit/>
          </a:bodyPr>
          <a:lstStyle/>
          <a:p>
            <a:pPr marL="0" indent="0">
              <a:buNone/>
            </a:pPr>
            <a:r>
              <a:rPr lang="en-US" sz="1140" dirty="0">
                <a:solidFill>
                  <a:srgbClr val="152238"/>
                </a:solidFill>
                <a:latin typeface="Lato" pitchFamily="34" charset="0"/>
                <a:ea typeface="Lato" pitchFamily="34" charset="-122"/>
                <a:cs typeface="Lato" pitchFamily="34" charset="-120"/>
              </a:rPr>
              <a:t>Analytics + Machine Learning Classification using Gradient Boosting.</a:t>
            </a:r>
            <a:endParaRPr lang="en-US" sz="1140" dirty="0"/>
          </a:p>
        </p:txBody>
      </p:sp>
      <p:sp>
        <p:nvSpPr>
          <p:cNvPr id="17" name="Text 15"/>
          <p:cNvSpPr/>
          <p:nvPr/>
        </p:nvSpPr>
        <p:spPr>
          <a:xfrm>
            <a:off x="411480" y="4370832"/>
            <a:ext cx="1234440" cy="228600"/>
          </a:xfrm>
          <a:prstGeom prst="rect">
            <a:avLst/>
          </a:prstGeom>
          <a:noFill/>
          <a:ln/>
        </p:spPr>
        <p:txBody>
          <a:bodyPr wrap="square" lIns="0" tIns="0" rIns="0" bIns="0" rtlCol="0" anchor="ctr"/>
          <a:lstStyle/>
          <a:p>
            <a:pPr marL="0" indent="0">
              <a:buNone/>
            </a:pPr>
            <a:r>
              <a:rPr lang="en-US" sz="1180" b="1" dirty="0">
                <a:solidFill>
                  <a:srgbClr val="20A7A6"/>
                </a:solidFill>
                <a:latin typeface="Lato" pitchFamily="34" charset="0"/>
                <a:ea typeface="Lato" pitchFamily="34" charset="-122"/>
                <a:cs typeface="Lato" pitchFamily="34" charset="-120"/>
              </a:rPr>
              <a:t>Metric</a:t>
            </a:r>
            <a:endParaRPr lang="en-US" sz="1180" dirty="0"/>
          </a:p>
        </p:txBody>
      </p:sp>
      <p:sp>
        <p:nvSpPr>
          <p:cNvPr id="18" name="Text 16"/>
          <p:cNvSpPr/>
          <p:nvPr/>
        </p:nvSpPr>
        <p:spPr>
          <a:xfrm>
            <a:off x="1828800" y="4343400"/>
            <a:ext cx="5394960" cy="347472"/>
          </a:xfrm>
          <a:prstGeom prst="rect">
            <a:avLst/>
          </a:prstGeom>
          <a:noFill/>
          <a:ln/>
        </p:spPr>
        <p:txBody>
          <a:bodyPr wrap="square" lIns="0" tIns="0" rIns="0" bIns="0" rtlCol="0" anchor="ctr">
            <a:normAutofit/>
          </a:bodyPr>
          <a:lstStyle/>
          <a:p>
            <a:pPr marL="0" indent="0">
              <a:buNone/>
            </a:pPr>
            <a:r>
              <a:rPr lang="en-US" sz="1140" dirty="0">
                <a:solidFill>
                  <a:srgbClr val="152238"/>
                </a:solidFill>
                <a:latin typeface="Lato" pitchFamily="34" charset="0"/>
                <a:ea typeface="Lato" pitchFamily="34" charset="-122"/>
                <a:cs typeface="Lato" pitchFamily="34" charset="-120"/>
              </a:rPr>
              <a:t>Average Precision because positive class is imbalanced and subscriber ranking matters.</a:t>
            </a:r>
            <a:endParaRPr lang="en-US" sz="1140" dirty="0"/>
          </a:p>
        </p:txBody>
      </p:sp>
      <p:sp>
        <p:nvSpPr>
          <p:cNvPr id="19" name="Shape 17"/>
          <p:cNvSpPr/>
          <p:nvPr/>
        </p:nvSpPr>
        <p:spPr>
          <a:xfrm>
            <a:off x="7726680" y="1170432"/>
            <a:ext cx="1417320" cy="731520"/>
          </a:xfrm>
          <a:prstGeom prst="roundRect">
            <a:avLst>
              <a:gd name="adj" fmla="val 5000"/>
            </a:avLst>
          </a:prstGeom>
          <a:solidFill>
            <a:srgbClr val="F4F8FA"/>
          </a:solidFill>
          <a:ln w="8890">
            <a:solidFill>
              <a:srgbClr val="DCE9EF"/>
            </a:solidFill>
            <a:prstDash val="solid"/>
          </a:ln>
        </p:spPr>
      </p:sp>
      <p:sp>
        <p:nvSpPr>
          <p:cNvPr id="20" name="Text 18"/>
          <p:cNvSpPr/>
          <p:nvPr/>
        </p:nvSpPr>
        <p:spPr>
          <a:xfrm>
            <a:off x="7818120" y="1307592"/>
            <a:ext cx="1234440" cy="292608"/>
          </a:xfrm>
          <a:prstGeom prst="rect">
            <a:avLst/>
          </a:prstGeom>
          <a:noFill/>
          <a:ln/>
        </p:spPr>
        <p:txBody>
          <a:bodyPr wrap="square" lIns="0" tIns="0" rIns="0" bIns="0" rtlCol="0" anchor="ctr"/>
          <a:lstStyle/>
          <a:p>
            <a:pPr marL="0" indent="0" algn="ctr">
              <a:buNone/>
            </a:pPr>
            <a:r>
              <a:rPr lang="en-US" sz="1900" b="1" dirty="0">
                <a:solidFill>
                  <a:srgbClr val="09243D"/>
                </a:solidFill>
                <a:latin typeface="Lato" pitchFamily="34" charset="0"/>
                <a:ea typeface="Lato" pitchFamily="34" charset="-122"/>
                <a:cs typeface="Lato" pitchFamily="34" charset="-120"/>
              </a:rPr>
              <a:t>41,188</a:t>
            </a:r>
            <a:endParaRPr lang="en-US" sz="1900" dirty="0"/>
          </a:p>
        </p:txBody>
      </p:sp>
      <p:sp>
        <p:nvSpPr>
          <p:cNvPr id="21" name="Text 19"/>
          <p:cNvSpPr/>
          <p:nvPr/>
        </p:nvSpPr>
        <p:spPr>
          <a:xfrm>
            <a:off x="7818120" y="1673352"/>
            <a:ext cx="1234440" cy="182880"/>
          </a:xfrm>
          <a:prstGeom prst="rect">
            <a:avLst/>
          </a:prstGeom>
          <a:noFill/>
          <a:ln/>
        </p:spPr>
        <p:txBody>
          <a:bodyPr wrap="square" lIns="0" tIns="0" rIns="0" bIns="0" rtlCol="0" anchor="ctr">
            <a:normAutofit/>
          </a:bodyPr>
          <a:lstStyle/>
          <a:p>
            <a:pPr marL="0" indent="0" algn="ctr">
              <a:buNone/>
            </a:pPr>
            <a:r>
              <a:rPr lang="en-US" sz="950" b="1" dirty="0">
                <a:solidFill>
                  <a:srgbClr val="09243D"/>
                </a:solidFill>
                <a:latin typeface="Lato" pitchFamily="34" charset="0"/>
                <a:ea typeface="Lato" pitchFamily="34" charset="-122"/>
                <a:cs typeface="Lato" pitchFamily="34" charset="-120"/>
              </a:rPr>
              <a:t>historical observations</a:t>
            </a:r>
            <a:endParaRPr lang="en-US" sz="950" dirty="0"/>
          </a:p>
        </p:txBody>
      </p:sp>
      <p:sp>
        <p:nvSpPr>
          <p:cNvPr id="22" name="Shape 20"/>
          <p:cNvSpPr/>
          <p:nvPr/>
        </p:nvSpPr>
        <p:spPr>
          <a:xfrm>
            <a:off x="9326880" y="1170432"/>
            <a:ext cx="1417320" cy="731520"/>
          </a:xfrm>
          <a:prstGeom prst="roundRect">
            <a:avLst>
              <a:gd name="adj" fmla="val 5000"/>
            </a:avLst>
          </a:prstGeom>
          <a:solidFill>
            <a:srgbClr val="F4F8FA"/>
          </a:solidFill>
          <a:ln w="8890">
            <a:solidFill>
              <a:srgbClr val="DCE9EF"/>
            </a:solidFill>
            <a:prstDash val="solid"/>
          </a:ln>
        </p:spPr>
      </p:sp>
      <p:sp>
        <p:nvSpPr>
          <p:cNvPr id="23" name="Text 21"/>
          <p:cNvSpPr/>
          <p:nvPr/>
        </p:nvSpPr>
        <p:spPr>
          <a:xfrm>
            <a:off x="9418320" y="1307592"/>
            <a:ext cx="1234440" cy="292608"/>
          </a:xfrm>
          <a:prstGeom prst="rect">
            <a:avLst/>
          </a:prstGeom>
          <a:noFill/>
          <a:ln/>
        </p:spPr>
        <p:txBody>
          <a:bodyPr wrap="square" lIns="0" tIns="0" rIns="0" bIns="0" rtlCol="0" anchor="ctr"/>
          <a:lstStyle/>
          <a:p>
            <a:pPr marL="0" indent="0" algn="ctr">
              <a:buNone/>
            </a:pPr>
            <a:r>
              <a:rPr lang="en-US" sz="1900" b="1" dirty="0">
                <a:solidFill>
                  <a:srgbClr val="20A7A6"/>
                </a:solidFill>
                <a:latin typeface="Lato" pitchFamily="34" charset="0"/>
                <a:ea typeface="Lato" pitchFamily="34" charset="-122"/>
                <a:cs typeface="Lato" pitchFamily="34" charset="-120"/>
              </a:rPr>
              <a:t>11.27%</a:t>
            </a:r>
            <a:endParaRPr lang="en-US" sz="1900" dirty="0"/>
          </a:p>
        </p:txBody>
      </p:sp>
      <p:sp>
        <p:nvSpPr>
          <p:cNvPr id="24" name="Text 22"/>
          <p:cNvSpPr/>
          <p:nvPr/>
        </p:nvSpPr>
        <p:spPr>
          <a:xfrm>
            <a:off x="9418320" y="1673352"/>
            <a:ext cx="1234440" cy="182880"/>
          </a:xfrm>
          <a:prstGeom prst="rect">
            <a:avLst/>
          </a:prstGeom>
          <a:noFill/>
          <a:ln/>
        </p:spPr>
        <p:txBody>
          <a:bodyPr wrap="square" lIns="0" tIns="0" rIns="0" bIns="0" rtlCol="0" anchor="ctr">
            <a:normAutofit/>
          </a:bodyPr>
          <a:lstStyle/>
          <a:p>
            <a:pPr marL="0" indent="0" algn="ctr">
              <a:buNone/>
            </a:pPr>
            <a:r>
              <a:rPr lang="en-US" sz="950" b="1" dirty="0">
                <a:solidFill>
                  <a:srgbClr val="09243D"/>
                </a:solidFill>
                <a:latin typeface="Lato" pitchFamily="34" charset="0"/>
                <a:ea typeface="Lato" pitchFamily="34" charset="-122"/>
                <a:cs typeface="Lato" pitchFamily="34" charset="-120"/>
              </a:rPr>
              <a:t>positive class</a:t>
            </a:r>
            <a:endParaRPr lang="en-US" sz="950" dirty="0"/>
          </a:p>
        </p:txBody>
      </p:sp>
      <p:sp>
        <p:nvSpPr>
          <p:cNvPr id="25" name="Shape 23"/>
          <p:cNvSpPr/>
          <p:nvPr/>
        </p:nvSpPr>
        <p:spPr>
          <a:xfrm>
            <a:off x="7726680" y="2240280"/>
            <a:ext cx="1417320" cy="731520"/>
          </a:xfrm>
          <a:prstGeom prst="roundRect">
            <a:avLst>
              <a:gd name="adj" fmla="val 5000"/>
            </a:avLst>
          </a:prstGeom>
          <a:solidFill>
            <a:srgbClr val="F4F8FA"/>
          </a:solidFill>
          <a:ln w="8890">
            <a:solidFill>
              <a:srgbClr val="DCE9EF"/>
            </a:solidFill>
            <a:prstDash val="solid"/>
          </a:ln>
        </p:spPr>
      </p:sp>
      <p:sp>
        <p:nvSpPr>
          <p:cNvPr id="26" name="Text 24"/>
          <p:cNvSpPr/>
          <p:nvPr/>
        </p:nvSpPr>
        <p:spPr>
          <a:xfrm>
            <a:off x="7818120" y="2377440"/>
            <a:ext cx="1234440" cy="292608"/>
          </a:xfrm>
          <a:prstGeom prst="rect">
            <a:avLst/>
          </a:prstGeom>
          <a:noFill/>
          <a:ln/>
        </p:spPr>
        <p:txBody>
          <a:bodyPr wrap="square" lIns="0" tIns="0" rIns="0" bIns="0" rtlCol="0" anchor="ctr"/>
          <a:lstStyle/>
          <a:p>
            <a:pPr marL="0" indent="0" algn="ctr">
              <a:buNone/>
            </a:pPr>
            <a:r>
              <a:rPr lang="en-US" sz="1900" b="1" dirty="0">
                <a:solidFill>
                  <a:srgbClr val="F5A33B"/>
                </a:solidFill>
                <a:latin typeface="Lato" pitchFamily="34" charset="0"/>
                <a:ea typeface="Lato" pitchFamily="34" charset="-122"/>
                <a:cs typeface="Lato" pitchFamily="34" charset="-120"/>
              </a:rPr>
              <a:t>AP 0.4810</a:t>
            </a:r>
            <a:endParaRPr lang="en-US" sz="1900" dirty="0"/>
          </a:p>
        </p:txBody>
      </p:sp>
      <p:sp>
        <p:nvSpPr>
          <p:cNvPr id="27" name="Text 25"/>
          <p:cNvSpPr/>
          <p:nvPr/>
        </p:nvSpPr>
        <p:spPr>
          <a:xfrm>
            <a:off x="7818120" y="2743200"/>
            <a:ext cx="1234440" cy="182880"/>
          </a:xfrm>
          <a:prstGeom prst="rect">
            <a:avLst/>
          </a:prstGeom>
          <a:noFill/>
          <a:ln/>
        </p:spPr>
        <p:txBody>
          <a:bodyPr wrap="square" lIns="0" tIns="0" rIns="0" bIns="0" rtlCol="0" anchor="ctr">
            <a:normAutofit/>
          </a:bodyPr>
          <a:lstStyle/>
          <a:p>
            <a:pPr marL="0" indent="0" algn="ctr">
              <a:buNone/>
            </a:pPr>
            <a:r>
              <a:rPr lang="en-US" sz="950" b="1" dirty="0">
                <a:solidFill>
                  <a:srgbClr val="09243D"/>
                </a:solidFill>
                <a:latin typeface="Lato" pitchFamily="34" charset="0"/>
                <a:ea typeface="Lato" pitchFamily="34" charset="-122"/>
                <a:cs typeface="Lato" pitchFamily="34" charset="-120"/>
              </a:rPr>
              <a:t>test-set ranking</a:t>
            </a:r>
            <a:endParaRPr lang="en-US" sz="950" dirty="0"/>
          </a:p>
        </p:txBody>
      </p:sp>
      <p:sp>
        <p:nvSpPr>
          <p:cNvPr id="28" name="Shape 26"/>
          <p:cNvSpPr/>
          <p:nvPr/>
        </p:nvSpPr>
        <p:spPr>
          <a:xfrm>
            <a:off x="9326880" y="2240280"/>
            <a:ext cx="1417320" cy="731520"/>
          </a:xfrm>
          <a:prstGeom prst="roundRect">
            <a:avLst>
              <a:gd name="adj" fmla="val 5000"/>
            </a:avLst>
          </a:prstGeom>
          <a:solidFill>
            <a:srgbClr val="F4F8FA"/>
          </a:solidFill>
          <a:ln w="8890">
            <a:solidFill>
              <a:srgbClr val="DCE9EF"/>
            </a:solidFill>
            <a:prstDash val="solid"/>
          </a:ln>
        </p:spPr>
      </p:sp>
      <p:sp>
        <p:nvSpPr>
          <p:cNvPr id="29" name="Text 27"/>
          <p:cNvSpPr/>
          <p:nvPr/>
        </p:nvSpPr>
        <p:spPr>
          <a:xfrm>
            <a:off x="9418320" y="2377440"/>
            <a:ext cx="1234440" cy="292608"/>
          </a:xfrm>
          <a:prstGeom prst="rect">
            <a:avLst/>
          </a:prstGeom>
          <a:noFill/>
          <a:ln/>
        </p:spPr>
        <p:txBody>
          <a:bodyPr wrap="square" lIns="0" tIns="0" rIns="0" bIns="0" rtlCol="0" anchor="ctr"/>
          <a:lstStyle/>
          <a:p>
            <a:pPr marL="0" indent="0" algn="ctr">
              <a:buNone/>
            </a:pPr>
            <a:r>
              <a:rPr lang="en-US" sz="1900" b="1" dirty="0">
                <a:solidFill>
                  <a:srgbClr val="09243D"/>
                </a:solidFill>
                <a:latin typeface="Lato" pitchFamily="34" charset="0"/>
                <a:ea typeface="Lato" pitchFamily="34" charset="-122"/>
                <a:cs typeface="Lato" pitchFamily="34" charset="-120"/>
              </a:rPr>
              <a:t>0.60</a:t>
            </a:r>
            <a:endParaRPr lang="en-US" sz="1900" dirty="0"/>
          </a:p>
        </p:txBody>
      </p:sp>
      <p:sp>
        <p:nvSpPr>
          <p:cNvPr id="30" name="Text 28"/>
          <p:cNvSpPr/>
          <p:nvPr/>
        </p:nvSpPr>
        <p:spPr>
          <a:xfrm>
            <a:off x="9418320" y="2743200"/>
            <a:ext cx="1234440" cy="182880"/>
          </a:xfrm>
          <a:prstGeom prst="rect">
            <a:avLst/>
          </a:prstGeom>
          <a:noFill/>
          <a:ln/>
        </p:spPr>
        <p:txBody>
          <a:bodyPr wrap="square" lIns="0" tIns="0" rIns="0" bIns="0" rtlCol="0" anchor="ctr">
            <a:normAutofit/>
          </a:bodyPr>
          <a:lstStyle/>
          <a:p>
            <a:pPr marL="0" indent="0" algn="ctr">
              <a:buNone/>
            </a:pPr>
            <a:r>
              <a:rPr lang="en-US" sz="950" b="1" dirty="0">
                <a:solidFill>
                  <a:srgbClr val="09243D"/>
                </a:solidFill>
                <a:latin typeface="Lato" pitchFamily="34" charset="0"/>
                <a:ea typeface="Lato" pitchFamily="34" charset="-122"/>
                <a:cs typeface="Lato" pitchFamily="34" charset="-120"/>
              </a:rPr>
              <a:t>selective scenario</a:t>
            </a:r>
            <a:endParaRPr lang="en-US" sz="950" dirty="0"/>
          </a:p>
        </p:txBody>
      </p:sp>
      <p:sp>
        <p:nvSpPr>
          <p:cNvPr id="31" name="Shape 29"/>
          <p:cNvSpPr/>
          <p:nvPr/>
        </p:nvSpPr>
        <p:spPr>
          <a:xfrm>
            <a:off x="7726680" y="3840480"/>
            <a:ext cx="3017520" cy="777240"/>
          </a:xfrm>
          <a:prstGeom prst="roundRect">
            <a:avLst>
              <a:gd name="adj" fmla="val 5882"/>
            </a:avLst>
          </a:prstGeom>
          <a:solidFill>
            <a:srgbClr val="F4F8FA"/>
          </a:solidFill>
          <a:ln w="7620">
            <a:solidFill>
              <a:srgbClr val="D7E4EA"/>
            </a:solidFill>
            <a:prstDash val="solid"/>
          </a:ln>
        </p:spPr>
      </p:sp>
      <p:sp>
        <p:nvSpPr>
          <p:cNvPr id="32" name="Shape 30"/>
          <p:cNvSpPr/>
          <p:nvPr/>
        </p:nvSpPr>
        <p:spPr>
          <a:xfrm>
            <a:off x="7726680" y="3840480"/>
            <a:ext cx="73152" cy="777240"/>
          </a:xfrm>
          <a:prstGeom prst="rect">
            <a:avLst/>
          </a:prstGeom>
          <a:solidFill>
            <a:srgbClr val="F5A33B"/>
          </a:solidFill>
          <a:ln w="12700">
            <a:solidFill>
              <a:srgbClr val="F5A33B">
                <a:alpha val="0"/>
              </a:srgbClr>
            </a:solidFill>
            <a:prstDash val="solid"/>
          </a:ln>
        </p:spPr>
      </p:sp>
      <p:sp>
        <p:nvSpPr>
          <p:cNvPr id="33" name="Text 31"/>
          <p:cNvSpPr/>
          <p:nvPr/>
        </p:nvSpPr>
        <p:spPr>
          <a:xfrm>
            <a:off x="7891272" y="3968496"/>
            <a:ext cx="277977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Main decision</a:t>
            </a:r>
            <a:endParaRPr lang="en-US" sz="1250" dirty="0"/>
          </a:p>
        </p:txBody>
      </p:sp>
      <p:sp>
        <p:nvSpPr>
          <p:cNvPr id="34" name="Text 32"/>
          <p:cNvSpPr/>
          <p:nvPr/>
        </p:nvSpPr>
        <p:spPr>
          <a:xfrm>
            <a:off x="7891272" y="4279392"/>
            <a:ext cx="2761488" cy="265176"/>
          </a:xfrm>
          <a:prstGeom prst="rect">
            <a:avLst/>
          </a:prstGeom>
          <a:noFill/>
          <a:ln/>
        </p:spPr>
        <p:txBody>
          <a:bodyPr wrap="square" lIns="0" tIns="0" rIns="0" bIns="0" rtlCol="0" anchor="ctr">
            <a:normAutofit fontScale="85000" lnSpcReduction="20000"/>
          </a:bodyPr>
          <a:lstStyle/>
          <a:p>
            <a:pPr marL="0" indent="0">
              <a:buNone/>
            </a:pPr>
            <a:r>
              <a:rPr lang="en-US" sz="1220" dirty="0">
                <a:solidFill>
                  <a:srgbClr val="152238"/>
                </a:solidFill>
                <a:latin typeface="Lato" pitchFamily="34" charset="0"/>
                <a:ea typeface="Lato" pitchFamily="34" charset="-122"/>
                <a:cs typeface="Lato" pitchFamily="34" charset="-120"/>
              </a:rPr>
              <a:t>Use prediction score to prioritize clients before contact attempt.</a:t>
            </a:r>
            <a:endParaRPr lang="en-US" sz="1220" dirty="0"/>
          </a:p>
        </p:txBody>
      </p:sp>
      <p:sp>
        <p:nvSpPr>
          <p:cNvPr id="35" name="Shape 3">
            <a:extLst>
              <a:ext uri="{FF2B5EF4-FFF2-40B4-BE49-F238E27FC236}">
                <a16:creationId xmlns:a16="http://schemas.microsoft.com/office/drawing/2014/main" id="{B4B72D52-2071-EA59-B864-860FEA7E0D58}"/>
              </a:ext>
            </a:extLst>
          </p:cNvPr>
          <p:cNvSpPr/>
          <p:nvPr/>
        </p:nvSpPr>
        <p:spPr>
          <a:xfrm>
            <a:off x="292608" y="1051560"/>
            <a:ext cx="1572768" cy="27432"/>
          </a:xfrm>
          <a:prstGeom prst="rect">
            <a:avLst/>
          </a:prstGeom>
          <a:solidFill>
            <a:srgbClr val="F4A340"/>
          </a:solidFill>
          <a:ln w="12700">
            <a:solidFill>
              <a:srgbClr val="F4A340"/>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09243D"/>
          </a:solidFill>
          <a:ln w="12700">
            <a:solidFill>
              <a:srgbClr val="09243D">
                <a:alpha val="0"/>
              </a:srgbClr>
            </a:solidFill>
            <a:prstDash val="solid"/>
          </a:ln>
        </p:spPr>
      </p:sp>
      <p:sp>
        <p:nvSpPr>
          <p:cNvPr id="3" name="Text 1"/>
          <p:cNvSpPr/>
          <p:nvPr/>
        </p:nvSpPr>
        <p:spPr>
          <a:xfrm>
            <a:off x="320040" y="201168"/>
            <a:ext cx="6949440" cy="201168"/>
          </a:xfrm>
          <a:prstGeom prst="rect">
            <a:avLst/>
          </a:prstGeom>
          <a:noFill/>
          <a:ln/>
        </p:spPr>
        <p:txBody>
          <a:bodyPr wrap="square" lIns="0" tIns="0" rIns="0" bIns="0" rtlCol="0" anchor="ctr"/>
          <a:lstStyle/>
          <a:p>
            <a:pPr marL="0" indent="0">
              <a:buNone/>
            </a:pPr>
            <a:r>
              <a:rPr lang="en-US" sz="850" b="1" dirty="0">
                <a:solidFill>
                  <a:srgbClr val="20A7A6"/>
                </a:solidFill>
                <a:latin typeface="Lato" pitchFamily="34" charset="0"/>
                <a:ea typeface="Lato" pitchFamily="34" charset="-122"/>
                <a:cs typeface="Lato" pitchFamily="34" charset="-120"/>
              </a:rPr>
              <a:t>PROJECT CONTEXT</a:t>
            </a:r>
            <a:endParaRPr lang="en-US" sz="850" dirty="0"/>
          </a:p>
        </p:txBody>
      </p:sp>
      <p:sp>
        <p:nvSpPr>
          <p:cNvPr id="4" name="Text 2"/>
          <p:cNvSpPr/>
          <p:nvPr/>
        </p:nvSpPr>
        <p:spPr>
          <a:xfrm>
            <a:off x="11338560" y="182880"/>
            <a:ext cx="502920" cy="182880"/>
          </a:xfrm>
          <a:prstGeom prst="rect">
            <a:avLst/>
          </a:prstGeom>
          <a:noFill/>
          <a:ln/>
        </p:spPr>
        <p:txBody>
          <a:bodyPr wrap="square" lIns="0" tIns="0" rIns="0" bIns="0" rtlCol="0" anchor="ctr"/>
          <a:lstStyle/>
          <a:p>
            <a:pPr marL="0" indent="0" algn="r">
              <a:buNone/>
            </a:pPr>
            <a:r>
              <a:rPr lang="en-US" sz="750" dirty="0">
                <a:solidFill>
                  <a:srgbClr val="6B7280"/>
                </a:solidFill>
                <a:latin typeface="Lato" pitchFamily="34" charset="0"/>
                <a:ea typeface="Lato" pitchFamily="34" charset="-122"/>
                <a:cs typeface="Lato" pitchFamily="34" charset="-120"/>
              </a:rPr>
              <a:t>4/23</a:t>
            </a:r>
            <a:endParaRPr lang="en-US" sz="750" dirty="0"/>
          </a:p>
        </p:txBody>
      </p:sp>
      <p:sp>
        <p:nvSpPr>
          <p:cNvPr id="5" name="Text 3"/>
          <p:cNvSpPr/>
          <p:nvPr/>
        </p:nvSpPr>
        <p:spPr>
          <a:xfrm>
            <a:off x="320040" y="566928"/>
            <a:ext cx="5943600" cy="512064"/>
          </a:xfrm>
          <a:prstGeom prst="rect">
            <a:avLst/>
          </a:prstGeom>
          <a:noFill/>
          <a:ln/>
        </p:spPr>
        <p:txBody>
          <a:bodyPr wrap="square" lIns="0" tIns="0" rIns="0" bIns="0" rtlCol="0" anchor="ctr">
            <a:normAutofit/>
          </a:bodyPr>
          <a:lstStyle/>
          <a:p>
            <a:pPr marL="0" indent="0">
              <a:buNone/>
            </a:pPr>
            <a:r>
              <a:rPr lang="en-US" sz="2700" b="1" dirty="0">
                <a:solidFill>
                  <a:srgbClr val="09243D"/>
                </a:solidFill>
                <a:latin typeface="Lato" pitchFamily="34" charset="0"/>
                <a:ea typeface="Lato" pitchFamily="34" charset="-122"/>
                <a:cs typeface="Lato" pitchFamily="34" charset="-120"/>
              </a:rPr>
              <a:t>Profile Group Intro</a:t>
            </a:r>
            <a:endParaRPr lang="en-US" sz="2700" dirty="0"/>
          </a:p>
        </p:txBody>
      </p:sp>
      <p:sp>
        <p:nvSpPr>
          <p:cNvPr id="7" name="Text 5"/>
          <p:cNvSpPr/>
          <p:nvPr/>
        </p:nvSpPr>
        <p:spPr>
          <a:xfrm>
            <a:off x="502920" y="1325880"/>
            <a:ext cx="4846320" cy="2377440"/>
          </a:xfrm>
          <a:prstGeom prst="rect">
            <a:avLst/>
          </a:prstGeom>
          <a:noFill/>
          <a:ln/>
        </p:spPr>
        <p:txBody>
          <a:bodyPr wrap="square" lIns="762" tIns="762" rIns="762" bIns="762" rtlCol="0" anchor="ctr">
            <a:normAutofit/>
          </a:bodyPr>
          <a:lstStyle/>
          <a:p>
            <a:r>
              <a:rPr lang="en-US" sz="1500" dirty="0">
                <a:solidFill>
                  <a:srgbClr val="152238"/>
                </a:solidFill>
                <a:latin typeface="Lato" pitchFamily="34" charset="0"/>
                <a:ea typeface="Lato" pitchFamily="34" charset="-122"/>
                <a:cs typeface="Lato" pitchFamily="34" charset="-120"/>
              </a:rPr>
              <a:t>Use case: term deposit subscription prediction for direct marketing campaign.</a:t>
            </a:r>
            <a:endParaRPr lang="en-US" sz="1500" dirty="0"/>
          </a:p>
          <a:p>
            <a:r>
              <a:rPr lang="en-US" sz="1500" dirty="0">
                <a:solidFill>
                  <a:srgbClr val="152238"/>
                </a:solidFill>
                <a:latin typeface="Lato" pitchFamily="34" charset="0"/>
                <a:ea typeface="Lato" pitchFamily="34" charset="-122"/>
                <a:cs typeface="Lato" pitchFamily="34" charset="-120"/>
              </a:rPr>
              <a:t>Primary stakeholder: Marketing / Campaign Manager.</a:t>
            </a:r>
            <a:endParaRPr lang="en-US" sz="1500" dirty="0"/>
          </a:p>
          <a:p>
            <a:r>
              <a:rPr lang="en-US" sz="1500" dirty="0">
                <a:solidFill>
                  <a:srgbClr val="152238"/>
                </a:solidFill>
                <a:latin typeface="Lato" pitchFamily="34" charset="0"/>
                <a:ea typeface="Lato" pitchFamily="34" charset="-122"/>
                <a:cs typeface="Lato" pitchFamily="34" charset="-120"/>
              </a:rPr>
              <a:t>Supporting stakeholders: CRM Team, Product Manager, Contact Center.</a:t>
            </a:r>
            <a:endParaRPr lang="en-US" sz="1500" dirty="0"/>
          </a:p>
          <a:p>
            <a:r>
              <a:rPr lang="en-US" sz="1500" dirty="0">
                <a:solidFill>
                  <a:srgbClr val="152238"/>
                </a:solidFill>
                <a:latin typeface="Lato" pitchFamily="34" charset="0"/>
                <a:ea typeface="Lato" pitchFamily="34" charset="-122"/>
                <a:cs typeface="Lato" pitchFamily="34" charset="-120"/>
              </a:rPr>
              <a:t>Team role: convert historical campaign data into client ranking support.</a:t>
            </a:r>
            <a:endParaRPr lang="en-US" sz="1500" dirty="0"/>
          </a:p>
        </p:txBody>
      </p:sp>
      <p:sp>
        <p:nvSpPr>
          <p:cNvPr id="8" name="Shape 6"/>
          <p:cNvSpPr/>
          <p:nvPr/>
        </p:nvSpPr>
        <p:spPr>
          <a:xfrm>
            <a:off x="7406640" y="1417320"/>
            <a:ext cx="1051560" cy="731520"/>
          </a:xfrm>
          <a:prstGeom prst="ellipse">
            <a:avLst/>
          </a:prstGeom>
          <a:solidFill>
            <a:srgbClr val="20A7A6"/>
          </a:solidFill>
          <a:ln w="12700">
            <a:solidFill>
              <a:srgbClr val="20A7A6">
                <a:alpha val="0"/>
              </a:srgbClr>
            </a:solidFill>
            <a:prstDash val="solid"/>
          </a:ln>
        </p:spPr>
      </p:sp>
      <p:sp>
        <p:nvSpPr>
          <p:cNvPr id="9" name="Text 7"/>
          <p:cNvSpPr/>
          <p:nvPr/>
        </p:nvSpPr>
        <p:spPr>
          <a:xfrm>
            <a:off x="7461504" y="1517904"/>
            <a:ext cx="941832" cy="530352"/>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Lato" pitchFamily="34" charset="0"/>
                <a:ea typeface="Lato" pitchFamily="34" charset="-122"/>
                <a:cs typeface="Lato" pitchFamily="34" charset="-120"/>
              </a:rPr>
              <a:t>CRM</a:t>
            </a:r>
            <a:endParaRPr lang="en-US" sz="950" dirty="0"/>
          </a:p>
          <a:p>
            <a:pPr marL="0" indent="0" algn="ctr">
              <a:buNone/>
            </a:pPr>
            <a:r>
              <a:rPr lang="en-US" sz="950" b="1" dirty="0">
                <a:solidFill>
                  <a:srgbClr val="FFFFFF"/>
                </a:solidFill>
                <a:latin typeface="Lato" pitchFamily="34" charset="0"/>
                <a:ea typeface="Lato" pitchFamily="34" charset="-122"/>
                <a:cs typeface="Lato" pitchFamily="34" charset="-120"/>
              </a:rPr>
              <a:t>Team</a:t>
            </a:r>
            <a:endParaRPr lang="en-US" sz="950" dirty="0"/>
          </a:p>
        </p:txBody>
      </p:sp>
      <p:sp>
        <p:nvSpPr>
          <p:cNvPr id="10" name="Shape 8"/>
          <p:cNvSpPr/>
          <p:nvPr/>
        </p:nvSpPr>
        <p:spPr>
          <a:xfrm>
            <a:off x="9326880" y="1417320"/>
            <a:ext cx="1051560" cy="731520"/>
          </a:xfrm>
          <a:prstGeom prst="ellipse">
            <a:avLst/>
          </a:prstGeom>
          <a:solidFill>
            <a:srgbClr val="09243D"/>
          </a:solidFill>
          <a:ln w="12700">
            <a:solidFill>
              <a:srgbClr val="09243D">
                <a:alpha val="0"/>
              </a:srgbClr>
            </a:solidFill>
            <a:prstDash val="solid"/>
          </a:ln>
        </p:spPr>
      </p:sp>
      <p:sp>
        <p:nvSpPr>
          <p:cNvPr id="11" name="Text 9"/>
          <p:cNvSpPr/>
          <p:nvPr/>
        </p:nvSpPr>
        <p:spPr>
          <a:xfrm>
            <a:off x="9381744" y="1517904"/>
            <a:ext cx="941832" cy="530352"/>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Lato" pitchFamily="34" charset="0"/>
                <a:ea typeface="Lato" pitchFamily="34" charset="-122"/>
                <a:cs typeface="Lato" pitchFamily="34" charset="-120"/>
              </a:rPr>
              <a:t>Product</a:t>
            </a:r>
            <a:endParaRPr lang="en-US" sz="950" dirty="0"/>
          </a:p>
          <a:p>
            <a:pPr marL="0" indent="0" algn="ctr">
              <a:buNone/>
            </a:pPr>
            <a:r>
              <a:rPr lang="en-US" sz="950" b="1" dirty="0">
                <a:solidFill>
                  <a:srgbClr val="FFFFFF"/>
                </a:solidFill>
                <a:latin typeface="Lato" pitchFamily="34" charset="0"/>
                <a:ea typeface="Lato" pitchFamily="34" charset="-122"/>
                <a:cs typeface="Lato" pitchFamily="34" charset="-120"/>
              </a:rPr>
              <a:t>Manager</a:t>
            </a:r>
            <a:endParaRPr lang="en-US" sz="950" dirty="0"/>
          </a:p>
        </p:txBody>
      </p:sp>
      <p:sp>
        <p:nvSpPr>
          <p:cNvPr id="12" name="Shape 10"/>
          <p:cNvSpPr/>
          <p:nvPr/>
        </p:nvSpPr>
        <p:spPr>
          <a:xfrm>
            <a:off x="8366760" y="2834640"/>
            <a:ext cx="1051560" cy="731520"/>
          </a:xfrm>
          <a:prstGeom prst="ellipse">
            <a:avLst/>
          </a:prstGeom>
          <a:solidFill>
            <a:srgbClr val="F5A33B"/>
          </a:solidFill>
          <a:ln w="12700">
            <a:solidFill>
              <a:srgbClr val="F5A33B">
                <a:alpha val="0"/>
              </a:srgbClr>
            </a:solidFill>
            <a:prstDash val="solid"/>
          </a:ln>
        </p:spPr>
      </p:sp>
      <p:sp>
        <p:nvSpPr>
          <p:cNvPr id="13" name="Text 11"/>
          <p:cNvSpPr/>
          <p:nvPr/>
        </p:nvSpPr>
        <p:spPr>
          <a:xfrm>
            <a:off x="8421624" y="2935224"/>
            <a:ext cx="941832" cy="530352"/>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Lato" pitchFamily="34" charset="0"/>
                <a:ea typeface="Lato" pitchFamily="34" charset="-122"/>
                <a:cs typeface="Lato" pitchFamily="34" charset="-120"/>
              </a:rPr>
              <a:t>Marketing /</a:t>
            </a:r>
            <a:endParaRPr lang="en-US" sz="950" dirty="0"/>
          </a:p>
          <a:p>
            <a:pPr marL="0" indent="0" algn="ctr">
              <a:buNone/>
            </a:pPr>
            <a:r>
              <a:rPr lang="en-US" sz="950" b="1" dirty="0">
                <a:solidFill>
                  <a:srgbClr val="FFFFFF"/>
                </a:solidFill>
                <a:latin typeface="Lato" pitchFamily="34" charset="0"/>
                <a:ea typeface="Lato" pitchFamily="34" charset="-122"/>
                <a:cs typeface="Lato" pitchFamily="34" charset="-120"/>
              </a:rPr>
              <a:t>Campaign</a:t>
            </a:r>
            <a:endParaRPr lang="en-US" sz="950" dirty="0"/>
          </a:p>
          <a:p>
            <a:pPr marL="0" indent="0" algn="ctr">
              <a:buNone/>
            </a:pPr>
            <a:r>
              <a:rPr lang="en-US" sz="950" b="1" dirty="0">
                <a:solidFill>
                  <a:srgbClr val="FFFFFF"/>
                </a:solidFill>
                <a:latin typeface="Lato" pitchFamily="34" charset="0"/>
                <a:ea typeface="Lato" pitchFamily="34" charset="-122"/>
                <a:cs typeface="Lato" pitchFamily="34" charset="-120"/>
              </a:rPr>
              <a:t>Manager</a:t>
            </a:r>
            <a:endParaRPr lang="en-US" sz="950" dirty="0"/>
          </a:p>
        </p:txBody>
      </p:sp>
      <p:sp>
        <p:nvSpPr>
          <p:cNvPr id="14" name="Shape 12"/>
          <p:cNvSpPr/>
          <p:nvPr/>
        </p:nvSpPr>
        <p:spPr>
          <a:xfrm>
            <a:off x="7406640" y="4343400"/>
            <a:ext cx="1051560" cy="731520"/>
          </a:xfrm>
          <a:prstGeom prst="ellipse">
            <a:avLst/>
          </a:prstGeom>
          <a:solidFill>
            <a:srgbClr val="09243D"/>
          </a:solidFill>
          <a:ln w="12700">
            <a:solidFill>
              <a:srgbClr val="09243D">
                <a:alpha val="0"/>
              </a:srgbClr>
            </a:solidFill>
            <a:prstDash val="solid"/>
          </a:ln>
        </p:spPr>
      </p:sp>
      <p:sp>
        <p:nvSpPr>
          <p:cNvPr id="15" name="Text 13"/>
          <p:cNvSpPr/>
          <p:nvPr/>
        </p:nvSpPr>
        <p:spPr>
          <a:xfrm>
            <a:off x="7461504" y="4443984"/>
            <a:ext cx="941832" cy="530352"/>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Lato" pitchFamily="34" charset="0"/>
                <a:ea typeface="Lato" pitchFamily="34" charset="-122"/>
                <a:cs typeface="Lato" pitchFamily="34" charset="-120"/>
              </a:rPr>
              <a:t>Contact</a:t>
            </a:r>
            <a:endParaRPr lang="en-US" sz="950" dirty="0"/>
          </a:p>
          <a:p>
            <a:pPr marL="0" indent="0" algn="ctr">
              <a:buNone/>
            </a:pPr>
            <a:r>
              <a:rPr lang="en-US" sz="950" b="1" dirty="0">
                <a:solidFill>
                  <a:srgbClr val="FFFFFF"/>
                </a:solidFill>
                <a:latin typeface="Lato" pitchFamily="34" charset="0"/>
                <a:ea typeface="Lato" pitchFamily="34" charset="-122"/>
                <a:cs typeface="Lato" pitchFamily="34" charset="-120"/>
              </a:rPr>
              <a:t>Center</a:t>
            </a:r>
            <a:endParaRPr lang="en-US" sz="950" dirty="0"/>
          </a:p>
        </p:txBody>
      </p:sp>
      <p:sp>
        <p:nvSpPr>
          <p:cNvPr id="16" name="Shape 14"/>
          <p:cNvSpPr/>
          <p:nvPr/>
        </p:nvSpPr>
        <p:spPr>
          <a:xfrm>
            <a:off x="9326880" y="4343400"/>
            <a:ext cx="1051560" cy="731520"/>
          </a:xfrm>
          <a:prstGeom prst="ellipse">
            <a:avLst/>
          </a:prstGeom>
          <a:solidFill>
            <a:srgbClr val="20A7A6"/>
          </a:solidFill>
          <a:ln w="12700">
            <a:solidFill>
              <a:srgbClr val="20A7A6">
                <a:alpha val="0"/>
              </a:srgbClr>
            </a:solidFill>
            <a:prstDash val="solid"/>
          </a:ln>
        </p:spPr>
      </p:sp>
      <p:sp>
        <p:nvSpPr>
          <p:cNvPr id="17" name="Text 15"/>
          <p:cNvSpPr/>
          <p:nvPr/>
        </p:nvSpPr>
        <p:spPr>
          <a:xfrm>
            <a:off x="9381744" y="4443984"/>
            <a:ext cx="941832" cy="530352"/>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Lato" pitchFamily="34" charset="0"/>
                <a:ea typeface="Lato" pitchFamily="34" charset="-122"/>
                <a:cs typeface="Lato" pitchFamily="34" charset="-120"/>
              </a:rPr>
              <a:t>Analytics &amp;</a:t>
            </a:r>
            <a:endParaRPr lang="en-US" sz="950" dirty="0"/>
          </a:p>
          <a:p>
            <a:pPr marL="0" indent="0" algn="ctr">
              <a:buNone/>
            </a:pPr>
            <a:r>
              <a:rPr lang="en-US" sz="950" b="1" dirty="0">
                <a:solidFill>
                  <a:srgbClr val="FFFFFF"/>
                </a:solidFill>
                <a:latin typeface="Lato" pitchFamily="34" charset="0"/>
                <a:ea typeface="Lato" pitchFamily="34" charset="-122"/>
                <a:cs typeface="Lato" pitchFamily="34" charset="-120"/>
              </a:rPr>
              <a:t>ML Team</a:t>
            </a:r>
            <a:endParaRPr lang="en-US" sz="950" dirty="0"/>
          </a:p>
        </p:txBody>
      </p:sp>
      <p:sp>
        <p:nvSpPr>
          <p:cNvPr id="18" name="Shape 3">
            <a:extLst>
              <a:ext uri="{FF2B5EF4-FFF2-40B4-BE49-F238E27FC236}">
                <a16:creationId xmlns:a16="http://schemas.microsoft.com/office/drawing/2014/main" id="{04853B9E-10C1-BFEC-CAB9-2F78B47E67F7}"/>
              </a:ext>
            </a:extLst>
          </p:cNvPr>
          <p:cNvSpPr/>
          <p:nvPr/>
        </p:nvSpPr>
        <p:spPr>
          <a:xfrm>
            <a:off x="292608" y="1051560"/>
            <a:ext cx="1572768" cy="27432"/>
          </a:xfrm>
          <a:prstGeom prst="rect">
            <a:avLst/>
          </a:prstGeom>
          <a:solidFill>
            <a:srgbClr val="F4A340"/>
          </a:solidFill>
          <a:ln w="12700">
            <a:solidFill>
              <a:srgbClr val="F4A340"/>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09243D"/>
          </a:solidFill>
          <a:ln w="12700">
            <a:solidFill>
              <a:srgbClr val="09243D">
                <a:alpha val="0"/>
              </a:srgbClr>
            </a:solidFill>
            <a:prstDash val="solid"/>
          </a:ln>
        </p:spPr>
      </p:sp>
      <p:sp>
        <p:nvSpPr>
          <p:cNvPr id="3" name="Text 1"/>
          <p:cNvSpPr/>
          <p:nvPr/>
        </p:nvSpPr>
        <p:spPr>
          <a:xfrm>
            <a:off x="320040" y="201168"/>
            <a:ext cx="6949440" cy="201168"/>
          </a:xfrm>
          <a:prstGeom prst="rect">
            <a:avLst/>
          </a:prstGeom>
          <a:noFill/>
          <a:ln/>
        </p:spPr>
        <p:txBody>
          <a:bodyPr wrap="square" lIns="0" tIns="0" rIns="0" bIns="0" rtlCol="0" anchor="ctr"/>
          <a:lstStyle/>
          <a:p>
            <a:pPr marL="0" indent="0">
              <a:buNone/>
            </a:pPr>
            <a:r>
              <a:rPr lang="en-US" sz="850" b="1" dirty="0">
                <a:solidFill>
                  <a:srgbClr val="20A7A6"/>
                </a:solidFill>
                <a:latin typeface="Lato" pitchFamily="34" charset="0"/>
                <a:ea typeface="Lato" pitchFamily="34" charset="-122"/>
                <a:cs typeface="Lato" pitchFamily="34" charset="-120"/>
              </a:rPr>
              <a:t>STAKEHOLDER PROBLEM FRAMING</a:t>
            </a:r>
            <a:endParaRPr lang="en-US" sz="850" dirty="0"/>
          </a:p>
        </p:txBody>
      </p:sp>
      <p:sp>
        <p:nvSpPr>
          <p:cNvPr id="4" name="Text 2"/>
          <p:cNvSpPr/>
          <p:nvPr/>
        </p:nvSpPr>
        <p:spPr>
          <a:xfrm>
            <a:off x="11338560" y="182880"/>
            <a:ext cx="502920" cy="182880"/>
          </a:xfrm>
          <a:prstGeom prst="rect">
            <a:avLst/>
          </a:prstGeom>
          <a:noFill/>
          <a:ln/>
        </p:spPr>
        <p:txBody>
          <a:bodyPr wrap="square" lIns="0" tIns="0" rIns="0" bIns="0" rtlCol="0" anchor="ctr"/>
          <a:lstStyle/>
          <a:p>
            <a:pPr marL="0" indent="0" algn="r">
              <a:buNone/>
            </a:pPr>
            <a:r>
              <a:rPr lang="en-US" sz="750" dirty="0">
                <a:solidFill>
                  <a:srgbClr val="6B7280"/>
                </a:solidFill>
                <a:latin typeface="Lato" pitchFamily="34" charset="0"/>
                <a:ea typeface="Lato" pitchFamily="34" charset="-122"/>
                <a:cs typeface="Lato" pitchFamily="34" charset="-120"/>
              </a:rPr>
              <a:t>5/23</a:t>
            </a:r>
            <a:endParaRPr lang="en-US" sz="750" dirty="0"/>
          </a:p>
        </p:txBody>
      </p:sp>
      <p:sp>
        <p:nvSpPr>
          <p:cNvPr id="5" name="Text 3"/>
          <p:cNvSpPr/>
          <p:nvPr/>
        </p:nvSpPr>
        <p:spPr>
          <a:xfrm>
            <a:off x="320040" y="566928"/>
            <a:ext cx="6400800" cy="512064"/>
          </a:xfrm>
          <a:prstGeom prst="rect">
            <a:avLst/>
          </a:prstGeom>
          <a:noFill/>
          <a:ln/>
        </p:spPr>
        <p:txBody>
          <a:bodyPr wrap="square" lIns="0" tIns="0" rIns="0" bIns="0" rtlCol="0" anchor="ctr">
            <a:normAutofit/>
          </a:bodyPr>
          <a:lstStyle/>
          <a:p>
            <a:pPr marL="0" indent="0">
              <a:buNone/>
            </a:pPr>
            <a:r>
              <a:rPr lang="en-US" sz="2700" b="1" dirty="0">
                <a:solidFill>
                  <a:srgbClr val="09243D"/>
                </a:solidFill>
                <a:latin typeface="Lato" pitchFamily="34" charset="0"/>
                <a:ea typeface="Lato" pitchFamily="34" charset="-122"/>
                <a:cs typeface="Lato" pitchFamily="34" charset="-120"/>
              </a:rPr>
              <a:t>Problem Formulation</a:t>
            </a:r>
            <a:endParaRPr lang="en-US" sz="2700" dirty="0"/>
          </a:p>
        </p:txBody>
      </p:sp>
      <p:sp>
        <p:nvSpPr>
          <p:cNvPr id="7" name="Shape 5"/>
          <p:cNvSpPr/>
          <p:nvPr/>
        </p:nvSpPr>
        <p:spPr>
          <a:xfrm>
            <a:off x="502920" y="1234440"/>
            <a:ext cx="4800600" cy="960120"/>
          </a:xfrm>
          <a:prstGeom prst="roundRect">
            <a:avLst>
              <a:gd name="adj" fmla="val 4762"/>
            </a:avLst>
          </a:prstGeom>
          <a:solidFill>
            <a:srgbClr val="F4F8FA"/>
          </a:solidFill>
          <a:ln w="7620">
            <a:solidFill>
              <a:srgbClr val="D7E4EA"/>
            </a:solidFill>
            <a:prstDash val="solid"/>
          </a:ln>
        </p:spPr>
      </p:sp>
      <p:sp>
        <p:nvSpPr>
          <p:cNvPr id="8" name="Shape 6"/>
          <p:cNvSpPr/>
          <p:nvPr/>
        </p:nvSpPr>
        <p:spPr>
          <a:xfrm>
            <a:off x="502920" y="1234440"/>
            <a:ext cx="73152" cy="960120"/>
          </a:xfrm>
          <a:prstGeom prst="rect">
            <a:avLst/>
          </a:prstGeom>
          <a:solidFill>
            <a:srgbClr val="20A7A6"/>
          </a:solidFill>
          <a:ln w="12700">
            <a:solidFill>
              <a:srgbClr val="20A7A6">
                <a:alpha val="0"/>
              </a:srgbClr>
            </a:solidFill>
            <a:prstDash val="solid"/>
          </a:ln>
        </p:spPr>
      </p:sp>
      <p:sp>
        <p:nvSpPr>
          <p:cNvPr id="9" name="Text 7"/>
          <p:cNvSpPr/>
          <p:nvPr/>
        </p:nvSpPr>
        <p:spPr>
          <a:xfrm>
            <a:off x="667512" y="1362456"/>
            <a:ext cx="456285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Stakeholder need</a:t>
            </a:r>
            <a:endParaRPr lang="en-US" sz="1250" dirty="0"/>
          </a:p>
        </p:txBody>
      </p:sp>
      <p:sp>
        <p:nvSpPr>
          <p:cNvPr id="10" name="Text 8"/>
          <p:cNvSpPr/>
          <p:nvPr/>
        </p:nvSpPr>
        <p:spPr>
          <a:xfrm>
            <a:off x="667512" y="1673352"/>
            <a:ext cx="4544568" cy="448056"/>
          </a:xfrm>
          <a:prstGeom prst="rect">
            <a:avLst/>
          </a:prstGeom>
          <a:noFill/>
          <a:ln/>
        </p:spPr>
        <p:txBody>
          <a:bodyPr wrap="square" lIns="0" tIns="0" rIns="0" bIns="0" rtlCol="0" anchor="ctr">
            <a:normAutofit/>
          </a:bodyPr>
          <a:lstStyle/>
          <a:p>
            <a:pPr marL="0" indent="0">
              <a:buNone/>
            </a:pPr>
            <a:r>
              <a:rPr lang="en-US" sz="1300" dirty="0">
                <a:solidFill>
                  <a:srgbClr val="152238"/>
                </a:solidFill>
                <a:latin typeface="Lato" pitchFamily="34" charset="0"/>
                <a:ea typeface="Lato" pitchFamily="34" charset="-122"/>
                <a:cs typeface="Lato" pitchFamily="34" charset="-120"/>
              </a:rPr>
              <a:t>Marketing teams need to prioritize clients before contact because only 11.27% converted.</a:t>
            </a:r>
            <a:endParaRPr lang="en-US" sz="1300" dirty="0"/>
          </a:p>
        </p:txBody>
      </p:sp>
      <p:sp>
        <p:nvSpPr>
          <p:cNvPr id="11" name="Shape 9"/>
          <p:cNvSpPr/>
          <p:nvPr/>
        </p:nvSpPr>
        <p:spPr>
          <a:xfrm>
            <a:off x="502920" y="2514600"/>
            <a:ext cx="4800600" cy="960120"/>
          </a:xfrm>
          <a:prstGeom prst="roundRect">
            <a:avLst>
              <a:gd name="adj" fmla="val 4762"/>
            </a:avLst>
          </a:prstGeom>
          <a:solidFill>
            <a:srgbClr val="F4F8FA"/>
          </a:solidFill>
          <a:ln w="7620">
            <a:solidFill>
              <a:srgbClr val="D7E4EA"/>
            </a:solidFill>
            <a:prstDash val="solid"/>
          </a:ln>
        </p:spPr>
      </p:sp>
      <p:sp>
        <p:nvSpPr>
          <p:cNvPr id="12" name="Shape 10"/>
          <p:cNvSpPr/>
          <p:nvPr/>
        </p:nvSpPr>
        <p:spPr>
          <a:xfrm>
            <a:off x="502920" y="2514600"/>
            <a:ext cx="73152" cy="960120"/>
          </a:xfrm>
          <a:prstGeom prst="rect">
            <a:avLst/>
          </a:prstGeom>
          <a:solidFill>
            <a:srgbClr val="09243D"/>
          </a:solidFill>
          <a:ln w="12700">
            <a:solidFill>
              <a:srgbClr val="09243D">
                <a:alpha val="0"/>
              </a:srgbClr>
            </a:solidFill>
            <a:prstDash val="solid"/>
          </a:ln>
        </p:spPr>
      </p:sp>
      <p:sp>
        <p:nvSpPr>
          <p:cNvPr id="13" name="Text 11"/>
          <p:cNvSpPr/>
          <p:nvPr/>
        </p:nvSpPr>
        <p:spPr>
          <a:xfrm>
            <a:off x="667512" y="2642616"/>
            <a:ext cx="456285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ML problem</a:t>
            </a:r>
            <a:endParaRPr lang="en-US" sz="1250" dirty="0"/>
          </a:p>
        </p:txBody>
      </p:sp>
      <p:sp>
        <p:nvSpPr>
          <p:cNvPr id="14" name="Text 12"/>
          <p:cNvSpPr/>
          <p:nvPr/>
        </p:nvSpPr>
        <p:spPr>
          <a:xfrm>
            <a:off x="667512" y="2953512"/>
            <a:ext cx="4544568" cy="448056"/>
          </a:xfrm>
          <a:prstGeom prst="rect">
            <a:avLst/>
          </a:prstGeom>
          <a:noFill/>
          <a:ln/>
        </p:spPr>
        <p:txBody>
          <a:bodyPr wrap="square" lIns="0" tIns="0" rIns="0" bIns="0" rtlCol="0" anchor="ctr">
            <a:normAutofit/>
          </a:bodyPr>
          <a:lstStyle/>
          <a:p>
            <a:pPr marL="0" indent="0">
              <a:buNone/>
            </a:pPr>
            <a:r>
              <a:rPr lang="en-US" sz="1300" dirty="0">
                <a:solidFill>
                  <a:srgbClr val="152238"/>
                </a:solidFill>
                <a:latin typeface="Lato" pitchFamily="34" charset="0"/>
                <a:ea typeface="Lato" pitchFamily="34" charset="-122"/>
                <a:cs typeface="Lato" pitchFamily="34" charset="-120"/>
              </a:rPr>
              <a:t>Predict each eligible client’s subscription score during campaign execution before contact attempt.</a:t>
            </a:r>
            <a:endParaRPr lang="en-US" sz="1300" dirty="0"/>
          </a:p>
        </p:txBody>
      </p:sp>
      <p:sp>
        <p:nvSpPr>
          <p:cNvPr id="15" name="Shape 13"/>
          <p:cNvSpPr/>
          <p:nvPr/>
        </p:nvSpPr>
        <p:spPr>
          <a:xfrm>
            <a:off x="502920" y="3794760"/>
            <a:ext cx="4800600" cy="868680"/>
          </a:xfrm>
          <a:prstGeom prst="roundRect">
            <a:avLst>
              <a:gd name="adj" fmla="val 5263"/>
            </a:avLst>
          </a:prstGeom>
          <a:solidFill>
            <a:srgbClr val="F4F8FA"/>
          </a:solidFill>
          <a:ln w="7620">
            <a:solidFill>
              <a:srgbClr val="D7E4EA"/>
            </a:solidFill>
            <a:prstDash val="solid"/>
          </a:ln>
        </p:spPr>
      </p:sp>
      <p:sp>
        <p:nvSpPr>
          <p:cNvPr id="16" name="Shape 14"/>
          <p:cNvSpPr/>
          <p:nvPr/>
        </p:nvSpPr>
        <p:spPr>
          <a:xfrm>
            <a:off x="502920" y="3794760"/>
            <a:ext cx="73152" cy="868680"/>
          </a:xfrm>
          <a:prstGeom prst="rect">
            <a:avLst/>
          </a:prstGeom>
          <a:solidFill>
            <a:srgbClr val="F5A33B"/>
          </a:solidFill>
          <a:ln w="12700">
            <a:solidFill>
              <a:srgbClr val="F5A33B">
                <a:alpha val="0"/>
              </a:srgbClr>
            </a:solidFill>
            <a:prstDash val="solid"/>
          </a:ln>
        </p:spPr>
      </p:sp>
      <p:sp>
        <p:nvSpPr>
          <p:cNvPr id="17" name="Text 15"/>
          <p:cNvSpPr/>
          <p:nvPr/>
        </p:nvSpPr>
        <p:spPr>
          <a:xfrm>
            <a:off x="667512" y="3922776"/>
            <a:ext cx="456285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Output</a:t>
            </a:r>
            <a:endParaRPr lang="en-US" sz="1250" dirty="0"/>
          </a:p>
        </p:txBody>
      </p:sp>
      <p:sp>
        <p:nvSpPr>
          <p:cNvPr id="18" name="Text 16"/>
          <p:cNvSpPr/>
          <p:nvPr/>
        </p:nvSpPr>
        <p:spPr>
          <a:xfrm>
            <a:off x="667512" y="4233672"/>
            <a:ext cx="4544568" cy="356616"/>
          </a:xfrm>
          <a:prstGeom prst="rect">
            <a:avLst/>
          </a:prstGeom>
          <a:noFill/>
          <a:ln/>
        </p:spPr>
        <p:txBody>
          <a:bodyPr wrap="square" lIns="0" tIns="0" rIns="0" bIns="0" rtlCol="0" anchor="ctr">
            <a:normAutofit/>
          </a:bodyPr>
          <a:lstStyle/>
          <a:p>
            <a:pPr marL="0" indent="0">
              <a:buNone/>
            </a:pPr>
            <a:r>
              <a:rPr lang="en-US" sz="1300" dirty="0">
                <a:solidFill>
                  <a:srgbClr val="152238"/>
                </a:solidFill>
                <a:latin typeface="Lato" pitchFamily="34" charset="0"/>
                <a:ea typeface="Lato" pitchFamily="34" charset="-122"/>
                <a:cs typeface="Lato" pitchFamily="34" charset="-120"/>
              </a:rPr>
              <a:t>Prediction score for client ranking and campaign prioritization.</a:t>
            </a:r>
            <a:endParaRPr lang="en-US" sz="1300" dirty="0"/>
          </a:p>
        </p:txBody>
      </p:sp>
      <p:sp>
        <p:nvSpPr>
          <p:cNvPr id="19" name="Shape 17"/>
          <p:cNvSpPr/>
          <p:nvPr/>
        </p:nvSpPr>
        <p:spPr>
          <a:xfrm>
            <a:off x="5989320" y="2816352"/>
            <a:ext cx="914400" cy="502920"/>
          </a:xfrm>
          <a:prstGeom prst="roundRect">
            <a:avLst>
              <a:gd name="adj" fmla="val 9091"/>
            </a:avLst>
          </a:prstGeom>
          <a:solidFill>
            <a:srgbClr val="20A7A6"/>
          </a:solidFill>
          <a:ln w="12700">
            <a:solidFill>
              <a:srgbClr val="20A7A6">
                <a:alpha val="0"/>
              </a:srgbClr>
            </a:solidFill>
            <a:prstDash val="solid"/>
          </a:ln>
        </p:spPr>
      </p:sp>
      <p:sp>
        <p:nvSpPr>
          <p:cNvPr id="20" name="Text 18"/>
          <p:cNvSpPr/>
          <p:nvPr/>
        </p:nvSpPr>
        <p:spPr>
          <a:xfrm>
            <a:off x="6025896" y="2889504"/>
            <a:ext cx="841248" cy="356616"/>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Stakeholder</a:t>
            </a:r>
            <a:endParaRPr lang="en-US" sz="1100" dirty="0"/>
          </a:p>
          <a:p>
            <a:pPr marL="0" indent="0" algn="ctr">
              <a:buNone/>
            </a:pPr>
            <a:r>
              <a:rPr lang="en-US" sz="1100" b="1" dirty="0">
                <a:solidFill>
                  <a:srgbClr val="FFFFFF"/>
                </a:solidFill>
                <a:latin typeface="Lato" pitchFamily="34" charset="0"/>
                <a:ea typeface="Lato" pitchFamily="34" charset="-122"/>
                <a:cs typeface="Lato" pitchFamily="34" charset="-120"/>
              </a:rPr>
              <a:t>need</a:t>
            </a:r>
            <a:endParaRPr lang="en-US" sz="1100" dirty="0"/>
          </a:p>
        </p:txBody>
      </p:sp>
      <p:sp>
        <p:nvSpPr>
          <p:cNvPr id="21" name="Shape 19"/>
          <p:cNvSpPr/>
          <p:nvPr/>
        </p:nvSpPr>
        <p:spPr>
          <a:xfrm>
            <a:off x="6903720" y="3063240"/>
            <a:ext cx="201168" cy="0"/>
          </a:xfrm>
          <a:prstGeom prst="line">
            <a:avLst/>
          </a:prstGeom>
          <a:noFill/>
          <a:ln w="15240">
            <a:solidFill>
              <a:srgbClr val="8096A3"/>
            </a:solidFill>
            <a:prstDash val="solid"/>
            <a:headEnd type="none"/>
            <a:tailEnd type="triangle"/>
          </a:ln>
        </p:spPr>
      </p:sp>
      <p:sp>
        <p:nvSpPr>
          <p:cNvPr id="22" name="Shape 20"/>
          <p:cNvSpPr/>
          <p:nvPr/>
        </p:nvSpPr>
        <p:spPr>
          <a:xfrm>
            <a:off x="7104888" y="2816352"/>
            <a:ext cx="914400" cy="502920"/>
          </a:xfrm>
          <a:prstGeom prst="roundRect">
            <a:avLst>
              <a:gd name="adj" fmla="val 9091"/>
            </a:avLst>
          </a:prstGeom>
          <a:solidFill>
            <a:srgbClr val="09243D"/>
          </a:solidFill>
          <a:ln w="12700">
            <a:solidFill>
              <a:srgbClr val="09243D">
                <a:alpha val="0"/>
              </a:srgbClr>
            </a:solidFill>
            <a:prstDash val="solid"/>
          </a:ln>
        </p:spPr>
      </p:sp>
      <p:sp>
        <p:nvSpPr>
          <p:cNvPr id="23" name="Text 21"/>
          <p:cNvSpPr/>
          <p:nvPr/>
        </p:nvSpPr>
        <p:spPr>
          <a:xfrm>
            <a:off x="7141464" y="2889504"/>
            <a:ext cx="841248" cy="356616"/>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Business</a:t>
            </a:r>
            <a:endParaRPr lang="en-US" sz="1100" dirty="0"/>
          </a:p>
          <a:p>
            <a:pPr marL="0" indent="0" algn="ctr">
              <a:buNone/>
            </a:pPr>
            <a:r>
              <a:rPr lang="en-US" sz="1100" b="1" dirty="0">
                <a:solidFill>
                  <a:srgbClr val="FFFFFF"/>
                </a:solidFill>
                <a:latin typeface="Lato" pitchFamily="34" charset="0"/>
                <a:ea typeface="Lato" pitchFamily="34" charset="-122"/>
                <a:cs typeface="Lato" pitchFamily="34" charset="-120"/>
              </a:rPr>
              <a:t>pain</a:t>
            </a:r>
            <a:endParaRPr lang="en-US" sz="1100" dirty="0"/>
          </a:p>
        </p:txBody>
      </p:sp>
      <p:sp>
        <p:nvSpPr>
          <p:cNvPr id="24" name="Shape 22"/>
          <p:cNvSpPr/>
          <p:nvPr/>
        </p:nvSpPr>
        <p:spPr>
          <a:xfrm>
            <a:off x="8019288" y="3063240"/>
            <a:ext cx="201168" cy="0"/>
          </a:xfrm>
          <a:prstGeom prst="line">
            <a:avLst/>
          </a:prstGeom>
          <a:noFill/>
          <a:ln w="15240">
            <a:solidFill>
              <a:srgbClr val="8096A3"/>
            </a:solidFill>
            <a:prstDash val="solid"/>
            <a:headEnd type="none"/>
            <a:tailEnd type="triangle"/>
          </a:ln>
        </p:spPr>
      </p:sp>
      <p:sp>
        <p:nvSpPr>
          <p:cNvPr id="25" name="Shape 23"/>
          <p:cNvSpPr/>
          <p:nvPr/>
        </p:nvSpPr>
        <p:spPr>
          <a:xfrm>
            <a:off x="8220456" y="2816352"/>
            <a:ext cx="914400" cy="502920"/>
          </a:xfrm>
          <a:prstGeom prst="roundRect">
            <a:avLst>
              <a:gd name="adj" fmla="val 9091"/>
            </a:avLst>
          </a:prstGeom>
          <a:solidFill>
            <a:srgbClr val="09243D"/>
          </a:solidFill>
          <a:ln w="12700">
            <a:solidFill>
              <a:srgbClr val="09243D">
                <a:alpha val="0"/>
              </a:srgbClr>
            </a:solidFill>
            <a:prstDash val="solid"/>
          </a:ln>
        </p:spPr>
      </p:sp>
      <p:sp>
        <p:nvSpPr>
          <p:cNvPr id="26" name="Text 24"/>
          <p:cNvSpPr/>
          <p:nvPr/>
        </p:nvSpPr>
        <p:spPr>
          <a:xfrm>
            <a:off x="8257032" y="2889504"/>
            <a:ext cx="841248" cy="356616"/>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Prioritization</a:t>
            </a:r>
            <a:endParaRPr lang="en-US" sz="1100" dirty="0"/>
          </a:p>
          <a:p>
            <a:pPr marL="0" indent="0" algn="ctr">
              <a:buNone/>
            </a:pPr>
            <a:r>
              <a:rPr lang="en-US" sz="1100" b="1" dirty="0">
                <a:solidFill>
                  <a:srgbClr val="FFFFFF"/>
                </a:solidFill>
                <a:latin typeface="Lato" pitchFamily="34" charset="0"/>
                <a:ea typeface="Lato" pitchFamily="34" charset="-122"/>
                <a:cs typeface="Lato" pitchFamily="34" charset="-120"/>
              </a:rPr>
              <a:t>gap</a:t>
            </a:r>
            <a:endParaRPr lang="en-US" sz="1100" dirty="0"/>
          </a:p>
        </p:txBody>
      </p:sp>
      <p:sp>
        <p:nvSpPr>
          <p:cNvPr id="27" name="Shape 25"/>
          <p:cNvSpPr/>
          <p:nvPr/>
        </p:nvSpPr>
        <p:spPr>
          <a:xfrm>
            <a:off x="9134856" y="3063240"/>
            <a:ext cx="201168" cy="0"/>
          </a:xfrm>
          <a:prstGeom prst="line">
            <a:avLst/>
          </a:prstGeom>
          <a:noFill/>
          <a:ln w="15240">
            <a:solidFill>
              <a:srgbClr val="8096A3"/>
            </a:solidFill>
            <a:prstDash val="solid"/>
            <a:headEnd type="none"/>
            <a:tailEnd type="triangle"/>
          </a:ln>
        </p:spPr>
      </p:sp>
      <p:sp>
        <p:nvSpPr>
          <p:cNvPr id="28" name="Shape 26"/>
          <p:cNvSpPr/>
          <p:nvPr/>
        </p:nvSpPr>
        <p:spPr>
          <a:xfrm>
            <a:off x="9336024" y="2816352"/>
            <a:ext cx="914400" cy="502920"/>
          </a:xfrm>
          <a:prstGeom prst="roundRect">
            <a:avLst>
              <a:gd name="adj" fmla="val 9091"/>
            </a:avLst>
          </a:prstGeom>
          <a:solidFill>
            <a:srgbClr val="F5A33B"/>
          </a:solidFill>
          <a:ln w="12700">
            <a:solidFill>
              <a:srgbClr val="F5A33B">
                <a:alpha val="0"/>
              </a:srgbClr>
            </a:solidFill>
            <a:prstDash val="solid"/>
          </a:ln>
        </p:spPr>
      </p:sp>
      <p:sp>
        <p:nvSpPr>
          <p:cNvPr id="29" name="Text 27"/>
          <p:cNvSpPr/>
          <p:nvPr/>
        </p:nvSpPr>
        <p:spPr>
          <a:xfrm>
            <a:off x="9372600" y="2889504"/>
            <a:ext cx="841248" cy="356616"/>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Data + ML</a:t>
            </a:r>
            <a:endParaRPr lang="en-US" sz="1100" dirty="0"/>
          </a:p>
        </p:txBody>
      </p:sp>
      <p:sp>
        <p:nvSpPr>
          <p:cNvPr id="30" name="Shape 28"/>
          <p:cNvSpPr/>
          <p:nvPr/>
        </p:nvSpPr>
        <p:spPr>
          <a:xfrm>
            <a:off x="10250424" y="3063240"/>
            <a:ext cx="201168" cy="0"/>
          </a:xfrm>
          <a:prstGeom prst="line">
            <a:avLst/>
          </a:prstGeom>
          <a:noFill/>
          <a:ln w="15240">
            <a:solidFill>
              <a:srgbClr val="8096A3"/>
            </a:solidFill>
            <a:prstDash val="solid"/>
            <a:headEnd type="none"/>
            <a:tailEnd type="triangle"/>
          </a:ln>
        </p:spPr>
      </p:sp>
      <p:sp>
        <p:nvSpPr>
          <p:cNvPr id="31" name="Shape 29"/>
          <p:cNvSpPr/>
          <p:nvPr/>
        </p:nvSpPr>
        <p:spPr>
          <a:xfrm>
            <a:off x="10451592" y="2816352"/>
            <a:ext cx="914400" cy="502920"/>
          </a:xfrm>
          <a:prstGeom prst="roundRect">
            <a:avLst>
              <a:gd name="adj" fmla="val 9091"/>
            </a:avLst>
          </a:prstGeom>
          <a:solidFill>
            <a:srgbClr val="09243D"/>
          </a:solidFill>
          <a:ln w="12700">
            <a:solidFill>
              <a:srgbClr val="09243D">
                <a:alpha val="0"/>
              </a:srgbClr>
            </a:solidFill>
            <a:prstDash val="solid"/>
          </a:ln>
        </p:spPr>
      </p:sp>
      <p:sp>
        <p:nvSpPr>
          <p:cNvPr id="32" name="Text 30"/>
          <p:cNvSpPr/>
          <p:nvPr/>
        </p:nvSpPr>
        <p:spPr>
          <a:xfrm>
            <a:off x="10488168" y="2889504"/>
            <a:ext cx="841248" cy="356616"/>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Operating</a:t>
            </a:r>
            <a:endParaRPr lang="en-US" sz="1100" dirty="0"/>
          </a:p>
          <a:p>
            <a:pPr marL="0" indent="0" algn="ctr">
              <a:buNone/>
            </a:pPr>
            <a:r>
              <a:rPr lang="en-US" sz="1100" b="1" dirty="0">
                <a:solidFill>
                  <a:srgbClr val="FFFFFF"/>
                </a:solidFill>
                <a:latin typeface="Lato" pitchFamily="34" charset="0"/>
                <a:ea typeface="Lato" pitchFamily="34" charset="-122"/>
                <a:cs typeface="Lato" pitchFamily="34" charset="-120"/>
              </a:rPr>
              <a:t>threshold</a:t>
            </a:r>
            <a:endParaRPr lang="en-US" sz="1100" dirty="0"/>
          </a:p>
        </p:txBody>
      </p:sp>
      <p:sp>
        <p:nvSpPr>
          <p:cNvPr id="33" name="Shape 31"/>
          <p:cNvSpPr/>
          <p:nvPr/>
        </p:nvSpPr>
        <p:spPr>
          <a:xfrm>
            <a:off x="5989320" y="3977640"/>
            <a:ext cx="5074920" cy="868680"/>
          </a:xfrm>
          <a:prstGeom prst="roundRect">
            <a:avLst>
              <a:gd name="adj" fmla="val 5263"/>
            </a:avLst>
          </a:prstGeom>
          <a:solidFill>
            <a:srgbClr val="F4F8FA"/>
          </a:solidFill>
          <a:ln w="7620">
            <a:solidFill>
              <a:srgbClr val="D7E4EA"/>
            </a:solidFill>
            <a:prstDash val="solid"/>
          </a:ln>
        </p:spPr>
      </p:sp>
      <p:sp>
        <p:nvSpPr>
          <p:cNvPr id="34" name="Shape 32"/>
          <p:cNvSpPr/>
          <p:nvPr/>
        </p:nvSpPr>
        <p:spPr>
          <a:xfrm>
            <a:off x="5989320" y="3977640"/>
            <a:ext cx="73152" cy="868680"/>
          </a:xfrm>
          <a:prstGeom prst="rect">
            <a:avLst/>
          </a:prstGeom>
          <a:solidFill>
            <a:srgbClr val="20A7A6"/>
          </a:solidFill>
          <a:ln w="12700">
            <a:solidFill>
              <a:srgbClr val="20A7A6">
                <a:alpha val="0"/>
              </a:srgbClr>
            </a:solidFill>
            <a:prstDash val="solid"/>
          </a:ln>
        </p:spPr>
      </p:sp>
      <p:sp>
        <p:nvSpPr>
          <p:cNvPr id="35" name="Text 33"/>
          <p:cNvSpPr/>
          <p:nvPr/>
        </p:nvSpPr>
        <p:spPr>
          <a:xfrm>
            <a:off x="6153912" y="4105656"/>
            <a:ext cx="483717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Why machine learning is used</a:t>
            </a:r>
            <a:endParaRPr lang="en-US" sz="1250" dirty="0"/>
          </a:p>
        </p:txBody>
      </p:sp>
      <p:sp>
        <p:nvSpPr>
          <p:cNvPr id="36" name="Text 34"/>
          <p:cNvSpPr/>
          <p:nvPr/>
        </p:nvSpPr>
        <p:spPr>
          <a:xfrm>
            <a:off x="6153912" y="4416552"/>
            <a:ext cx="4818888" cy="356616"/>
          </a:xfrm>
          <a:prstGeom prst="rect">
            <a:avLst/>
          </a:prstGeom>
          <a:noFill/>
          <a:ln/>
        </p:spPr>
        <p:txBody>
          <a:bodyPr wrap="square" lIns="0" tIns="0" rIns="0" bIns="0" rtlCol="0" anchor="ctr">
            <a:normAutofit fontScale="92500"/>
          </a:bodyPr>
          <a:lstStyle/>
          <a:p>
            <a:pPr marL="0" indent="0">
              <a:buNone/>
            </a:pPr>
            <a:r>
              <a:rPr lang="en-US" sz="1220" dirty="0">
                <a:solidFill>
                  <a:srgbClr val="152238"/>
                </a:solidFill>
                <a:latin typeface="Lato" pitchFamily="34" charset="0"/>
                <a:ea typeface="Lato" pitchFamily="34" charset="-122"/>
                <a:cs typeface="Lato" pitchFamily="34" charset="-120"/>
              </a:rPr>
              <a:t>Many features interact: profile, campaign context, previous response, and economic context. The model converts these patterns into a ranking score.</a:t>
            </a:r>
            <a:endParaRPr lang="en-US" sz="1220" dirty="0"/>
          </a:p>
        </p:txBody>
      </p:sp>
      <p:sp>
        <p:nvSpPr>
          <p:cNvPr id="37" name="Shape 3">
            <a:extLst>
              <a:ext uri="{FF2B5EF4-FFF2-40B4-BE49-F238E27FC236}">
                <a16:creationId xmlns:a16="http://schemas.microsoft.com/office/drawing/2014/main" id="{30F4EAB0-C9DC-FA24-66B2-CC5435819ED4}"/>
              </a:ext>
            </a:extLst>
          </p:cNvPr>
          <p:cNvSpPr/>
          <p:nvPr/>
        </p:nvSpPr>
        <p:spPr>
          <a:xfrm>
            <a:off x="292608" y="1051560"/>
            <a:ext cx="1572768" cy="27432"/>
          </a:xfrm>
          <a:prstGeom prst="rect">
            <a:avLst/>
          </a:prstGeom>
          <a:solidFill>
            <a:srgbClr val="F4A340"/>
          </a:solidFill>
          <a:ln w="12700">
            <a:solidFill>
              <a:srgbClr val="F4A340"/>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09243D"/>
          </a:solidFill>
          <a:ln w="12700">
            <a:solidFill>
              <a:srgbClr val="09243D">
                <a:alpha val="0"/>
              </a:srgbClr>
            </a:solidFill>
            <a:prstDash val="solid"/>
          </a:ln>
        </p:spPr>
      </p:sp>
      <p:sp>
        <p:nvSpPr>
          <p:cNvPr id="3" name="Text 1"/>
          <p:cNvSpPr/>
          <p:nvPr/>
        </p:nvSpPr>
        <p:spPr>
          <a:xfrm>
            <a:off x="320040" y="201168"/>
            <a:ext cx="6949440" cy="201168"/>
          </a:xfrm>
          <a:prstGeom prst="rect">
            <a:avLst/>
          </a:prstGeom>
          <a:noFill/>
          <a:ln/>
        </p:spPr>
        <p:txBody>
          <a:bodyPr wrap="square" lIns="0" tIns="0" rIns="0" bIns="0" rtlCol="0" anchor="ctr"/>
          <a:lstStyle/>
          <a:p>
            <a:pPr marL="0" indent="0">
              <a:buNone/>
            </a:pPr>
            <a:r>
              <a:rPr lang="en-US" sz="850" b="1" dirty="0">
                <a:solidFill>
                  <a:srgbClr val="20A7A6"/>
                </a:solidFill>
                <a:latin typeface="Lato" pitchFamily="34" charset="0"/>
                <a:ea typeface="Lato" pitchFamily="34" charset="-122"/>
                <a:cs typeface="Lato" pitchFamily="34" charset="-120"/>
              </a:rPr>
              <a:t>DATASET &amp; COLUMN MEANING</a:t>
            </a:r>
            <a:endParaRPr lang="en-US" sz="850" dirty="0"/>
          </a:p>
        </p:txBody>
      </p:sp>
      <p:sp>
        <p:nvSpPr>
          <p:cNvPr id="4" name="Text 2"/>
          <p:cNvSpPr/>
          <p:nvPr/>
        </p:nvSpPr>
        <p:spPr>
          <a:xfrm>
            <a:off x="11338560" y="182880"/>
            <a:ext cx="502920" cy="182880"/>
          </a:xfrm>
          <a:prstGeom prst="rect">
            <a:avLst/>
          </a:prstGeom>
          <a:noFill/>
          <a:ln/>
        </p:spPr>
        <p:txBody>
          <a:bodyPr wrap="square" lIns="0" tIns="0" rIns="0" bIns="0" rtlCol="0" anchor="ctr"/>
          <a:lstStyle/>
          <a:p>
            <a:pPr marL="0" indent="0" algn="r">
              <a:buNone/>
            </a:pPr>
            <a:r>
              <a:rPr lang="en-US" sz="750" dirty="0">
                <a:solidFill>
                  <a:srgbClr val="6B7280"/>
                </a:solidFill>
                <a:latin typeface="Lato" pitchFamily="34" charset="0"/>
                <a:ea typeface="Lato" pitchFamily="34" charset="-122"/>
                <a:cs typeface="Lato" pitchFamily="34" charset="-120"/>
              </a:rPr>
              <a:t>6/23</a:t>
            </a:r>
            <a:endParaRPr lang="en-US" sz="750" dirty="0"/>
          </a:p>
        </p:txBody>
      </p:sp>
      <p:sp>
        <p:nvSpPr>
          <p:cNvPr id="5" name="Text 3"/>
          <p:cNvSpPr/>
          <p:nvPr/>
        </p:nvSpPr>
        <p:spPr>
          <a:xfrm>
            <a:off x="320040" y="566928"/>
            <a:ext cx="5486400" cy="512064"/>
          </a:xfrm>
          <a:prstGeom prst="rect">
            <a:avLst/>
          </a:prstGeom>
          <a:noFill/>
          <a:ln/>
        </p:spPr>
        <p:txBody>
          <a:bodyPr wrap="square" lIns="0" tIns="0" rIns="0" bIns="0" rtlCol="0" anchor="ctr">
            <a:normAutofit/>
          </a:bodyPr>
          <a:lstStyle/>
          <a:p>
            <a:pPr marL="0" indent="0">
              <a:buNone/>
            </a:pPr>
            <a:r>
              <a:rPr lang="en-US" sz="2700" b="1" dirty="0">
                <a:solidFill>
                  <a:srgbClr val="09243D"/>
                </a:solidFill>
                <a:latin typeface="Lato" pitchFamily="34" charset="0"/>
                <a:ea typeface="Lato" pitchFamily="34" charset="-122"/>
                <a:cs typeface="Lato" pitchFamily="34" charset="-120"/>
              </a:rPr>
              <a:t>Data Understanding</a:t>
            </a:r>
            <a:endParaRPr lang="en-US" sz="2700" dirty="0"/>
          </a:p>
        </p:txBody>
      </p:sp>
      <p:sp>
        <p:nvSpPr>
          <p:cNvPr id="7" name="Text 5"/>
          <p:cNvSpPr/>
          <p:nvPr/>
        </p:nvSpPr>
        <p:spPr>
          <a:xfrm>
            <a:off x="502920" y="1234440"/>
            <a:ext cx="5212080" cy="3154680"/>
          </a:xfrm>
          <a:prstGeom prst="rect">
            <a:avLst/>
          </a:prstGeom>
          <a:noFill/>
          <a:ln/>
        </p:spPr>
        <p:txBody>
          <a:bodyPr wrap="square" lIns="762" tIns="762" rIns="762" bIns="762" rtlCol="0" anchor="ctr">
            <a:normAutofit/>
          </a:bodyPr>
          <a:lstStyle/>
          <a:p>
            <a:r>
              <a:rPr lang="en-US" sz="1380" dirty="0">
                <a:solidFill>
                  <a:srgbClr val="152238"/>
                </a:solidFill>
                <a:latin typeface="Lato" pitchFamily="34" charset="0"/>
                <a:ea typeface="Lato" pitchFamily="34" charset="-122"/>
                <a:cs typeface="Lato" pitchFamily="34" charset="-120"/>
              </a:rPr>
              <a:t>Source: Bank Marketing Campaign Dataset from historical direct-marketing calls.</a:t>
            </a:r>
            <a:endParaRPr lang="en-US" sz="1380" dirty="0"/>
          </a:p>
          <a:p>
            <a:r>
              <a:rPr lang="en-US" sz="1380" dirty="0">
                <a:solidFill>
                  <a:srgbClr val="152238"/>
                </a:solidFill>
                <a:latin typeface="Lato" pitchFamily="34" charset="0"/>
                <a:ea typeface="Lato" pitchFamily="34" charset="-122"/>
                <a:cs typeface="Lato" pitchFamily="34" charset="-120"/>
              </a:rPr>
              <a:t>Unit of analysis: one client observation in campaign context.</a:t>
            </a:r>
            <a:endParaRPr lang="en-US" sz="1380" dirty="0"/>
          </a:p>
          <a:p>
            <a:r>
              <a:rPr lang="en-US" sz="1380" dirty="0">
                <a:solidFill>
                  <a:srgbClr val="152238"/>
                </a:solidFill>
                <a:latin typeface="Lato" pitchFamily="34" charset="0"/>
                <a:ea typeface="Lato" pitchFamily="34" charset="-122"/>
                <a:cs typeface="Lato" pitchFamily="34" charset="-120"/>
              </a:rPr>
              <a:t>41,188 observations, 21 columns: 20 candidate features + 1 target.</a:t>
            </a:r>
            <a:endParaRPr lang="en-US" sz="1380" dirty="0"/>
          </a:p>
          <a:p>
            <a:r>
              <a:rPr lang="en-US" sz="1380" dirty="0">
                <a:solidFill>
                  <a:srgbClr val="152238"/>
                </a:solidFill>
                <a:latin typeface="Lato" pitchFamily="34" charset="0"/>
                <a:ea typeface="Lato" pitchFamily="34" charset="-122"/>
                <a:cs typeface="Lato" pitchFamily="34" charset="-120"/>
              </a:rPr>
              <a:t>Target y: yes = subscription, no = no subscription.</a:t>
            </a:r>
            <a:endParaRPr lang="en-US" sz="1380" dirty="0"/>
          </a:p>
          <a:p>
            <a:r>
              <a:rPr lang="en-US" sz="1380" dirty="0">
                <a:solidFill>
                  <a:srgbClr val="152238"/>
                </a:solidFill>
                <a:latin typeface="Lato" pitchFamily="34" charset="0"/>
                <a:ea typeface="Lato" pitchFamily="34" charset="-122"/>
                <a:cs typeface="Lato" pitchFamily="34" charset="-120"/>
              </a:rPr>
              <a:t>No external data joined for modeling; external contact-cost benchmark only supports business scenario impact.</a:t>
            </a:r>
            <a:endParaRPr lang="en-US" sz="1380" dirty="0"/>
          </a:p>
        </p:txBody>
      </p:sp>
      <p:sp>
        <p:nvSpPr>
          <p:cNvPr id="8" name="Shape 6"/>
          <p:cNvSpPr/>
          <p:nvPr/>
        </p:nvSpPr>
        <p:spPr>
          <a:xfrm>
            <a:off x="6126480" y="1143000"/>
            <a:ext cx="2240280" cy="694944"/>
          </a:xfrm>
          <a:prstGeom prst="roundRect">
            <a:avLst>
              <a:gd name="adj" fmla="val 6579"/>
            </a:avLst>
          </a:prstGeom>
          <a:solidFill>
            <a:srgbClr val="F4F8FA"/>
          </a:solidFill>
          <a:ln w="7620">
            <a:solidFill>
              <a:srgbClr val="D7E4EA"/>
            </a:solidFill>
            <a:prstDash val="solid"/>
          </a:ln>
        </p:spPr>
      </p:sp>
      <p:sp>
        <p:nvSpPr>
          <p:cNvPr id="9" name="Shape 7"/>
          <p:cNvSpPr/>
          <p:nvPr/>
        </p:nvSpPr>
        <p:spPr>
          <a:xfrm>
            <a:off x="6126480" y="1143000"/>
            <a:ext cx="73152" cy="694944"/>
          </a:xfrm>
          <a:prstGeom prst="rect">
            <a:avLst/>
          </a:prstGeom>
          <a:solidFill>
            <a:srgbClr val="20A7A6"/>
          </a:solidFill>
          <a:ln w="12700">
            <a:solidFill>
              <a:srgbClr val="20A7A6">
                <a:alpha val="0"/>
              </a:srgbClr>
            </a:solidFill>
            <a:prstDash val="solid"/>
          </a:ln>
        </p:spPr>
      </p:sp>
      <p:sp>
        <p:nvSpPr>
          <p:cNvPr id="10" name="Text 8"/>
          <p:cNvSpPr/>
          <p:nvPr/>
        </p:nvSpPr>
        <p:spPr>
          <a:xfrm>
            <a:off x="6291072" y="1271016"/>
            <a:ext cx="200253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Client profile</a:t>
            </a:r>
            <a:endParaRPr lang="en-US" sz="1250" dirty="0"/>
          </a:p>
        </p:txBody>
      </p:sp>
      <p:sp>
        <p:nvSpPr>
          <p:cNvPr id="11" name="Text 9"/>
          <p:cNvSpPr/>
          <p:nvPr/>
        </p:nvSpPr>
        <p:spPr>
          <a:xfrm>
            <a:off x="6291072" y="1581912"/>
            <a:ext cx="1984248" cy="182880"/>
          </a:xfrm>
          <a:prstGeom prst="rect">
            <a:avLst/>
          </a:prstGeom>
          <a:noFill/>
          <a:ln/>
        </p:spPr>
        <p:txBody>
          <a:bodyPr wrap="square" lIns="0" tIns="0" rIns="0" bIns="0" rtlCol="0" anchor="ctr">
            <a:normAutofit/>
          </a:bodyPr>
          <a:lstStyle/>
          <a:p>
            <a:pPr marL="0" indent="0">
              <a:buNone/>
            </a:pPr>
            <a:r>
              <a:rPr lang="en-US" sz="1050" dirty="0">
                <a:solidFill>
                  <a:srgbClr val="152238"/>
                </a:solidFill>
                <a:latin typeface="Lato" pitchFamily="34" charset="0"/>
                <a:ea typeface="Lato" pitchFamily="34" charset="-122"/>
                <a:cs typeface="Lato" pitchFamily="34" charset="-120"/>
              </a:rPr>
              <a:t>age, job, marital, education</a:t>
            </a:r>
            <a:endParaRPr lang="en-US" sz="1050" dirty="0"/>
          </a:p>
        </p:txBody>
      </p:sp>
      <p:sp>
        <p:nvSpPr>
          <p:cNvPr id="12" name="Shape 10"/>
          <p:cNvSpPr/>
          <p:nvPr/>
        </p:nvSpPr>
        <p:spPr>
          <a:xfrm>
            <a:off x="8595360" y="1143000"/>
            <a:ext cx="2423160" cy="694944"/>
          </a:xfrm>
          <a:prstGeom prst="roundRect">
            <a:avLst>
              <a:gd name="adj" fmla="val 6579"/>
            </a:avLst>
          </a:prstGeom>
          <a:solidFill>
            <a:srgbClr val="F4F8FA"/>
          </a:solidFill>
          <a:ln w="7620">
            <a:solidFill>
              <a:srgbClr val="D7E4EA"/>
            </a:solidFill>
            <a:prstDash val="solid"/>
          </a:ln>
        </p:spPr>
      </p:sp>
      <p:sp>
        <p:nvSpPr>
          <p:cNvPr id="13" name="Shape 11"/>
          <p:cNvSpPr/>
          <p:nvPr/>
        </p:nvSpPr>
        <p:spPr>
          <a:xfrm>
            <a:off x="8595360" y="1143000"/>
            <a:ext cx="73152" cy="694944"/>
          </a:xfrm>
          <a:prstGeom prst="rect">
            <a:avLst/>
          </a:prstGeom>
          <a:solidFill>
            <a:srgbClr val="09243D"/>
          </a:solidFill>
          <a:ln w="12700">
            <a:solidFill>
              <a:srgbClr val="09243D">
                <a:alpha val="0"/>
              </a:srgbClr>
            </a:solidFill>
            <a:prstDash val="solid"/>
          </a:ln>
        </p:spPr>
      </p:sp>
      <p:sp>
        <p:nvSpPr>
          <p:cNvPr id="14" name="Text 12"/>
          <p:cNvSpPr/>
          <p:nvPr/>
        </p:nvSpPr>
        <p:spPr>
          <a:xfrm>
            <a:off x="8759952" y="1271016"/>
            <a:ext cx="218541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Financial profile</a:t>
            </a:r>
            <a:endParaRPr lang="en-US" sz="1250" dirty="0"/>
          </a:p>
        </p:txBody>
      </p:sp>
      <p:sp>
        <p:nvSpPr>
          <p:cNvPr id="15" name="Text 13"/>
          <p:cNvSpPr/>
          <p:nvPr/>
        </p:nvSpPr>
        <p:spPr>
          <a:xfrm>
            <a:off x="8759952" y="1581912"/>
            <a:ext cx="2167128" cy="182880"/>
          </a:xfrm>
          <a:prstGeom prst="rect">
            <a:avLst/>
          </a:prstGeom>
          <a:noFill/>
          <a:ln/>
        </p:spPr>
        <p:txBody>
          <a:bodyPr wrap="square" lIns="0" tIns="0" rIns="0" bIns="0" rtlCol="0" anchor="ctr">
            <a:normAutofit/>
          </a:bodyPr>
          <a:lstStyle/>
          <a:p>
            <a:pPr marL="0" indent="0">
              <a:buNone/>
            </a:pPr>
            <a:r>
              <a:rPr lang="en-US" sz="1050" dirty="0">
                <a:solidFill>
                  <a:srgbClr val="152238"/>
                </a:solidFill>
                <a:latin typeface="Lato" pitchFamily="34" charset="0"/>
                <a:ea typeface="Lato" pitchFamily="34" charset="-122"/>
                <a:cs typeface="Lato" pitchFamily="34" charset="-120"/>
              </a:rPr>
              <a:t>default, housing, loan</a:t>
            </a:r>
            <a:endParaRPr lang="en-US" sz="1050" dirty="0"/>
          </a:p>
        </p:txBody>
      </p:sp>
      <p:sp>
        <p:nvSpPr>
          <p:cNvPr id="16" name="Shape 14"/>
          <p:cNvSpPr/>
          <p:nvPr/>
        </p:nvSpPr>
        <p:spPr>
          <a:xfrm>
            <a:off x="6126480" y="2057400"/>
            <a:ext cx="4892040" cy="749808"/>
          </a:xfrm>
          <a:prstGeom prst="roundRect">
            <a:avLst>
              <a:gd name="adj" fmla="val 6098"/>
            </a:avLst>
          </a:prstGeom>
          <a:solidFill>
            <a:srgbClr val="F4F8FA"/>
          </a:solidFill>
          <a:ln w="7620">
            <a:solidFill>
              <a:srgbClr val="D7E4EA"/>
            </a:solidFill>
            <a:prstDash val="solid"/>
          </a:ln>
        </p:spPr>
      </p:sp>
      <p:sp>
        <p:nvSpPr>
          <p:cNvPr id="17" name="Shape 15"/>
          <p:cNvSpPr/>
          <p:nvPr/>
        </p:nvSpPr>
        <p:spPr>
          <a:xfrm>
            <a:off x="6126480" y="2057400"/>
            <a:ext cx="73152" cy="749808"/>
          </a:xfrm>
          <a:prstGeom prst="rect">
            <a:avLst/>
          </a:prstGeom>
          <a:solidFill>
            <a:srgbClr val="F5A33B"/>
          </a:solidFill>
          <a:ln w="12700">
            <a:solidFill>
              <a:srgbClr val="F5A33B">
                <a:alpha val="0"/>
              </a:srgbClr>
            </a:solidFill>
            <a:prstDash val="solid"/>
          </a:ln>
        </p:spPr>
      </p:sp>
      <p:sp>
        <p:nvSpPr>
          <p:cNvPr id="18" name="Text 16"/>
          <p:cNvSpPr/>
          <p:nvPr/>
        </p:nvSpPr>
        <p:spPr>
          <a:xfrm>
            <a:off x="6291072" y="2185416"/>
            <a:ext cx="465429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Campaign context</a:t>
            </a:r>
            <a:endParaRPr lang="en-US" sz="1250" dirty="0"/>
          </a:p>
        </p:txBody>
      </p:sp>
      <p:sp>
        <p:nvSpPr>
          <p:cNvPr id="19" name="Text 17"/>
          <p:cNvSpPr/>
          <p:nvPr/>
        </p:nvSpPr>
        <p:spPr>
          <a:xfrm>
            <a:off x="6291072" y="2496312"/>
            <a:ext cx="4636008" cy="237744"/>
          </a:xfrm>
          <a:prstGeom prst="rect">
            <a:avLst/>
          </a:prstGeom>
          <a:noFill/>
          <a:ln/>
        </p:spPr>
        <p:txBody>
          <a:bodyPr wrap="square" lIns="0" tIns="0" rIns="0" bIns="0" rtlCol="0" anchor="ctr">
            <a:normAutofit/>
          </a:bodyPr>
          <a:lstStyle/>
          <a:p>
            <a:pPr marL="0" indent="0">
              <a:buNone/>
            </a:pPr>
            <a:r>
              <a:rPr lang="en-US" sz="1050" dirty="0">
                <a:solidFill>
                  <a:srgbClr val="152238"/>
                </a:solidFill>
                <a:latin typeface="Lato" pitchFamily="34" charset="0"/>
                <a:ea typeface="Lato" pitchFamily="34" charset="-122"/>
                <a:cs typeface="Lato" pitchFamily="34" charset="-120"/>
              </a:rPr>
              <a:t>contact, month, day_of_week, duration, campaign</a:t>
            </a:r>
            <a:endParaRPr lang="en-US" sz="1050" dirty="0"/>
          </a:p>
        </p:txBody>
      </p:sp>
      <p:sp>
        <p:nvSpPr>
          <p:cNvPr id="20" name="Shape 18"/>
          <p:cNvSpPr/>
          <p:nvPr/>
        </p:nvSpPr>
        <p:spPr>
          <a:xfrm>
            <a:off x="6126480" y="3063240"/>
            <a:ext cx="2240280" cy="694944"/>
          </a:xfrm>
          <a:prstGeom prst="roundRect">
            <a:avLst>
              <a:gd name="adj" fmla="val 6579"/>
            </a:avLst>
          </a:prstGeom>
          <a:solidFill>
            <a:srgbClr val="F4F8FA"/>
          </a:solidFill>
          <a:ln w="7620">
            <a:solidFill>
              <a:srgbClr val="D7E4EA"/>
            </a:solidFill>
            <a:prstDash val="solid"/>
          </a:ln>
        </p:spPr>
      </p:sp>
      <p:sp>
        <p:nvSpPr>
          <p:cNvPr id="21" name="Shape 19"/>
          <p:cNvSpPr/>
          <p:nvPr/>
        </p:nvSpPr>
        <p:spPr>
          <a:xfrm>
            <a:off x="6126480" y="3063240"/>
            <a:ext cx="73152" cy="694944"/>
          </a:xfrm>
          <a:prstGeom prst="rect">
            <a:avLst/>
          </a:prstGeom>
          <a:solidFill>
            <a:srgbClr val="20A7A6"/>
          </a:solidFill>
          <a:ln w="12700">
            <a:solidFill>
              <a:srgbClr val="20A7A6">
                <a:alpha val="0"/>
              </a:srgbClr>
            </a:solidFill>
            <a:prstDash val="solid"/>
          </a:ln>
        </p:spPr>
      </p:sp>
      <p:sp>
        <p:nvSpPr>
          <p:cNvPr id="22" name="Text 20"/>
          <p:cNvSpPr/>
          <p:nvPr/>
        </p:nvSpPr>
        <p:spPr>
          <a:xfrm>
            <a:off x="6291072" y="3191256"/>
            <a:ext cx="200253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Previous campaign</a:t>
            </a:r>
            <a:endParaRPr lang="en-US" sz="1250" dirty="0"/>
          </a:p>
        </p:txBody>
      </p:sp>
      <p:sp>
        <p:nvSpPr>
          <p:cNvPr id="23" name="Text 21"/>
          <p:cNvSpPr/>
          <p:nvPr/>
        </p:nvSpPr>
        <p:spPr>
          <a:xfrm>
            <a:off x="6291072" y="3502152"/>
            <a:ext cx="1984248" cy="182880"/>
          </a:xfrm>
          <a:prstGeom prst="rect">
            <a:avLst/>
          </a:prstGeom>
          <a:noFill/>
          <a:ln/>
        </p:spPr>
        <p:txBody>
          <a:bodyPr wrap="square" lIns="0" tIns="0" rIns="0" bIns="0" rtlCol="0" anchor="ctr">
            <a:normAutofit/>
          </a:bodyPr>
          <a:lstStyle/>
          <a:p>
            <a:pPr marL="0" indent="0">
              <a:buNone/>
            </a:pPr>
            <a:r>
              <a:rPr lang="en-US" sz="1050" dirty="0">
                <a:solidFill>
                  <a:srgbClr val="152238"/>
                </a:solidFill>
                <a:latin typeface="Lato" pitchFamily="34" charset="0"/>
                <a:ea typeface="Lato" pitchFamily="34" charset="-122"/>
                <a:cs typeface="Lato" pitchFamily="34" charset="-120"/>
              </a:rPr>
              <a:t>pdays, previous, poutcome</a:t>
            </a:r>
            <a:endParaRPr lang="en-US" sz="1050" dirty="0"/>
          </a:p>
        </p:txBody>
      </p:sp>
      <p:sp>
        <p:nvSpPr>
          <p:cNvPr id="24" name="Shape 22"/>
          <p:cNvSpPr/>
          <p:nvPr/>
        </p:nvSpPr>
        <p:spPr>
          <a:xfrm>
            <a:off x="8595360" y="3063240"/>
            <a:ext cx="2423160" cy="694944"/>
          </a:xfrm>
          <a:prstGeom prst="roundRect">
            <a:avLst>
              <a:gd name="adj" fmla="val 6579"/>
            </a:avLst>
          </a:prstGeom>
          <a:solidFill>
            <a:srgbClr val="F4F8FA"/>
          </a:solidFill>
          <a:ln w="7620">
            <a:solidFill>
              <a:srgbClr val="D7E4EA"/>
            </a:solidFill>
            <a:prstDash val="solid"/>
          </a:ln>
        </p:spPr>
      </p:sp>
      <p:sp>
        <p:nvSpPr>
          <p:cNvPr id="25" name="Shape 23"/>
          <p:cNvSpPr/>
          <p:nvPr/>
        </p:nvSpPr>
        <p:spPr>
          <a:xfrm>
            <a:off x="8595360" y="3063240"/>
            <a:ext cx="73152" cy="694944"/>
          </a:xfrm>
          <a:prstGeom prst="rect">
            <a:avLst/>
          </a:prstGeom>
          <a:solidFill>
            <a:srgbClr val="09243D"/>
          </a:solidFill>
          <a:ln w="12700">
            <a:solidFill>
              <a:srgbClr val="09243D">
                <a:alpha val="0"/>
              </a:srgbClr>
            </a:solidFill>
            <a:prstDash val="solid"/>
          </a:ln>
        </p:spPr>
      </p:sp>
      <p:sp>
        <p:nvSpPr>
          <p:cNvPr id="26" name="Text 24"/>
          <p:cNvSpPr/>
          <p:nvPr/>
        </p:nvSpPr>
        <p:spPr>
          <a:xfrm>
            <a:off x="8759952" y="3191256"/>
            <a:ext cx="218541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Economic indicators</a:t>
            </a:r>
            <a:endParaRPr lang="en-US" sz="1250" dirty="0"/>
          </a:p>
        </p:txBody>
      </p:sp>
      <p:sp>
        <p:nvSpPr>
          <p:cNvPr id="27" name="Text 25"/>
          <p:cNvSpPr/>
          <p:nvPr/>
        </p:nvSpPr>
        <p:spPr>
          <a:xfrm>
            <a:off x="8759952" y="3502152"/>
            <a:ext cx="2167128" cy="182880"/>
          </a:xfrm>
          <a:prstGeom prst="rect">
            <a:avLst/>
          </a:prstGeom>
          <a:noFill/>
          <a:ln/>
        </p:spPr>
        <p:txBody>
          <a:bodyPr wrap="square" lIns="0" tIns="0" rIns="0" bIns="0" rtlCol="0" anchor="ctr">
            <a:normAutofit fontScale="77500" lnSpcReduction="20000"/>
          </a:bodyPr>
          <a:lstStyle/>
          <a:p>
            <a:pPr marL="0" indent="0">
              <a:buNone/>
            </a:pPr>
            <a:r>
              <a:rPr lang="en-US" sz="950" dirty="0">
                <a:solidFill>
                  <a:srgbClr val="152238"/>
                </a:solidFill>
                <a:latin typeface="Lato" pitchFamily="34" charset="0"/>
                <a:ea typeface="Lato" pitchFamily="34" charset="-122"/>
                <a:cs typeface="Lato" pitchFamily="34" charset="-120"/>
              </a:rPr>
              <a:t>emp.var.rate, cons.price.idx, cons.conf.idx, euribor3m, nr.employed</a:t>
            </a:r>
            <a:endParaRPr lang="en-US" sz="950" dirty="0"/>
          </a:p>
        </p:txBody>
      </p:sp>
      <p:sp>
        <p:nvSpPr>
          <p:cNvPr id="28" name="Shape 26"/>
          <p:cNvSpPr/>
          <p:nvPr/>
        </p:nvSpPr>
        <p:spPr>
          <a:xfrm>
            <a:off x="6126480" y="3977640"/>
            <a:ext cx="4892040" cy="658368"/>
          </a:xfrm>
          <a:prstGeom prst="roundRect">
            <a:avLst>
              <a:gd name="adj" fmla="val 6944"/>
            </a:avLst>
          </a:prstGeom>
          <a:solidFill>
            <a:srgbClr val="F4F8FA"/>
          </a:solidFill>
          <a:ln w="7620">
            <a:solidFill>
              <a:srgbClr val="D7E4EA"/>
            </a:solidFill>
            <a:prstDash val="solid"/>
          </a:ln>
        </p:spPr>
      </p:sp>
      <p:sp>
        <p:nvSpPr>
          <p:cNvPr id="29" name="Shape 27"/>
          <p:cNvSpPr/>
          <p:nvPr/>
        </p:nvSpPr>
        <p:spPr>
          <a:xfrm>
            <a:off x="6126480" y="3977640"/>
            <a:ext cx="73152" cy="658368"/>
          </a:xfrm>
          <a:prstGeom prst="rect">
            <a:avLst/>
          </a:prstGeom>
          <a:solidFill>
            <a:srgbClr val="F5A33B"/>
          </a:solidFill>
          <a:ln w="12700">
            <a:solidFill>
              <a:srgbClr val="F5A33B">
                <a:alpha val="0"/>
              </a:srgbClr>
            </a:solidFill>
            <a:prstDash val="solid"/>
          </a:ln>
        </p:spPr>
      </p:sp>
      <p:sp>
        <p:nvSpPr>
          <p:cNvPr id="30" name="Text 28"/>
          <p:cNvSpPr/>
          <p:nvPr/>
        </p:nvSpPr>
        <p:spPr>
          <a:xfrm>
            <a:off x="6291072" y="4105656"/>
            <a:ext cx="465429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Target</a:t>
            </a:r>
            <a:endParaRPr lang="en-US" sz="1250" dirty="0"/>
          </a:p>
        </p:txBody>
      </p:sp>
      <p:sp>
        <p:nvSpPr>
          <p:cNvPr id="31" name="Text 29"/>
          <p:cNvSpPr/>
          <p:nvPr/>
        </p:nvSpPr>
        <p:spPr>
          <a:xfrm>
            <a:off x="6291072" y="4416552"/>
            <a:ext cx="4636008" cy="146304"/>
          </a:xfrm>
          <a:prstGeom prst="rect">
            <a:avLst/>
          </a:prstGeom>
          <a:noFill/>
          <a:ln/>
        </p:spPr>
        <p:txBody>
          <a:bodyPr wrap="square" lIns="0" tIns="0" rIns="0" bIns="0" rtlCol="0" anchor="ctr">
            <a:normAutofit fontScale="92500" lnSpcReduction="10000"/>
          </a:bodyPr>
          <a:lstStyle/>
          <a:p>
            <a:pPr marL="0" indent="0">
              <a:buNone/>
            </a:pPr>
            <a:r>
              <a:rPr lang="en-US" sz="1100" dirty="0">
                <a:solidFill>
                  <a:srgbClr val="152238"/>
                </a:solidFill>
                <a:latin typeface="Lato" pitchFamily="34" charset="0"/>
                <a:ea typeface="Lato" pitchFamily="34" charset="-122"/>
                <a:cs typeface="Lato" pitchFamily="34" charset="-120"/>
              </a:rPr>
              <a:t>y = term deposit outcome</a:t>
            </a:r>
            <a:endParaRPr lang="en-US" sz="1100" dirty="0"/>
          </a:p>
        </p:txBody>
      </p:sp>
      <p:sp>
        <p:nvSpPr>
          <p:cNvPr id="32" name="Shape 3">
            <a:extLst>
              <a:ext uri="{FF2B5EF4-FFF2-40B4-BE49-F238E27FC236}">
                <a16:creationId xmlns:a16="http://schemas.microsoft.com/office/drawing/2014/main" id="{8E660B92-0225-2F39-75E9-DA6736C61AD5}"/>
              </a:ext>
            </a:extLst>
          </p:cNvPr>
          <p:cNvSpPr/>
          <p:nvPr/>
        </p:nvSpPr>
        <p:spPr>
          <a:xfrm>
            <a:off x="292608" y="1051560"/>
            <a:ext cx="1572768" cy="27432"/>
          </a:xfrm>
          <a:prstGeom prst="rect">
            <a:avLst/>
          </a:prstGeom>
          <a:solidFill>
            <a:srgbClr val="F4A340"/>
          </a:solidFill>
          <a:ln w="12700">
            <a:solidFill>
              <a:srgbClr val="F4A340"/>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09243D"/>
          </a:solidFill>
          <a:ln w="12700">
            <a:solidFill>
              <a:srgbClr val="09243D">
                <a:alpha val="0"/>
              </a:srgbClr>
            </a:solidFill>
            <a:prstDash val="solid"/>
          </a:ln>
        </p:spPr>
      </p:sp>
      <p:sp>
        <p:nvSpPr>
          <p:cNvPr id="3" name="Text 1"/>
          <p:cNvSpPr/>
          <p:nvPr/>
        </p:nvSpPr>
        <p:spPr>
          <a:xfrm>
            <a:off x="320040" y="201168"/>
            <a:ext cx="6949440" cy="201168"/>
          </a:xfrm>
          <a:prstGeom prst="rect">
            <a:avLst/>
          </a:prstGeom>
          <a:noFill/>
          <a:ln/>
        </p:spPr>
        <p:txBody>
          <a:bodyPr wrap="square" lIns="0" tIns="0" rIns="0" bIns="0" rtlCol="0" anchor="ctr"/>
          <a:lstStyle/>
          <a:p>
            <a:pPr marL="0" indent="0">
              <a:buNone/>
            </a:pPr>
            <a:r>
              <a:rPr lang="en-US" sz="850" b="1" dirty="0">
                <a:solidFill>
                  <a:srgbClr val="20A7A6"/>
                </a:solidFill>
                <a:latin typeface="Lato" pitchFamily="34" charset="0"/>
                <a:ea typeface="Lato" pitchFamily="34" charset="-122"/>
                <a:cs typeface="Lato" pitchFamily="34" charset="-120"/>
              </a:rPr>
              <a:t>DATA UNDERSTANDING</a:t>
            </a:r>
            <a:endParaRPr lang="en-US" sz="850" dirty="0"/>
          </a:p>
        </p:txBody>
      </p:sp>
      <p:sp>
        <p:nvSpPr>
          <p:cNvPr id="4" name="Text 2"/>
          <p:cNvSpPr/>
          <p:nvPr/>
        </p:nvSpPr>
        <p:spPr>
          <a:xfrm>
            <a:off x="11338560" y="182880"/>
            <a:ext cx="502920" cy="182880"/>
          </a:xfrm>
          <a:prstGeom prst="rect">
            <a:avLst/>
          </a:prstGeom>
          <a:noFill/>
          <a:ln/>
        </p:spPr>
        <p:txBody>
          <a:bodyPr wrap="square" lIns="0" tIns="0" rIns="0" bIns="0" rtlCol="0" anchor="ctr"/>
          <a:lstStyle/>
          <a:p>
            <a:pPr marL="0" indent="0" algn="r">
              <a:buNone/>
            </a:pPr>
            <a:r>
              <a:rPr lang="en-US" sz="750" dirty="0">
                <a:solidFill>
                  <a:srgbClr val="6B7280"/>
                </a:solidFill>
                <a:latin typeface="Lato" pitchFamily="34" charset="0"/>
                <a:ea typeface="Lato" pitchFamily="34" charset="-122"/>
                <a:cs typeface="Lato" pitchFamily="34" charset="-120"/>
              </a:rPr>
              <a:t>7/23</a:t>
            </a:r>
            <a:endParaRPr lang="en-US" sz="750" dirty="0"/>
          </a:p>
        </p:txBody>
      </p:sp>
      <p:sp>
        <p:nvSpPr>
          <p:cNvPr id="5" name="Text 3"/>
          <p:cNvSpPr/>
          <p:nvPr/>
        </p:nvSpPr>
        <p:spPr>
          <a:xfrm>
            <a:off x="320040" y="566928"/>
            <a:ext cx="5669280" cy="512064"/>
          </a:xfrm>
          <a:prstGeom prst="rect">
            <a:avLst/>
          </a:prstGeom>
          <a:noFill/>
          <a:ln/>
        </p:spPr>
        <p:txBody>
          <a:bodyPr wrap="square" lIns="0" tIns="0" rIns="0" bIns="0" rtlCol="0" anchor="ctr">
            <a:normAutofit/>
          </a:bodyPr>
          <a:lstStyle/>
          <a:p>
            <a:pPr marL="0" indent="0">
              <a:buNone/>
            </a:pPr>
            <a:r>
              <a:rPr lang="en-US" sz="2700" b="1" dirty="0">
                <a:solidFill>
                  <a:srgbClr val="09243D"/>
                </a:solidFill>
                <a:latin typeface="Lato" pitchFamily="34" charset="0"/>
                <a:ea typeface="Lato" pitchFamily="34" charset="-122"/>
                <a:cs typeface="Lato" pitchFamily="34" charset="-120"/>
              </a:rPr>
              <a:t>Attribute Reference</a:t>
            </a:r>
            <a:endParaRPr lang="en-US" sz="2700" dirty="0"/>
          </a:p>
        </p:txBody>
      </p:sp>
      <p:sp>
        <p:nvSpPr>
          <p:cNvPr id="7" name="Text 5"/>
          <p:cNvSpPr/>
          <p:nvPr/>
        </p:nvSpPr>
        <p:spPr>
          <a:xfrm>
            <a:off x="502920" y="1234440"/>
            <a:ext cx="2103120" cy="228600"/>
          </a:xfrm>
          <a:prstGeom prst="rect">
            <a:avLst/>
          </a:prstGeom>
          <a:noFill/>
          <a:ln/>
        </p:spPr>
        <p:txBody>
          <a:bodyPr wrap="square" lIns="0" tIns="0" rIns="0" bIns="0" rtlCol="0" anchor="ctr"/>
          <a:lstStyle/>
          <a:p>
            <a:pPr marL="0" indent="0">
              <a:buNone/>
            </a:pPr>
            <a:r>
              <a:rPr lang="en-US" sz="1150" b="1" dirty="0">
                <a:solidFill>
                  <a:srgbClr val="20A7A6"/>
                </a:solidFill>
                <a:latin typeface="Lato" pitchFamily="34" charset="0"/>
                <a:ea typeface="Lato" pitchFamily="34" charset="-122"/>
                <a:cs typeface="Lato" pitchFamily="34" charset="-120"/>
              </a:rPr>
              <a:t>Feature group</a:t>
            </a:r>
            <a:endParaRPr lang="en-US" sz="1150" dirty="0"/>
          </a:p>
        </p:txBody>
      </p:sp>
      <p:sp>
        <p:nvSpPr>
          <p:cNvPr id="8" name="Text 6"/>
          <p:cNvSpPr/>
          <p:nvPr/>
        </p:nvSpPr>
        <p:spPr>
          <a:xfrm>
            <a:off x="2697480" y="1234440"/>
            <a:ext cx="4480560" cy="228600"/>
          </a:xfrm>
          <a:prstGeom prst="rect">
            <a:avLst/>
          </a:prstGeom>
          <a:noFill/>
          <a:ln/>
        </p:spPr>
        <p:txBody>
          <a:bodyPr wrap="square" lIns="0" tIns="0" rIns="0" bIns="0" rtlCol="0" anchor="ctr"/>
          <a:lstStyle/>
          <a:p>
            <a:pPr marL="0" indent="0">
              <a:buNone/>
            </a:pPr>
            <a:r>
              <a:rPr lang="en-US" sz="1150" b="1" dirty="0">
                <a:solidFill>
                  <a:srgbClr val="20A7A6"/>
                </a:solidFill>
                <a:latin typeface="Lato" pitchFamily="34" charset="0"/>
                <a:ea typeface="Lato" pitchFamily="34" charset="-122"/>
                <a:cs typeface="Lato" pitchFamily="34" charset="-120"/>
              </a:rPr>
              <a:t>Attributes</a:t>
            </a:r>
            <a:endParaRPr lang="en-US" sz="1150" dirty="0"/>
          </a:p>
        </p:txBody>
      </p:sp>
      <p:sp>
        <p:nvSpPr>
          <p:cNvPr id="9" name="Text 7"/>
          <p:cNvSpPr/>
          <p:nvPr/>
        </p:nvSpPr>
        <p:spPr>
          <a:xfrm>
            <a:off x="7360920" y="1234440"/>
            <a:ext cx="3474720" cy="228600"/>
          </a:xfrm>
          <a:prstGeom prst="rect">
            <a:avLst/>
          </a:prstGeom>
          <a:noFill/>
          <a:ln/>
        </p:spPr>
        <p:txBody>
          <a:bodyPr wrap="square" lIns="0" tIns="0" rIns="0" bIns="0" rtlCol="0" anchor="ctr"/>
          <a:lstStyle/>
          <a:p>
            <a:pPr marL="0" indent="0">
              <a:buNone/>
            </a:pPr>
            <a:r>
              <a:rPr lang="en-US" sz="1150" b="1" dirty="0">
                <a:solidFill>
                  <a:srgbClr val="20A7A6"/>
                </a:solidFill>
                <a:latin typeface="Lato" pitchFamily="34" charset="0"/>
                <a:ea typeface="Lato" pitchFamily="34" charset="-122"/>
                <a:cs typeface="Lato" pitchFamily="34" charset="-120"/>
              </a:rPr>
              <a:t>Business meaning</a:t>
            </a:r>
            <a:endParaRPr lang="en-US" sz="1150" dirty="0"/>
          </a:p>
        </p:txBody>
      </p:sp>
      <p:sp>
        <p:nvSpPr>
          <p:cNvPr id="10" name="Shape 8"/>
          <p:cNvSpPr/>
          <p:nvPr/>
        </p:nvSpPr>
        <p:spPr>
          <a:xfrm>
            <a:off x="457200" y="1554480"/>
            <a:ext cx="10607040" cy="530352"/>
          </a:xfrm>
          <a:prstGeom prst="rect">
            <a:avLst/>
          </a:prstGeom>
          <a:solidFill>
            <a:srgbClr val="F7FAFB"/>
          </a:solidFill>
          <a:ln w="6350">
            <a:solidFill>
              <a:srgbClr val="E2EDF2"/>
            </a:solidFill>
            <a:prstDash val="solid"/>
          </a:ln>
        </p:spPr>
      </p:sp>
      <p:sp>
        <p:nvSpPr>
          <p:cNvPr id="11" name="Text 9"/>
          <p:cNvSpPr/>
          <p:nvPr/>
        </p:nvSpPr>
        <p:spPr>
          <a:xfrm>
            <a:off x="566928" y="1600200"/>
            <a:ext cx="1965960" cy="411480"/>
          </a:xfrm>
          <a:prstGeom prst="rect">
            <a:avLst/>
          </a:prstGeom>
          <a:noFill/>
          <a:ln/>
        </p:spPr>
        <p:txBody>
          <a:bodyPr wrap="square" lIns="254" tIns="254" rIns="254" bIns="254" rtlCol="0" anchor="ctr">
            <a:normAutofit/>
          </a:bodyPr>
          <a:lstStyle/>
          <a:p>
            <a:pPr marL="0" indent="0">
              <a:buNone/>
            </a:pPr>
            <a:r>
              <a:rPr lang="en-US" sz="1120" b="1" dirty="0">
                <a:solidFill>
                  <a:srgbClr val="09243D"/>
                </a:solidFill>
                <a:latin typeface="Lato" pitchFamily="34" charset="0"/>
                <a:ea typeface="Lato" pitchFamily="34" charset="-122"/>
                <a:cs typeface="Lato" pitchFamily="34" charset="-120"/>
              </a:rPr>
              <a:t>Client &amp; Financial</a:t>
            </a:r>
            <a:endParaRPr lang="en-US" sz="1120" dirty="0"/>
          </a:p>
        </p:txBody>
      </p:sp>
      <p:sp>
        <p:nvSpPr>
          <p:cNvPr id="12" name="Text 10"/>
          <p:cNvSpPr/>
          <p:nvPr/>
        </p:nvSpPr>
        <p:spPr>
          <a:xfrm>
            <a:off x="2697480" y="1600200"/>
            <a:ext cx="4480560" cy="411480"/>
          </a:xfrm>
          <a:prstGeom prst="rect">
            <a:avLst/>
          </a:prstGeom>
          <a:noFill/>
          <a:ln/>
        </p:spPr>
        <p:txBody>
          <a:bodyPr wrap="square" lIns="254" tIns="254" rIns="254" bIns="254" rtlCol="0" anchor="ctr">
            <a:normAutofit/>
          </a:bodyPr>
          <a:lstStyle/>
          <a:p>
            <a:pPr marL="0" indent="0">
              <a:buNone/>
            </a:pPr>
            <a:r>
              <a:rPr lang="en-US" sz="1050" dirty="0">
                <a:solidFill>
                  <a:srgbClr val="152238"/>
                </a:solidFill>
                <a:latin typeface="Lato" pitchFamily="34" charset="0"/>
                <a:ea typeface="Lato" pitchFamily="34" charset="-122"/>
                <a:cs typeface="Lato" pitchFamily="34" charset="-120"/>
              </a:rPr>
              <a:t>age, job, marital, education; default, housing, loan</a:t>
            </a:r>
            <a:endParaRPr lang="en-US" sz="1050" dirty="0"/>
          </a:p>
        </p:txBody>
      </p:sp>
      <p:sp>
        <p:nvSpPr>
          <p:cNvPr id="13" name="Text 11"/>
          <p:cNvSpPr/>
          <p:nvPr/>
        </p:nvSpPr>
        <p:spPr>
          <a:xfrm>
            <a:off x="7360920" y="1600200"/>
            <a:ext cx="3520440" cy="411480"/>
          </a:xfrm>
          <a:prstGeom prst="rect">
            <a:avLst/>
          </a:prstGeom>
          <a:noFill/>
          <a:ln/>
        </p:spPr>
        <p:txBody>
          <a:bodyPr wrap="square" lIns="254" tIns="254" rIns="254" bIns="254" rtlCol="0" anchor="ctr">
            <a:normAutofit/>
          </a:bodyPr>
          <a:lstStyle/>
          <a:p>
            <a:pPr marL="0" indent="0">
              <a:buNone/>
            </a:pPr>
            <a:r>
              <a:rPr lang="en-US" sz="1050" dirty="0">
                <a:solidFill>
                  <a:srgbClr val="152238"/>
                </a:solidFill>
                <a:latin typeface="Lato" pitchFamily="34" charset="0"/>
                <a:ea typeface="Lato" pitchFamily="34" charset="-122"/>
                <a:cs typeface="Lato" pitchFamily="34" charset="-120"/>
              </a:rPr>
              <a:t>Client background and loan/default context.</a:t>
            </a:r>
            <a:endParaRPr lang="en-US" sz="1050" dirty="0"/>
          </a:p>
        </p:txBody>
      </p:sp>
      <p:sp>
        <p:nvSpPr>
          <p:cNvPr id="14" name="Shape 12"/>
          <p:cNvSpPr/>
          <p:nvPr/>
        </p:nvSpPr>
        <p:spPr>
          <a:xfrm>
            <a:off x="457200" y="2212848"/>
            <a:ext cx="10607040" cy="530352"/>
          </a:xfrm>
          <a:prstGeom prst="rect">
            <a:avLst/>
          </a:prstGeom>
          <a:solidFill>
            <a:srgbClr val="FFFFFF"/>
          </a:solidFill>
          <a:ln w="6350">
            <a:solidFill>
              <a:srgbClr val="E2EDF2"/>
            </a:solidFill>
            <a:prstDash val="solid"/>
          </a:ln>
        </p:spPr>
      </p:sp>
      <p:sp>
        <p:nvSpPr>
          <p:cNvPr id="15" name="Text 13"/>
          <p:cNvSpPr/>
          <p:nvPr/>
        </p:nvSpPr>
        <p:spPr>
          <a:xfrm>
            <a:off x="566928" y="2258568"/>
            <a:ext cx="1965960" cy="411480"/>
          </a:xfrm>
          <a:prstGeom prst="rect">
            <a:avLst/>
          </a:prstGeom>
          <a:noFill/>
          <a:ln/>
        </p:spPr>
        <p:txBody>
          <a:bodyPr wrap="square" lIns="254" tIns="254" rIns="254" bIns="254" rtlCol="0" anchor="ctr">
            <a:normAutofit/>
          </a:bodyPr>
          <a:lstStyle/>
          <a:p>
            <a:pPr marL="0" indent="0">
              <a:buNone/>
            </a:pPr>
            <a:r>
              <a:rPr lang="en-US" sz="1120" b="1" dirty="0">
                <a:solidFill>
                  <a:srgbClr val="09243D"/>
                </a:solidFill>
                <a:latin typeface="Lato" pitchFamily="34" charset="0"/>
                <a:ea typeface="Lato" pitchFamily="34" charset="-122"/>
                <a:cs typeface="Lato" pitchFamily="34" charset="-120"/>
              </a:rPr>
              <a:t>Campaign Context</a:t>
            </a:r>
            <a:endParaRPr lang="en-US" sz="1120" dirty="0"/>
          </a:p>
        </p:txBody>
      </p:sp>
      <p:sp>
        <p:nvSpPr>
          <p:cNvPr id="16" name="Text 14"/>
          <p:cNvSpPr/>
          <p:nvPr/>
        </p:nvSpPr>
        <p:spPr>
          <a:xfrm>
            <a:off x="2697480" y="2258568"/>
            <a:ext cx="4480560" cy="411480"/>
          </a:xfrm>
          <a:prstGeom prst="rect">
            <a:avLst/>
          </a:prstGeom>
          <a:noFill/>
          <a:ln/>
        </p:spPr>
        <p:txBody>
          <a:bodyPr wrap="square" lIns="254" tIns="254" rIns="254" bIns="254" rtlCol="0" anchor="ctr">
            <a:normAutofit/>
          </a:bodyPr>
          <a:lstStyle/>
          <a:p>
            <a:pPr marL="0" indent="0">
              <a:buNone/>
            </a:pPr>
            <a:r>
              <a:rPr lang="en-US" sz="1050" dirty="0">
                <a:solidFill>
                  <a:srgbClr val="152238"/>
                </a:solidFill>
                <a:latin typeface="Lato" pitchFamily="34" charset="0"/>
                <a:ea typeface="Lato" pitchFamily="34" charset="-122"/>
                <a:cs typeface="Lato" pitchFamily="34" charset="-120"/>
              </a:rPr>
              <a:t>contact, month, day_of_week, campaign</a:t>
            </a:r>
            <a:endParaRPr lang="en-US" sz="1050" dirty="0"/>
          </a:p>
        </p:txBody>
      </p:sp>
      <p:sp>
        <p:nvSpPr>
          <p:cNvPr id="17" name="Text 15"/>
          <p:cNvSpPr/>
          <p:nvPr/>
        </p:nvSpPr>
        <p:spPr>
          <a:xfrm>
            <a:off x="7360920" y="2258568"/>
            <a:ext cx="3520440" cy="411480"/>
          </a:xfrm>
          <a:prstGeom prst="rect">
            <a:avLst/>
          </a:prstGeom>
          <a:noFill/>
          <a:ln/>
        </p:spPr>
        <p:txBody>
          <a:bodyPr wrap="square" lIns="254" tIns="254" rIns="254" bIns="254" rtlCol="0" anchor="ctr">
            <a:normAutofit/>
          </a:bodyPr>
          <a:lstStyle/>
          <a:p>
            <a:pPr marL="0" indent="0">
              <a:buNone/>
            </a:pPr>
            <a:r>
              <a:rPr lang="en-US" sz="1050" dirty="0">
                <a:solidFill>
                  <a:srgbClr val="152238"/>
                </a:solidFill>
                <a:latin typeface="Lato" pitchFamily="34" charset="0"/>
                <a:ea typeface="Lato" pitchFamily="34" charset="-122"/>
                <a:cs typeface="Lato" pitchFamily="34" charset="-120"/>
              </a:rPr>
              <a:t>Channel, timing, and number of current campaign contacts.</a:t>
            </a:r>
            <a:endParaRPr lang="en-US" sz="1050" dirty="0"/>
          </a:p>
        </p:txBody>
      </p:sp>
      <p:sp>
        <p:nvSpPr>
          <p:cNvPr id="18" name="Shape 16"/>
          <p:cNvSpPr/>
          <p:nvPr/>
        </p:nvSpPr>
        <p:spPr>
          <a:xfrm>
            <a:off x="457200" y="2871216"/>
            <a:ext cx="10607040" cy="530352"/>
          </a:xfrm>
          <a:prstGeom prst="rect">
            <a:avLst/>
          </a:prstGeom>
          <a:solidFill>
            <a:srgbClr val="F7FAFB"/>
          </a:solidFill>
          <a:ln w="6350">
            <a:solidFill>
              <a:srgbClr val="E2EDF2"/>
            </a:solidFill>
            <a:prstDash val="solid"/>
          </a:ln>
        </p:spPr>
      </p:sp>
      <p:sp>
        <p:nvSpPr>
          <p:cNvPr id="19" name="Text 17"/>
          <p:cNvSpPr/>
          <p:nvPr/>
        </p:nvSpPr>
        <p:spPr>
          <a:xfrm>
            <a:off x="566928" y="2916936"/>
            <a:ext cx="1965960" cy="411480"/>
          </a:xfrm>
          <a:prstGeom prst="rect">
            <a:avLst/>
          </a:prstGeom>
          <a:noFill/>
          <a:ln/>
        </p:spPr>
        <p:txBody>
          <a:bodyPr wrap="square" lIns="254" tIns="254" rIns="254" bIns="254" rtlCol="0" anchor="ctr">
            <a:normAutofit/>
          </a:bodyPr>
          <a:lstStyle/>
          <a:p>
            <a:pPr marL="0" indent="0">
              <a:buNone/>
            </a:pPr>
            <a:r>
              <a:rPr lang="en-US" sz="1120" b="1" dirty="0">
                <a:solidFill>
                  <a:srgbClr val="09243D"/>
                </a:solidFill>
                <a:latin typeface="Lato" pitchFamily="34" charset="0"/>
                <a:ea typeface="Lato" pitchFamily="34" charset="-122"/>
                <a:cs typeface="Lato" pitchFamily="34" charset="-120"/>
              </a:rPr>
              <a:t>Leakage Diagnostic</a:t>
            </a:r>
            <a:endParaRPr lang="en-US" sz="1120" dirty="0"/>
          </a:p>
        </p:txBody>
      </p:sp>
      <p:sp>
        <p:nvSpPr>
          <p:cNvPr id="20" name="Text 18"/>
          <p:cNvSpPr/>
          <p:nvPr/>
        </p:nvSpPr>
        <p:spPr>
          <a:xfrm>
            <a:off x="2697480" y="2916936"/>
            <a:ext cx="4480560" cy="411480"/>
          </a:xfrm>
          <a:prstGeom prst="rect">
            <a:avLst/>
          </a:prstGeom>
          <a:noFill/>
          <a:ln/>
        </p:spPr>
        <p:txBody>
          <a:bodyPr wrap="square" lIns="254" tIns="254" rIns="254" bIns="254" rtlCol="0" anchor="ctr">
            <a:normAutofit/>
          </a:bodyPr>
          <a:lstStyle/>
          <a:p>
            <a:pPr marL="0" indent="0">
              <a:buNone/>
            </a:pPr>
            <a:r>
              <a:rPr lang="en-US" sz="1050" dirty="0">
                <a:solidFill>
                  <a:srgbClr val="152238"/>
                </a:solidFill>
                <a:latin typeface="Lato" pitchFamily="34" charset="0"/>
                <a:ea typeface="Lato" pitchFamily="34" charset="-122"/>
                <a:cs typeface="Lato" pitchFamily="34" charset="-120"/>
              </a:rPr>
              <a:t>duration</a:t>
            </a:r>
            <a:endParaRPr lang="en-US" sz="1050" dirty="0"/>
          </a:p>
        </p:txBody>
      </p:sp>
      <p:sp>
        <p:nvSpPr>
          <p:cNvPr id="21" name="Text 19"/>
          <p:cNvSpPr/>
          <p:nvPr/>
        </p:nvSpPr>
        <p:spPr>
          <a:xfrm>
            <a:off x="7360920" y="2916936"/>
            <a:ext cx="3520440" cy="411480"/>
          </a:xfrm>
          <a:prstGeom prst="rect">
            <a:avLst/>
          </a:prstGeom>
          <a:noFill/>
          <a:ln/>
        </p:spPr>
        <p:txBody>
          <a:bodyPr wrap="square" lIns="254" tIns="254" rIns="254" bIns="254" rtlCol="0" anchor="ctr">
            <a:normAutofit/>
          </a:bodyPr>
          <a:lstStyle/>
          <a:p>
            <a:pPr marL="0" indent="0">
              <a:buNone/>
            </a:pPr>
            <a:r>
              <a:rPr lang="en-US" sz="1050" dirty="0">
                <a:solidFill>
                  <a:srgbClr val="152238"/>
                </a:solidFill>
                <a:latin typeface="Lato" pitchFamily="34" charset="0"/>
                <a:ea typeface="Lato" pitchFamily="34" charset="-122"/>
                <a:cs typeface="Lato" pitchFamily="34" charset="-120"/>
              </a:rPr>
              <a:t>Call duration; excluded because it is known only after contact finishes.</a:t>
            </a:r>
            <a:endParaRPr lang="en-US" sz="1050" dirty="0"/>
          </a:p>
        </p:txBody>
      </p:sp>
      <p:sp>
        <p:nvSpPr>
          <p:cNvPr id="22" name="Shape 20"/>
          <p:cNvSpPr/>
          <p:nvPr/>
        </p:nvSpPr>
        <p:spPr>
          <a:xfrm>
            <a:off x="457200" y="3529584"/>
            <a:ext cx="10607040" cy="530352"/>
          </a:xfrm>
          <a:prstGeom prst="rect">
            <a:avLst/>
          </a:prstGeom>
          <a:solidFill>
            <a:srgbClr val="FFFFFF"/>
          </a:solidFill>
          <a:ln w="6350">
            <a:solidFill>
              <a:srgbClr val="E2EDF2"/>
            </a:solidFill>
            <a:prstDash val="solid"/>
          </a:ln>
        </p:spPr>
      </p:sp>
      <p:sp>
        <p:nvSpPr>
          <p:cNvPr id="23" name="Text 21"/>
          <p:cNvSpPr/>
          <p:nvPr/>
        </p:nvSpPr>
        <p:spPr>
          <a:xfrm>
            <a:off x="566928" y="3575304"/>
            <a:ext cx="1965960" cy="411480"/>
          </a:xfrm>
          <a:prstGeom prst="rect">
            <a:avLst/>
          </a:prstGeom>
          <a:noFill/>
          <a:ln/>
        </p:spPr>
        <p:txBody>
          <a:bodyPr wrap="square" lIns="254" tIns="254" rIns="254" bIns="254" rtlCol="0" anchor="ctr">
            <a:normAutofit/>
          </a:bodyPr>
          <a:lstStyle/>
          <a:p>
            <a:pPr marL="0" indent="0">
              <a:buNone/>
            </a:pPr>
            <a:r>
              <a:rPr lang="en-US" sz="1120" b="1" dirty="0">
                <a:solidFill>
                  <a:srgbClr val="09243D"/>
                </a:solidFill>
                <a:latin typeface="Lato" pitchFamily="34" charset="0"/>
                <a:ea typeface="Lato" pitchFamily="34" charset="-122"/>
                <a:cs typeface="Lato" pitchFamily="34" charset="-120"/>
              </a:rPr>
              <a:t>Previous Campaign</a:t>
            </a:r>
            <a:endParaRPr lang="en-US" sz="1120" dirty="0"/>
          </a:p>
        </p:txBody>
      </p:sp>
      <p:sp>
        <p:nvSpPr>
          <p:cNvPr id="24" name="Text 22"/>
          <p:cNvSpPr/>
          <p:nvPr/>
        </p:nvSpPr>
        <p:spPr>
          <a:xfrm>
            <a:off x="2697480" y="3575304"/>
            <a:ext cx="4480560" cy="411480"/>
          </a:xfrm>
          <a:prstGeom prst="rect">
            <a:avLst/>
          </a:prstGeom>
          <a:noFill/>
          <a:ln/>
        </p:spPr>
        <p:txBody>
          <a:bodyPr wrap="square" lIns="254" tIns="254" rIns="254" bIns="254" rtlCol="0" anchor="ctr">
            <a:normAutofit/>
          </a:bodyPr>
          <a:lstStyle/>
          <a:p>
            <a:pPr marL="0" indent="0">
              <a:buNone/>
            </a:pPr>
            <a:r>
              <a:rPr lang="en-US" sz="1050" dirty="0">
                <a:solidFill>
                  <a:srgbClr val="152238"/>
                </a:solidFill>
                <a:latin typeface="Lato" pitchFamily="34" charset="0"/>
                <a:ea typeface="Lato" pitchFamily="34" charset="-122"/>
                <a:cs typeface="Lato" pitchFamily="34" charset="-120"/>
              </a:rPr>
              <a:t>pdays, previous, poutcome</a:t>
            </a:r>
            <a:endParaRPr lang="en-US" sz="1050" dirty="0"/>
          </a:p>
        </p:txBody>
      </p:sp>
      <p:sp>
        <p:nvSpPr>
          <p:cNvPr id="25" name="Text 23"/>
          <p:cNvSpPr/>
          <p:nvPr/>
        </p:nvSpPr>
        <p:spPr>
          <a:xfrm>
            <a:off x="7360920" y="3575304"/>
            <a:ext cx="3520440" cy="411480"/>
          </a:xfrm>
          <a:prstGeom prst="rect">
            <a:avLst/>
          </a:prstGeom>
          <a:noFill/>
          <a:ln/>
        </p:spPr>
        <p:txBody>
          <a:bodyPr wrap="square" lIns="254" tIns="254" rIns="254" bIns="254" rtlCol="0" anchor="ctr">
            <a:normAutofit/>
          </a:bodyPr>
          <a:lstStyle/>
          <a:p>
            <a:pPr marL="0" indent="0">
              <a:buNone/>
            </a:pPr>
            <a:r>
              <a:rPr lang="en-US" sz="1050" dirty="0">
                <a:solidFill>
                  <a:srgbClr val="152238"/>
                </a:solidFill>
                <a:latin typeface="Lato" pitchFamily="34" charset="0"/>
                <a:ea typeface="Lato" pitchFamily="34" charset="-122"/>
                <a:cs typeface="Lato" pitchFamily="34" charset="-120"/>
              </a:rPr>
              <a:t>Prior contact recency, prior count, and previous campaign result.</a:t>
            </a:r>
            <a:endParaRPr lang="en-US" sz="1050" dirty="0"/>
          </a:p>
        </p:txBody>
      </p:sp>
      <p:sp>
        <p:nvSpPr>
          <p:cNvPr id="26" name="Shape 24"/>
          <p:cNvSpPr/>
          <p:nvPr/>
        </p:nvSpPr>
        <p:spPr>
          <a:xfrm>
            <a:off x="457200" y="4187952"/>
            <a:ext cx="10607040" cy="530352"/>
          </a:xfrm>
          <a:prstGeom prst="rect">
            <a:avLst/>
          </a:prstGeom>
          <a:solidFill>
            <a:srgbClr val="F7FAFB"/>
          </a:solidFill>
          <a:ln w="6350">
            <a:solidFill>
              <a:srgbClr val="E2EDF2"/>
            </a:solidFill>
            <a:prstDash val="solid"/>
          </a:ln>
        </p:spPr>
      </p:sp>
      <p:sp>
        <p:nvSpPr>
          <p:cNvPr id="27" name="Text 25"/>
          <p:cNvSpPr/>
          <p:nvPr/>
        </p:nvSpPr>
        <p:spPr>
          <a:xfrm>
            <a:off x="566928" y="4233672"/>
            <a:ext cx="1965960" cy="411480"/>
          </a:xfrm>
          <a:prstGeom prst="rect">
            <a:avLst/>
          </a:prstGeom>
          <a:noFill/>
          <a:ln/>
        </p:spPr>
        <p:txBody>
          <a:bodyPr wrap="square" lIns="254" tIns="254" rIns="254" bIns="254" rtlCol="0" anchor="ctr">
            <a:normAutofit/>
          </a:bodyPr>
          <a:lstStyle/>
          <a:p>
            <a:pPr marL="0" indent="0">
              <a:buNone/>
            </a:pPr>
            <a:r>
              <a:rPr lang="en-US" sz="1120" b="1" dirty="0">
                <a:solidFill>
                  <a:srgbClr val="09243D"/>
                </a:solidFill>
                <a:latin typeface="Lato" pitchFamily="34" charset="0"/>
                <a:ea typeface="Lato" pitchFamily="34" charset="-122"/>
                <a:cs typeface="Lato" pitchFamily="34" charset="-120"/>
              </a:rPr>
              <a:t>Economic Indicators</a:t>
            </a:r>
            <a:endParaRPr lang="en-US" sz="1120" dirty="0"/>
          </a:p>
        </p:txBody>
      </p:sp>
      <p:sp>
        <p:nvSpPr>
          <p:cNvPr id="28" name="Text 26"/>
          <p:cNvSpPr/>
          <p:nvPr/>
        </p:nvSpPr>
        <p:spPr>
          <a:xfrm>
            <a:off x="2697480" y="4233672"/>
            <a:ext cx="4480560" cy="411480"/>
          </a:xfrm>
          <a:prstGeom prst="rect">
            <a:avLst/>
          </a:prstGeom>
          <a:noFill/>
          <a:ln/>
        </p:spPr>
        <p:txBody>
          <a:bodyPr wrap="square" lIns="254" tIns="254" rIns="254" bIns="254" rtlCol="0" anchor="ctr">
            <a:normAutofit/>
          </a:bodyPr>
          <a:lstStyle/>
          <a:p>
            <a:pPr marL="0" indent="0">
              <a:buNone/>
            </a:pPr>
            <a:r>
              <a:rPr lang="en-US" sz="1050" dirty="0">
                <a:solidFill>
                  <a:srgbClr val="152238"/>
                </a:solidFill>
                <a:latin typeface="Lato" pitchFamily="34" charset="0"/>
                <a:ea typeface="Lato" pitchFamily="34" charset="-122"/>
                <a:cs typeface="Lato" pitchFamily="34" charset="-120"/>
              </a:rPr>
              <a:t>emp.var.rate, cons.price.idx, cons.conf.idx, euribor3m, nr.employed</a:t>
            </a:r>
            <a:endParaRPr lang="en-US" sz="1050" dirty="0"/>
          </a:p>
        </p:txBody>
      </p:sp>
      <p:sp>
        <p:nvSpPr>
          <p:cNvPr id="29" name="Text 27"/>
          <p:cNvSpPr/>
          <p:nvPr/>
        </p:nvSpPr>
        <p:spPr>
          <a:xfrm>
            <a:off x="7360920" y="4233672"/>
            <a:ext cx="3520440" cy="411480"/>
          </a:xfrm>
          <a:prstGeom prst="rect">
            <a:avLst/>
          </a:prstGeom>
          <a:noFill/>
          <a:ln/>
        </p:spPr>
        <p:txBody>
          <a:bodyPr wrap="square" lIns="254" tIns="254" rIns="254" bIns="254" rtlCol="0" anchor="ctr">
            <a:normAutofit/>
          </a:bodyPr>
          <a:lstStyle/>
          <a:p>
            <a:pPr marL="0" indent="0">
              <a:buNone/>
            </a:pPr>
            <a:r>
              <a:rPr lang="en-US" sz="1050" dirty="0">
                <a:solidFill>
                  <a:srgbClr val="152238"/>
                </a:solidFill>
                <a:latin typeface="Lato" pitchFamily="34" charset="0"/>
                <a:ea typeface="Lato" pitchFamily="34" charset="-122"/>
                <a:cs typeface="Lato" pitchFamily="34" charset="-120"/>
              </a:rPr>
              <a:t>Macro-economic context during campaign period.</a:t>
            </a:r>
            <a:endParaRPr lang="en-US" sz="1050" dirty="0"/>
          </a:p>
        </p:txBody>
      </p:sp>
      <p:sp>
        <p:nvSpPr>
          <p:cNvPr id="30" name="Shape 28"/>
          <p:cNvSpPr/>
          <p:nvPr/>
        </p:nvSpPr>
        <p:spPr>
          <a:xfrm>
            <a:off x="457200" y="4846320"/>
            <a:ext cx="10607040" cy="530352"/>
          </a:xfrm>
          <a:prstGeom prst="rect">
            <a:avLst/>
          </a:prstGeom>
          <a:solidFill>
            <a:srgbClr val="FFFFFF"/>
          </a:solidFill>
          <a:ln w="6350">
            <a:solidFill>
              <a:srgbClr val="E2EDF2"/>
            </a:solidFill>
            <a:prstDash val="solid"/>
          </a:ln>
        </p:spPr>
      </p:sp>
      <p:sp>
        <p:nvSpPr>
          <p:cNvPr id="31" name="Text 29"/>
          <p:cNvSpPr/>
          <p:nvPr/>
        </p:nvSpPr>
        <p:spPr>
          <a:xfrm>
            <a:off x="566928" y="4892040"/>
            <a:ext cx="1965960" cy="411480"/>
          </a:xfrm>
          <a:prstGeom prst="rect">
            <a:avLst/>
          </a:prstGeom>
          <a:noFill/>
          <a:ln/>
        </p:spPr>
        <p:txBody>
          <a:bodyPr wrap="square" lIns="254" tIns="254" rIns="254" bIns="254" rtlCol="0" anchor="ctr">
            <a:normAutofit/>
          </a:bodyPr>
          <a:lstStyle/>
          <a:p>
            <a:pPr marL="0" indent="0">
              <a:buNone/>
            </a:pPr>
            <a:r>
              <a:rPr lang="en-US" sz="1120" b="1" dirty="0">
                <a:solidFill>
                  <a:srgbClr val="09243D"/>
                </a:solidFill>
                <a:latin typeface="Lato" pitchFamily="34" charset="0"/>
                <a:ea typeface="Lato" pitchFamily="34" charset="-122"/>
                <a:cs typeface="Lato" pitchFamily="34" charset="-120"/>
              </a:rPr>
              <a:t>Target</a:t>
            </a:r>
            <a:endParaRPr lang="en-US" sz="1120" dirty="0"/>
          </a:p>
        </p:txBody>
      </p:sp>
      <p:sp>
        <p:nvSpPr>
          <p:cNvPr id="32" name="Text 30"/>
          <p:cNvSpPr/>
          <p:nvPr/>
        </p:nvSpPr>
        <p:spPr>
          <a:xfrm>
            <a:off x="2697480" y="4892040"/>
            <a:ext cx="4480560" cy="411480"/>
          </a:xfrm>
          <a:prstGeom prst="rect">
            <a:avLst/>
          </a:prstGeom>
          <a:noFill/>
          <a:ln/>
        </p:spPr>
        <p:txBody>
          <a:bodyPr wrap="square" lIns="254" tIns="254" rIns="254" bIns="254" rtlCol="0" anchor="ctr">
            <a:normAutofit/>
          </a:bodyPr>
          <a:lstStyle/>
          <a:p>
            <a:pPr marL="0" indent="0">
              <a:buNone/>
            </a:pPr>
            <a:r>
              <a:rPr lang="en-US" sz="1050" dirty="0">
                <a:solidFill>
                  <a:srgbClr val="152238"/>
                </a:solidFill>
                <a:latin typeface="Lato" pitchFamily="34" charset="0"/>
                <a:ea typeface="Lato" pitchFamily="34" charset="-122"/>
                <a:cs typeface="Lato" pitchFamily="34" charset="-120"/>
              </a:rPr>
              <a:t>y</a:t>
            </a:r>
            <a:endParaRPr lang="en-US" sz="1050" dirty="0"/>
          </a:p>
        </p:txBody>
      </p:sp>
      <p:sp>
        <p:nvSpPr>
          <p:cNvPr id="33" name="Text 31"/>
          <p:cNvSpPr/>
          <p:nvPr/>
        </p:nvSpPr>
        <p:spPr>
          <a:xfrm>
            <a:off x="7360920" y="4892040"/>
            <a:ext cx="3520440" cy="411480"/>
          </a:xfrm>
          <a:prstGeom prst="rect">
            <a:avLst/>
          </a:prstGeom>
          <a:noFill/>
          <a:ln/>
        </p:spPr>
        <p:txBody>
          <a:bodyPr wrap="square" lIns="254" tIns="254" rIns="254" bIns="254" rtlCol="0" anchor="ctr">
            <a:normAutofit/>
          </a:bodyPr>
          <a:lstStyle/>
          <a:p>
            <a:pPr marL="0" indent="0">
              <a:buNone/>
            </a:pPr>
            <a:r>
              <a:rPr lang="en-US" sz="1050" dirty="0">
                <a:solidFill>
                  <a:srgbClr val="152238"/>
                </a:solidFill>
                <a:latin typeface="Lato" pitchFamily="34" charset="0"/>
                <a:ea typeface="Lato" pitchFamily="34" charset="-122"/>
                <a:cs typeface="Lato" pitchFamily="34" charset="-120"/>
              </a:rPr>
              <a:t>Term deposit subscription outcome: yes or no.</a:t>
            </a:r>
            <a:endParaRPr lang="en-US" sz="1050" dirty="0"/>
          </a:p>
        </p:txBody>
      </p:sp>
      <p:sp>
        <p:nvSpPr>
          <p:cNvPr id="34" name="Shape 3">
            <a:extLst>
              <a:ext uri="{FF2B5EF4-FFF2-40B4-BE49-F238E27FC236}">
                <a16:creationId xmlns:a16="http://schemas.microsoft.com/office/drawing/2014/main" id="{A533227D-249D-4D4E-9DE8-DBC4820FCCEC}"/>
              </a:ext>
            </a:extLst>
          </p:cNvPr>
          <p:cNvSpPr/>
          <p:nvPr/>
        </p:nvSpPr>
        <p:spPr>
          <a:xfrm>
            <a:off x="292608" y="1051560"/>
            <a:ext cx="1572768" cy="27432"/>
          </a:xfrm>
          <a:prstGeom prst="rect">
            <a:avLst/>
          </a:prstGeom>
          <a:solidFill>
            <a:srgbClr val="F4A340"/>
          </a:solidFill>
          <a:ln w="12700">
            <a:solidFill>
              <a:srgbClr val="F4A340"/>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09243D"/>
          </a:solidFill>
          <a:ln w="12700">
            <a:solidFill>
              <a:srgbClr val="09243D">
                <a:alpha val="0"/>
              </a:srgbClr>
            </a:solidFill>
            <a:prstDash val="solid"/>
          </a:ln>
        </p:spPr>
      </p:sp>
      <p:sp>
        <p:nvSpPr>
          <p:cNvPr id="3" name="Text 1"/>
          <p:cNvSpPr/>
          <p:nvPr/>
        </p:nvSpPr>
        <p:spPr>
          <a:xfrm>
            <a:off x="320040" y="201168"/>
            <a:ext cx="6949440" cy="201168"/>
          </a:xfrm>
          <a:prstGeom prst="rect">
            <a:avLst/>
          </a:prstGeom>
          <a:noFill/>
          <a:ln/>
        </p:spPr>
        <p:txBody>
          <a:bodyPr wrap="square" lIns="0" tIns="0" rIns="0" bIns="0" rtlCol="0" anchor="ctr"/>
          <a:lstStyle/>
          <a:p>
            <a:pPr marL="0" indent="0">
              <a:buNone/>
            </a:pPr>
            <a:r>
              <a:rPr lang="en-US" sz="850" b="1" dirty="0">
                <a:solidFill>
                  <a:srgbClr val="20A7A6"/>
                </a:solidFill>
                <a:latin typeface="Lato" pitchFamily="34" charset="0"/>
                <a:ea typeface="Lato" pitchFamily="34" charset="-122"/>
                <a:cs typeface="Lato" pitchFamily="34" charset="-120"/>
              </a:rPr>
              <a:t>DATASET TARGET IMBALANCE</a:t>
            </a:r>
            <a:endParaRPr lang="en-US" sz="850" dirty="0"/>
          </a:p>
        </p:txBody>
      </p:sp>
      <p:sp>
        <p:nvSpPr>
          <p:cNvPr id="4" name="Text 2"/>
          <p:cNvSpPr/>
          <p:nvPr/>
        </p:nvSpPr>
        <p:spPr>
          <a:xfrm>
            <a:off x="11338560" y="182880"/>
            <a:ext cx="502920" cy="182880"/>
          </a:xfrm>
          <a:prstGeom prst="rect">
            <a:avLst/>
          </a:prstGeom>
          <a:noFill/>
          <a:ln/>
        </p:spPr>
        <p:txBody>
          <a:bodyPr wrap="square" lIns="0" tIns="0" rIns="0" bIns="0" rtlCol="0" anchor="ctr"/>
          <a:lstStyle/>
          <a:p>
            <a:pPr marL="0" indent="0" algn="r">
              <a:buNone/>
            </a:pPr>
            <a:r>
              <a:rPr lang="en-US" sz="750" dirty="0">
                <a:solidFill>
                  <a:srgbClr val="6B7280"/>
                </a:solidFill>
                <a:latin typeface="Lato" pitchFamily="34" charset="0"/>
                <a:ea typeface="Lato" pitchFamily="34" charset="-122"/>
                <a:cs typeface="Lato" pitchFamily="34" charset="-120"/>
              </a:rPr>
              <a:t>8/23</a:t>
            </a:r>
            <a:endParaRPr lang="en-US" sz="750" dirty="0"/>
          </a:p>
        </p:txBody>
      </p:sp>
      <p:sp>
        <p:nvSpPr>
          <p:cNvPr id="5" name="Text 3"/>
          <p:cNvSpPr/>
          <p:nvPr/>
        </p:nvSpPr>
        <p:spPr>
          <a:xfrm>
            <a:off x="320040" y="566928"/>
            <a:ext cx="7498080" cy="512064"/>
          </a:xfrm>
          <a:prstGeom prst="rect">
            <a:avLst/>
          </a:prstGeom>
          <a:noFill/>
          <a:ln/>
        </p:spPr>
        <p:txBody>
          <a:bodyPr wrap="square" lIns="0" tIns="0" rIns="0" bIns="0" rtlCol="0" anchor="ctr">
            <a:normAutofit/>
          </a:bodyPr>
          <a:lstStyle/>
          <a:p>
            <a:pPr marL="0" indent="0">
              <a:buNone/>
            </a:pPr>
            <a:r>
              <a:rPr lang="en-US" sz="2700" b="1" dirty="0">
                <a:solidFill>
                  <a:srgbClr val="09243D"/>
                </a:solidFill>
                <a:latin typeface="Lato" pitchFamily="34" charset="0"/>
                <a:ea typeface="Lato" pitchFamily="34" charset="-122"/>
                <a:cs typeface="Lato" pitchFamily="34" charset="-120"/>
              </a:rPr>
              <a:t>Target Is Strongly Imbalanced</a:t>
            </a:r>
            <a:endParaRPr lang="en-US" sz="2700" dirty="0"/>
          </a:p>
        </p:txBody>
      </p:sp>
      <p:sp>
        <p:nvSpPr>
          <p:cNvPr id="7" name="Text 5"/>
          <p:cNvSpPr/>
          <p:nvPr/>
        </p:nvSpPr>
        <p:spPr>
          <a:xfrm>
            <a:off x="502920" y="1417320"/>
            <a:ext cx="4206240" cy="1508760"/>
          </a:xfrm>
          <a:prstGeom prst="rect">
            <a:avLst/>
          </a:prstGeom>
          <a:noFill/>
          <a:ln/>
        </p:spPr>
        <p:txBody>
          <a:bodyPr wrap="square" lIns="762" tIns="762" rIns="762" bIns="762" rtlCol="0" anchor="t">
            <a:normAutofit/>
          </a:bodyPr>
          <a:lstStyle/>
          <a:p>
            <a:pPr marL="0" indent="0">
              <a:buNone/>
            </a:pPr>
            <a:r>
              <a:rPr lang="en-US" sz="1520" dirty="0">
                <a:solidFill>
                  <a:srgbClr val="152238"/>
                </a:solidFill>
                <a:latin typeface="Lato" pitchFamily="34" charset="0"/>
                <a:ea typeface="Lato" pitchFamily="34" charset="-122"/>
                <a:cs typeface="Lato" pitchFamily="34" charset="-120"/>
              </a:rPr>
              <a:t>Positive class: 4,640 observations or 11.27% subscribed.</a:t>
            </a:r>
            <a:endParaRPr lang="en-US" sz="1520" dirty="0"/>
          </a:p>
          <a:p>
            <a:pPr marL="0" indent="0">
              <a:buNone/>
            </a:pPr>
            <a:r>
              <a:rPr lang="en-US" sz="1520" dirty="0">
                <a:solidFill>
                  <a:srgbClr val="152238"/>
                </a:solidFill>
                <a:latin typeface="Lato" pitchFamily="34" charset="0"/>
                <a:ea typeface="Lato" pitchFamily="34" charset="-122"/>
                <a:cs typeface="Lato" pitchFamily="34" charset="-120"/>
              </a:rPr>
              <a:t>Majority class: 36,548 observations or 88.73% did not subscribe.</a:t>
            </a:r>
            <a:endParaRPr lang="en-US" sz="1520" dirty="0"/>
          </a:p>
          <a:p>
            <a:pPr marL="0" indent="0">
              <a:buNone/>
            </a:pPr>
            <a:r>
              <a:rPr lang="en-US" sz="1520" dirty="0">
                <a:solidFill>
                  <a:srgbClr val="152238"/>
                </a:solidFill>
                <a:latin typeface="Lato" pitchFamily="34" charset="0"/>
                <a:ea typeface="Lato" pitchFamily="34" charset="-122"/>
                <a:cs typeface="Lato" pitchFamily="34" charset="-120"/>
              </a:rPr>
              <a:t>Accuracy alone can look high while failing to detect subscribers.</a:t>
            </a:r>
            <a:endParaRPr lang="en-US" sz="1520" dirty="0"/>
          </a:p>
        </p:txBody>
      </p:sp>
      <p:pic>
        <p:nvPicPr>
          <p:cNvPr id="8" name="Image 0" descr="/mnt/data/bank_presentation_assets/target_distribution.png"/>
          <p:cNvPicPr>
            <a:picLocks noChangeAspect="1"/>
          </p:cNvPicPr>
          <p:nvPr/>
        </p:nvPicPr>
        <p:blipFill>
          <a:blip r:embed="rId3"/>
          <a:stretch>
            <a:fillRect/>
          </a:stretch>
        </p:blipFill>
        <p:spPr>
          <a:xfrm>
            <a:off x="4983480" y="1245870"/>
            <a:ext cx="5669280" cy="3543300"/>
          </a:xfrm>
          <a:prstGeom prst="rect">
            <a:avLst/>
          </a:prstGeom>
        </p:spPr>
      </p:pic>
      <p:sp>
        <p:nvSpPr>
          <p:cNvPr id="9" name="Shape 6"/>
          <p:cNvSpPr/>
          <p:nvPr/>
        </p:nvSpPr>
        <p:spPr>
          <a:xfrm>
            <a:off x="548640" y="5074920"/>
            <a:ext cx="3931920" cy="658368"/>
          </a:xfrm>
          <a:prstGeom prst="roundRect">
            <a:avLst>
              <a:gd name="adj" fmla="val 6944"/>
            </a:avLst>
          </a:prstGeom>
          <a:solidFill>
            <a:srgbClr val="F4F8FA"/>
          </a:solidFill>
          <a:ln w="7620">
            <a:solidFill>
              <a:srgbClr val="D7E4EA"/>
            </a:solidFill>
            <a:prstDash val="solid"/>
          </a:ln>
        </p:spPr>
      </p:sp>
      <p:sp>
        <p:nvSpPr>
          <p:cNvPr id="10" name="Shape 7"/>
          <p:cNvSpPr/>
          <p:nvPr/>
        </p:nvSpPr>
        <p:spPr>
          <a:xfrm>
            <a:off x="548640" y="5074920"/>
            <a:ext cx="73152" cy="658368"/>
          </a:xfrm>
          <a:prstGeom prst="rect">
            <a:avLst/>
          </a:prstGeom>
          <a:solidFill>
            <a:srgbClr val="F5A33B"/>
          </a:solidFill>
          <a:ln w="12700">
            <a:solidFill>
              <a:srgbClr val="F5A33B">
                <a:alpha val="0"/>
              </a:srgbClr>
            </a:solidFill>
            <a:prstDash val="solid"/>
          </a:ln>
        </p:spPr>
      </p:sp>
      <p:sp>
        <p:nvSpPr>
          <p:cNvPr id="11" name="Text 8"/>
          <p:cNvSpPr/>
          <p:nvPr/>
        </p:nvSpPr>
        <p:spPr>
          <a:xfrm>
            <a:off x="713232" y="5161840"/>
            <a:ext cx="369417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Metric rationale</a:t>
            </a:r>
            <a:endParaRPr lang="en-US" sz="1250" dirty="0"/>
          </a:p>
        </p:txBody>
      </p:sp>
      <p:sp>
        <p:nvSpPr>
          <p:cNvPr id="12" name="Text 9"/>
          <p:cNvSpPr/>
          <p:nvPr/>
        </p:nvSpPr>
        <p:spPr>
          <a:xfrm>
            <a:off x="713232" y="5472736"/>
            <a:ext cx="3675888" cy="146304"/>
          </a:xfrm>
          <a:prstGeom prst="rect">
            <a:avLst/>
          </a:prstGeom>
          <a:noFill/>
          <a:ln/>
        </p:spPr>
        <p:txBody>
          <a:bodyPr wrap="square" lIns="0" tIns="0" rIns="0" bIns="0" rtlCol="0" anchor="ctr">
            <a:normAutofit fontScale="62500" lnSpcReduction="20000"/>
          </a:bodyPr>
          <a:lstStyle/>
          <a:p>
            <a:pPr marL="0" indent="0">
              <a:buNone/>
            </a:pPr>
            <a:r>
              <a:rPr lang="en-US" sz="1240" dirty="0">
                <a:solidFill>
                  <a:srgbClr val="152238"/>
                </a:solidFill>
                <a:latin typeface="Lato" pitchFamily="34" charset="0"/>
                <a:ea typeface="Lato" pitchFamily="34" charset="-122"/>
                <a:cs typeface="Lato" pitchFamily="34" charset="-120"/>
              </a:rPr>
              <a:t>Use Average Precision to focus on Precision–Recall behavior for subscribers.</a:t>
            </a:r>
            <a:endParaRPr lang="en-US" sz="1240" dirty="0"/>
          </a:p>
        </p:txBody>
      </p:sp>
      <p:sp>
        <p:nvSpPr>
          <p:cNvPr id="13" name="Shape 3">
            <a:extLst>
              <a:ext uri="{FF2B5EF4-FFF2-40B4-BE49-F238E27FC236}">
                <a16:creationId xmlns:a16="http://schemas.microsoft.com/office/drawing/2014/main" id="{C9D97E64-D476-9748-7183-B8A13ED62A8C}"/>
              </a:ext>
            </a:extLst>
          </p:cNvPr>
          <p:cNvSpPr/>
          <p:nvPr/>
        </p:nvSpPr>
        <p:spPr>
          <a:xfrm>
            <a:off x="292608" y="1051560"/>
            <a:ext cx="1572768" cy="27432"/>
          </a:xfrm>
          <a:prstGeom prst="rect">
            <a:avLst/>
          </a:prstGeom>
          <a:solidFill>
            <a:srgbClr val="F4A340"/>
          </a:solidFill>
          <a:ln w="12700">
            <a:solidFill>
              <a:srgbClr val="F4A340"/>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09243D"/>
          </a:solidFill>
          <a:ln w="12700">
            <a:solidFill>
              <a:srgbClr val="09243D">
                <a:alpha val="0"/>
              </a:srgbClr>
            </a:solidFill>
            <a:prstDash val="solid"/>
          </a:ln>
        </p:spPr>
      </p:sp>
      <p:sp>
        <p:nvSpPr>
          <p:cNvPr id="3" name="Text 1"/>
          <p:cNvSpPr/>
          <p:nvPr/>
        </p:nvSpPr>
        <p:spPr>
          <a:xfrm>
            <a:off x="320040" y="201168"/>
            <a:ext cx="6949440" cy="201168"/>
          </a:xfrm>
          <a:prstGeom prst="rect">
            <a:avLst/>
          </a:prstGeom>
          <a:noFill/>
          <a:ln/>
        </p:spPr>
        <p:txBody>
          <a:bodyPr wrap="square" lIns="0" tIns="0" rIns="0" bIns="0" rtlCol="0" anchor="ctr"/>
          <a:lstStyle/>
          <a:p>
            <a:pPr marL="0" indent="0">
              <a:buNone/>
            </a:pPr>
            <a:r>
              <a:rPr lang="en-US" sz="850" b="1" dirty="0">
                <a:solidFill>
                  <a:srgbClr val="20A7A6"/>
                </a:solidFill>
                <a:latin typeface="Lato" pitchFamily="34" charset="0"/>
                <a:ea typeface="Lato" pitchFamily="34" charset="-122"/>
                <a:cs typeface="Lato" pitchFamily="34" charset="-120"/>
              </a:rPr>
              <a:t>SELECTED FEATURE DISTRIBUTION</a:t>
            </a:r>
            <a:endParaRPr lang="en-US" sz="850" dirty="0"/>
          </a:p>
        </p:txBody>
      </p:sp>
      <p:sp>
        <p:nvSpPr>
          <p:cNvPr id="4" name="Text 2"/>
          <p:cNvSpPr/>
          <p:nvPr/>
        </p:nvSpPr>
        <p:spPr>
          <a:xfrm>
            <a:off x="11338560" y="182880"/>
            <a:ext cx="502920" cy="182880"/>
          </a:xfrm>
          <a:prstGeom prst="rect">
            <a:avLst/>
          </a:prstGeom>
          <a:noFill/>
          <a:ln/>
        </p:spPr>
        <p:txBody>
          <a:bodyPr wrap="square" lIns="0" tIns="0" rIns="0" bIns="0" rtlCol="0" anchor="ctr"/>
          <a:lstStyle/>
          <a:p>
            <a:pPr marL="0" indent="0" algn="r">
              <a:buNone/>
            </a:pPr>
            <a:r>
              <a:rPr lang="en-US" sz="750" dirty="0">
                <a:solidFill>
                  <a:srgbClr val="6B7280"/>
                </a:solidFill>
                <a:latin typeface="Lato" pitchFamily="34" charset="0"/>
                <a:ea typeface="Lato" pitchFamily="34" charset="-122"/>
                <a:cs typeface="Lato" pitchFamily="34" charset="-120"/>
              </a:rPr>
              <a:t>9/23</a:t>
            </a:r>
            <a:endParaRPr lang="en-US" sz="750" dirty="0"/>
          </a:p>
        </p:txBody>
      </p:sp>
      <p:sp>
        <p:nvSpPr>
          <p:cNvPr id="5" name="Text 3"/>
          <p:cNvSpPr/>
          <p:nvPr/>
        </p:nvSpPr>
        <p:spPr>
          <a:xfrm>
            <a:off x="320040" y="566928"/>
            <a:ext cx="8229600" cy="512064"/>
          </a:xfrm>
          <a:prstGeom prst="rect">
            <a:avLst/>
          </a:prstGeom>
          <a:noFill/>
          <a:ln/>
        </p:spPr>
        <p:txBody>
          <a:bodyPr wrap="square" lIns="0" tIns="0" rIns="0" bIns="0" rtlCol="0" anchor="ctr">
            <a:normAutofit/>
          </a:bodyPr>
          <a:lstStyle/>
          <a:p>
            <a:pPr marL="0" indent="0">
              <a:buNone/>
            </a:pPr>
            <a:r>
              <a:rPr lang="en-US" sz="2700" b="1" dirty="0">
                <a:solidFill>
                  <a:srgbClr val="09243D"/>
                </a:solidFill>
                <a:latin typeface="Lato" pitchFamily="34" charset="0"/>
                <a:ea typeface="Lato" pitchFamily="34" charset="-122"/>
                <a:cs typeface="Lato" pitchFamily="34" charset="-120"/>
              </a:rPr>
              <a:t>Special Values Shape the Feature Engineering</a:t>
            </a:r>
            <a:endParaRPr lang="en-US" sz="2700" dirty="0"/>
          </a:p>
        </p:txBody>
      </p:sp>
      <p:sp>
        <p:nvSpPr>
          <p:cNvPr id="7" name="Text 5"/>
          <p:cNvSpPr/>
          <p:nvPr/>
        </p:nvSpPr>
        <p:spPr>
          <a:xfrm>
            <a:off x="502920" y="1234440"/>
            <a:ext cx="4572000" cy="548640"/>
          </a:xfrm>
          <a:prstGeom prst="rect">
            <a:avLst/>
          </a:prstGeom>
          <a:noFill/>
          <a:ln/>
        </p:spPr>
        <p:txBody>
          <a:bodyPr wrap="square" lIns="762" tIns="762" rIns="762" bIns="762" rtlCol="0" anchor="t">
            <a:normAutofit fontScale="92500"/>
          </a:bodyPr>
          <a:lstStyle/>
          <a:p>
            <a:pPr marL="0" indent="0">
              <a:buNone/>
            </a:pPr>
            <a:r>
              <a:rPr lang="en-US" sz="1400" dirty="0">
                <a:solidFill>
                  <a:srgbClr val="152238"/>
                </a:solidFill>
                <a:latin typeface="Lato" pitchFamily="34" charset="0"/>
                <a:ea typeface="Lato" pitchFamily="34" charset="-122"/>
                <a:cs typeface="Lato" pitchFamily="34" charset="-120"/>
              </a:rPr>
              <a:t>Only the most relevant distributions are shown here because they directly affect preprocessing and feature engineering.</a:t>
            </a:r>
            <a:endParaRPr lang="en-US" sz="1400" dirty="0"/>
          </a:p>
        </p:txBody>
      </p:sp>
      <p:sp>
        <p:nvSpPr>
          <p:cNvPr id="8" name="Text 6"/>
          <p:cNvSpPr/>
          <p:nvPr/>
        </p:nvSpPr>
        <p:spPr>
          <a:xfrm>
            <a:off x="594360" y="2057400"/>
            <a:ext cx="1554480" cy="486918"/>
          </a:xfrm>
          <a:prstGeom prst="rect">
            <a:avLst/>
          </a:prstGeom>
          <a:noFill/>
          <a:ln/>
        </p:spPr>
        <p:txBody>
          <a:bodyPr wrap="square" lIns="0" tIns="0" rIns="0" bIns="0" rtlCol="0" anchor="ctr">
            <a:normAutofit/>
          </a:bodyPr>
          <a:lstStyle/>
          <a:p>
            <a:pPr marL="0" indent="0">
              <a:buNone/>
            </a:pPr>
            <a:r>
              <a:rPr lang="en-US" sz="1040" dirty="0">
                <a:solidFill>
                  <a:srgbClr val="152238"/>
                </a:solidFill>
                <a:latin typeface="Lato" pitchFamily="34" charset="0"/>
                <a:ea typeface="Lato" pitchFamily="34" charset="-122"/>
                <a:cs typeface="Lato" pitchFamily="34" charset="-120"/>
              </a:rPr>
              <a:t>pdays = 999</a:t>
            </a:r>
            <a:endParaRPr lang="en-US" sz="1040" dirty="0"/>
          </a:p>
        </p:txBody>
      </p:sp>
      <p:sp>
        <p:nvSpPr>
          <p:cNvPr id="9" name="Shape 7"/>
          <p:cNvSpPr/>
          <p:nvPr/>
        </p:nvSpPr>
        <p:spPr>
          <a:xfrm>
            <a:off x="2240280" y="2130552"/>
            <a:ext cx="2510138" cy="358902"/>
          </a:xfrm>
          <a:prstGeom prst="rect">
            <a:avLst/>
          </a:prstGeom>
          <a:solidFill>
            <a:srgbClr val="20A7A6"/>
          </a:solidFill>
          <a:ln w="12700">
            <a:solidFill>
              <a:srgbClr val="20A7A6">
                <a:alpha val="0"/>
              </a:srgbClr>
            </a:solidFill>
            <a:prstDash val="solid"/>
          </a:ln>
        </p:spPr>
      </p:sp>
      <p:sp>
        <p:nvSpPr>
          <p:cNvPr id="10" name="Text 8"/>
          <p:cNvSpPr/>
          <p:nvPr/>
        </p:nvSpPr>
        <p:spPr>
          <a:xfrm>
            <a:off x="5120640" y="2057400"/>
            <a:ext cx="640080" cy="486918"/>
          </a:xfrm>
          <a:prstGeom prst="rect">
            <a:avLst/>
          </a:prstGeom>
          <a:noFill/>
          <a:ln/>
        </p:spPr>
        <p:txBody>
          <a:bodyPr wrap="square" lIns="0" tIns="0" rIns="0" bIns="0" rtlCol="0" anchor="ctr">
            <a:normAutofit/>
          </a:bodyPr>
          <a:lstStyle/>
          <a:p>
            <a:pPr marL="0" indent="0" algn="r">
              <a:buNone/>
            </a:pPr>
            <a:r>
              <a:rPr lang="en-US" sz="920" b="1" dirty="0">
                <a:solidFill>
                  <a:srgbClr val="152238"/>
                </a:solidFill>
                <a:latin typeface="Lato" pitchFamily="34" charset="0"/>
                <a:ea typeface="Lato" pitchFamily="34" charset="-122"/>
                <a:cs typeface="Lato" pitchFamily="34" charset="-120"/>
              </a:rPr>
              <a:t>96.3%</a:t>
            </a:r>
            <a:endParaRPr lang="en-US" sz="920" dirty="0"/>
          </a:p>
        </p:txBody>
      </p:sp>
      <p:sp>
        <p:nvSpPr>
          <p:cNvPr id="11" name="Text 9"/>
          <p:cNvSpPr/>
          <p:nvPr/>
        </p:nvSpPr>
        <p:spPr>
          <a:xfrm>
            <a:off x="594360" y="2617470"/>
            <a:ext cx="1554480" cy="486918"/>
          </a:xfrm>
          <a:prstGeom prst="rect">
            <a:avLst/>
          </a:prstGeom>
          <a:noFill/>
          <a:ln/>
        </p:spPr>
        <p:txBody>
          <a:bodyPr wrap="square" lIns="0" tIns="0" rIns="0" bIns="0" rtlCol="0" anchor="ctr">
            <a:normAutofit/>
          </a:bodyPr>
          <a:lstStyle/>
          <a:p>
            <a:pPr marL="0" indent="0">
              <a:buNone/>
            </a:pPr>
            <a:r>
              <a:rPr lang="en-US" sz="1040" dirty="0">
                <a:solidFill>
                  <a:srgbClr val="152238"/>
                </a:solidFill>
                <a:latin typeface="Lato" pitchFamily="34" charset="0"/>
                <a:ea typeface="Lato" pitchFamily="34" charset="-122"/>
                <a:cs typeface="Lato" pitchFamily="34" charset="-120"/>
              </a:rPr>
              <a:t>poutcome = nonexistent</a:t>
            </a:r>
            <a:endParaRPr lang="en-US" sz="1040" dirty="0"/>
          </a:p>
        </p:txBody>
      </p:sp>
      <p:sp>
        <p:nvSpPr>
          <p:cNvPr id="12" name="Shape 10"/>
          <p:cNvSpPr/>
          <p:nvPr/>
        </p:nvSpPr>
        <p:spPr>
          <a:xfrm>
            <a:off x="2240280" y="2690622"/>
            <a:ext cx="2250055" cy="358902"/>
          </a:xfrm>
          <a:prstGeom prst="rect">
            <a:avLst/>
          </a:prstGeom>
          <a:solidFill>
            <a:srgbClr val="09243D"/>
          </a:solidFill>
          <a:ln w="12700">
            <a:solidFill>
              <a:srgbClr val="09243D">
                <a:alpha val="0"/>
              </a:srgbClr>
            </a:solidFill>
            <a:prstDash val="solid"/>
          </a:ln>
        </p:spPr>
      </p:sp>
      <p:sp>
        <p:nvSpPr>
          <p:cNvPr id="13" name="Text 11"/>
          <p:cNvSpPr/>
          <p:nvPr/>
        </p:nvSpPr>
        <p:spPr>
          <a:xfrm>
            <a:off x="5120640" y="2617470"/>
            <a:ext cx="640080" cy="486918"/>
          </a:xfrm>
          <a:prstGeom prst="rect">
            <a:avLst/>
          </a:prstGeom>
          <a:noFill/>
          <a:ln/>
        </p:spPr>
        <p:txBody>
          <a:bodyPr wrap="square" lIns="0" tIns="0" rIns="0" bIns="0" rtlCol="0" anchor="ctr">
            <a:normAutofit/>
          </a:bodyPr>
          <a:lstStyle/>
          <a:p>
            <a:pPr marL="0" indent="0" algn="r">
              <a:buNone/>
            </a:pPr>
            <a:r>
              <a:rPr lang="en-US" sz="920" b="1" dirty="0">
                <a:solidFill>
                  <a:srgbClr val="152238"/>
                </a:solidFill>
                <a:latin typeface="Lato" pitchFamily="34" charset="0"/>
                <a:ea typeface="Lato" pitchFamily="34" charset="-122"/>
                <a:cs typeface="Lato" pitchFamily="34" charset="-120"/>
              </a:rPr>
              <a:t>86.3%</a:t>
            </a:r>
            <a:endParaRPr lang="en-US" sz="920" dirty="0"/>
          </a:p>
        </p:txBody>
      </p:sp>
      <p:sp>
        <p:nvSpPr>
          <p:cNvPr id="14" name="Text 12"/>
          <p:cNvSpPr/>
          <p:nvPr/>
        </p:nvSpPr>
        <p:spPr>
          <a:xfrm>
            <a:off x="594360" y="3177540"/>
            <a:ext cx="1554480" cy="486918"/>
          </a:xfrm>
          <a:prstGeom prst="rect">
            <a:avLst/>
          </a:prstGeom>
          <a:noFill/>
          <a:ln/>
        </p:spPr>
        <p:txBody>
          <a:bodyPr wrap="square" lIns="0" tIns="0" rIns="0" bIns="0" rtlCol="0" anchor="ctr">
            <a:normAutofit/>
          </a:bodyPr>
          <a:lstStyle/>
          <a:p>
            <a:pPr marL="0" indent="0">
              <a:buNone/>
            </a:pPr>
            <a:r>
              <a:rPr lang="en-US" sz="1040" dirty="0">
                <a:solidFill>
                  <a:srgbClr val="152238"/>
                </a:solidFill>
                <a:latin typeface="Lato" pitchFamily="34" charset="0"/>
                <a:ea typeface="Lato" pitchFamily="34" charset="-122"/>
                <a:cs typeface="Lato" pitchFamily="34" charset="-120"/>
              </a:rPr>
              <a:t>default = unknown</a:t>
            </a:r>
            <a:endParaRPr lang="en-US" sz="1040" dirty="0"/>
          </a:p>
        </p:txBody>
      </p:sp>
      <p:sp>
        <p:nvSpPr>
          <p:cNvPr id="15" name="Shape 13"/>
          <p:cNvSpPr/>
          <p:nvPr/>
        </p:nvSpPr>
        <p:spPr>
          <a:xfrm>
            <a:off x="2240280" y="3250692"/>
            <a:ext cx="543881" cy="358902"/>
          </a:xfrm>
          <a:prstGeom prst="rect">
            <a:avLst/>
          </a:prstGeom>
          <a:solidFill>
            <a:srgbClr val="F5A33B"/>
          </a:solidFill>
          <a:ln w="12700">
            <a:solidFill>
              <a:srgbClr val="F5A33B">
                <a:alpha val="0"/>
              </a:srgbClr>
            </a:solidFill>
            <a:prstDash val="solid"/>
          </a:ln>
        </p:spPr>
      </p:sp>
      <p:sp>
        <p:nvSpPr>
          <p:cNvPr id="16" name="Text 14"/>
          <p:cNvSpPr/>
          <p:nvPr/>
        </p:nvSpPr>
        <p:spPr>
          <a:xfrm>
            <a:off x="5120640" y="3177540"/>
            <a:ext cx="640080" cy="486918"/>
          </a:xfrm>
          <a:prstGeom prst="rect">
            <a:avLst/>
          </a:prstGeom>
          <a:noFill/>
          <a:ln/>
        </p:spPr>
        <p:txBody>
          <a:bodyPr wrap="square" lIns="0" tIns="0" rIns="0" bIns="0" rtlCol="0" anchor="ctr">
            <a:normAutofit/>
          </a:bodyPr>
          <a:lstStyle/>
          <a:p>
            <a:pPr marL="0" indent="0" algn="r">
              <a:buNone/>
            </a:pPr>
            <a:r>
              <a:rPr lang="en-US" sz="920" b="1" dirty="0">
                <a:solidFill>
                  <a:srgbClr val="152238"/>
                </a:solidFill>
                <a:latin typeface="Lato" pitchFamily="34" charset="0"/>
                <a:ea typeface="Lato" pitchFamily="34" charset="-122"/>
                <a:cs typeface="Lato" pitchFamily="34" charset="-120"/>
              </a:rPr>
              <a:t>20.9%</a:t>
            </a:r>
            <a:endParaRPr lang="en-US" sz="920" dirty="0"/>
          </a:p>
        </p:txBody>
      </p:sp>
      <p:sp>
        <p:nvSpPr>
          <p:cNvPr id="17" name="Text 15"/>
          <p:cNvSpPr/>
          <p:nvPr/>
        </p:nvSpPr>
        <p:spPr>
          <a:xfrm>
            <a:off x="594360" y="3737610"/>
            <a:ext cx="1554480" cy="486918"/>
          </a:xfrm>
          <a:prstGeom prst="rect">
            <a:avLst/>
          </a:prstGeom>
          <a:noFill/>
          <a:ln/>
        </p:spPr>
        <p:txBody>
          <a:bodyPr wrap="square" lIns="0" tIns="0" rIns="0" bIns="0" rtlCol="0" anchor="ctr">
            <a:normAutofit/>
          </a:bodyPr>
          <a:lstStyle/>
          <a:p>
            <a:pPr marL="0" indent="0">
              <a:buNone/>
            </a:pPr>
            <a:r>
              <a:rPr lang="en-US" sz="1040" dirty="0">
                <a:solidFill>
                  <a:srgbClr val="152238"/>
                </a:solidFill>
                <a:latin typeface="Lato" pitchFamily="34" charset="0"/>
                <a:ea typeface="Lato" pitchFamily="34" charset="-122"/>
                <a:cs typeface="Lato" pitchFamily="34" charset="-120"/>
              </a:rPr>
              <a:t>unknown in ≥1 profile/loan feature</a:t>
            </a:r>
            <a:endParaRPr lang="en-US" sz="1040" dirty="0"/>
          </a:p>
        </p:txBody>
      </p:sp>
      <p:sp>
        <p:nvSpPr>
          <p:cNvPr id="18" name="Shape 16"/>
          <p:cNvSpPr/>
          <p:nvPr/>
        </p:nvSpPr>
        <p:spPr>
          <a:xfrm>
            <a:off x="2240280" y="3810762"/>
            <a:ext cx="677049" cy="358902"/>
          </a:xfrm>
          <a:prstGeom prst="rect">
            <a:avLst/>
          </a:prstGeom>
          <a:solidFill>
            <a:srgbClr val="6B7280"/>
          </a:solidFill>
          <a:ln w="12700">
            <a:solidFill>
              <a:srgbClr val="6B7280">
                <a:alpha val="0"/>
              </a:srgbClr>
            </a:solidFill>
            <a:prstDash val="solid"/>
          </a:ln>
        </p:spPr>
      </p:sp>
      <p:sp>
        <p:nvSpPr>
          <p:cNvPr id="19" name="Text 17"/>
          <p:cNvSpPr/>
          <p:nvPr/>
        </p:nvSpPr>
        <p:spPr>
          <a:xfrm>
            <a:off x="5120640" y="3737610"/>
            <a:ext cx="640080" cy="486918"/>
          </a:xfrm>
          <a:prstGeom prst="rect">
            <a:avLst/>
          </a:prstGeom>
          <a:noFill/>
          <a:ln/>
        </p:spPr>
        <p:txBody>
          <a:bodyPr wrap="square" lIns="0" tIns="0" rIns="0" bIns="0" rtlCol="0" anchor="ctr">
            <a:normAutofit/>
          </a:bodyPr>
          <a:lstStyle/>
          <a:p>
            <a:pPr marL="0" indent="0" algn="r">
              <a:buNone/>
            </a:pPr>
            <a:r>
              <a:rPr lang="en-US" sz="920" b="1" dirty="0">
                <a:solidFill>
                  <a:srgbClr val="152238"/>
                </a:solidFill>
                <a:latin typeface="Lato" pitchFamily="34" charset="0"/>
                <a:ea typeface="Lato" pitchFamily="34" charset="-122"/>
                <a:cs typeface="Lato" pitchFamily="34" charset="-120"/>
              </a:rPr>
              <a:t>26.0%</a:t>
            </a:r>
            <a:endParaRPr lang="en-US" sz="920" dirty="0"/>
          </a:p>
        </p:txBody>
      </p:sp>
      <p:sp>
        <p:nvSpPr>
          <p:cNvPr id="20" name="Shape 18"/>
          <p:cNvSpPr/>
          <p:nvPr/>
        </p:nvSpPr>
        <p:spPr>
          <a:xfrm>
            <a:off x="6355080" y="1234440"/>
            <a:ext cx="4251960" cy="777240"/>
          </a:xfrm>
          <a:prstGeom prst="roundRect">
            <a:avLst>
              <a:gd name="adj" fmla="val 5882"/>
            </a:avLst>
          </a:prstGeom>
          <a:solidFill>
            <a:srgbClr val="F4F8FA"/>
          </a:solidFill>
          <a:ln w="7620">
            <a:solidFill>
              <a:srgbClr val="D7E4EA"/>
            </a:solidFill>
            <a:prstDash val="solid"/>
          </a:ln>
        </p:spPr>
      </p:sp>
      <p:sp>
        <p:nvSpPr>
          <p:cNvPr id="21" name="Shape 19"/>
          <p:cNvSpPr/>
          <p:nvPr/>
        </p:nvSpPr>
        <p:spPr>
          <a:xfrm>
            <a:off x="6355080" y="1234440"/>
            <a:ext cx="73152" cy="777240"/>
          </a:xfrm>
          <a:prstGeom prst="rect">
            <a:avLst/>
          </a:prstGeom>
          <a:solidFill>
            <a:srgbClr val="20A7A6"/>
          </a:solidFill>
          <a:ln w="12700">
            <a:solidFill>
              <a:srgbClr val="20A7A6">
                <a:alpha val="0"/>
              </a:srgbClr>
            </a:solidFill>
            <a:prstDash val="solid"/>
          </a:ln>
        </p:spPr>
      </p:sp>
      <p:sp>
        <p:nvSpPr>
          <p:cNvPr id="22" name="Text 20"/>
          <p:cNvSpPr/>
          <p:nvPr/>
        </p:nvSpPr>
        <p:spPr>
          <a:xfrm>
            <a:off x="6519672" y="1362456"/>
            <a:ext cx="401421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Distribution insight</a:t>
            </a:r>
            <a:endParaRPr lang="en-US" sz="1250" dirty="0"/>
          </a:p>
        </p:txBody>
      </p:sp>
      <p:sp>
        <p:nvSpPr>
          <p:cNvPr id="23" name="Text 21"/>
          <p:cNvSpPr/>
          <p:nvPr/>
        </p:nvSpPr>
        <p:spPr>
          <a:xfrm>
            <a:off x="6519672" y="1673352"/>
            <a:ext cx="3995928" cy="265176"/>
          </a:xfrm>
          <a:prstGeom prst="rect">
            <a:avLst/>
          </a:prstGeom>
          <a:noFill/>
          <a:ln/>
        </p:spPr>
        <p:txBody>
          <a:bodyPr wrap="square" lIns="0" tIns="0" rIns="0" bIns="0" rtlCol="0" anchor="ctr">
            <a:normAutofit fontScale="85000" lnSpcReduction="20000"/>
          </a:bodyPr>
          <a:lstStyle/>
          <a:p>
            <a:pPr marL="0" indent="0">
              <a:buNone/>
            </a:pPr>
            <a:r>
              <a:rPr lang="en-US" sz="1200" dirty="0">
                <a:solidFill>
                  <a:srgbClr val="152238"/>
                </a:solidFill>
                <a:latin typeface="Lato" pitchFamily="34" charset="0"/>
                <a:ea typeface="Lato" pitchFamily="34" charset="-122"/>
                <a:cs typeface="Lato" pitchFamily="34" charset="-120"/>
              </a:rPr>
              <a:t>`pdays = 999` and `poutcome = nonexistent` are structural signals, not ordinary missing values.</a:t>
            </a:r>
            <a:endParaRPr lang="en-US" sz="1200" dirty="0"/>
          </a:p>
        </p:txBody>
      </p:sp>
      <p:sp>
        <p:nvSpPr>
          <p:cNvPr id="24" name="Shape 22"/>
          <p:cNvSpPr/>
          <p:nvPr/>
        </p:nvSpPr>
        <p:spPr>
          <a:xfrm>
            <a:off x="6355080" y="2331720"/>
            <a:ext cx="4251960" cy="822960"/>
          </a:xfrm>
          <a:prstGeom prst="roundRect">
            <a:avLst>
              <a:gd name="adj" fmla="val 5556"/>
            </a:avLst>
          </a:prstGeom>
          <a:solidFill>
            <a:srgbClr val="F4F8FA"/>
          </a:solidFill>
          <a:ln w="7620">
            <a:solidFill>
              <a:srgbClr val="D7E4EA"/>
            </a:solidFill>
            <a:prstDash val="solid"/>
          </a:ln>
        </p:spPr>
      </p:sp>
      <p:sp>
        <p:nvSpPr>
          <p:cNvPr id="25" name="Shape 23"/>
          <p:cNvSpPr/>
          <p:nvPr/>
        </p:nvSpPr>
        <p:spPr>
          <a:xfrm>
            <a:off x="6355080" y="2331720"/>
            <a:ext cx="73152" cy="822960"/>
          </a:xfrm>
          <a:prstGeom prst="rect">
            <a:avLst/>
          </a:prstGeom>
          <a:solidFill>
            <a:srgbClr val="F5A33B"/>
          </a:solidFill>
          <a:ln w="12700">
            <a:solidFill>
              <a:srgbClr val="F5A33B">
                <a:alpha val="0"/>
              </a:srgbClr>
            </a:solidFill>
            <a:prstDash val="solid"/>
          </a:ln>
        </p:spPr>
      </p:sp>
      <p:sp>
        <p:nvSpPr>
          <p:cNvPr id="26" name="Text 24"/>
          <p:cNvSpPr/>
          <p:nvPr/>
        </p:nvSpPr>
        <p:spPr>
          <a:xfrm>
            <a:off x="6519672" y="2459736"/>
            <a:ext cx="401421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Feature engineering decision</a:t>
            </a:r>
            <a:endParaRPr lang="en-US" sz="1250" dirty="0"/>
          </a:p>
        </p:txBody>
      </p:sp>
      <p:sp>
        <p:nvSpPr>
          <p:cNvPr id="27" name="Text 25"/>
          <p:cNvSpPr/>
          <p:nvPr/>
        </p:nvSpPr>
        <p:spPr>
          <a:xfrm>
            <a:off x="6519672" y="2770632"/>
            <a:ext cx="3995928" cy="310896"/>
          </a:xfrm>
          <a:prstGeom prst="rect">
            <a:avLst/>
          </a:prstGeom>
          <a:noFill/>
          <a:ln/>
        </p:spPr>
        <p:txBody>
          <a:bodyPr wrap="square" lIns="0" tIns="0" rIns="0" bIns="0" rtlCol="0" anchor="ctr">
            <a:normAutofit fontScale="92500" lnSpcReduction="10000"/>
          </a:bodyPr>
          <a:lstStyle/>
          <a:p>
            <a:pPr marL="0" indent="0">
              <a:buNone/>
            </a:pPr>
            <a:r>
              <a:rPr lang="en-US" sz="1200" dirty="0">
                <a:solidFill>
                  <a:srgbClr val="152238"/>
                </a:solidFill>
                <a:latin typeface="Lato" pitchFamily="34" charset="0"/>
                <a:ea typeface="Lato" pitchFamily="34" charset="-122"/>
                <a:cs typeface="Lato" pitchFamily="34" charset="-120"/>
              </a:rPr>
              <a:t>`pdays` is transformed into previous-contact information instead of treated as a normal continuous variable.</a:t>
            </a:r>
            <a:endParaRPr lang="en-US" sz="1200" dirty="0"/>
          </a:p>
        </p:txBody>
      </p:sp>
      <p:sp>
        <p:nvSpPr>
          <p:cNvPr id="28" name="Shape 26"/>
          <p:cNvSpPr/>
          <p:nvPr/>
        </p:nvSpPr>
        <p:spPr>
          <a:xfrm>
            <a:off x="6355080" y="3520440"/>
            <a:ext cx="4251960" cy="822960"/>
          </a:xfrm>
          <a:prstGeom prst="roundRect">
            <a:avLst>
              <a:gd name="adj" fmla="val 5556"/>
            </a:avLst>
          </a:prstGeom>
          <a:solidFill>
            <a:srgbClr val="F4F8FA"/>
          </a:solidFill>
          <a:ln w="7620">
            <a:solidFill>
              <a:srgbClr val="D7E4EA"/>
            </a:solidFill>
            <a:prstDash val="solid"/>
          </a:ln>
        </p:spPr>
      </p:sp>
      <p:sp>
        <p:nvSpPr>
          <p:cNvPr id="29" name="Shape 27"/>
          <p:cNvSpPr/>
          <p:nvPr/>
        </p:nvSpPr>
        <p:spPr>
          <a:xfrm>
            <a:off x="6355080" y="3520440"/>
            <a:ext cx="73152" cy="822960"/>
          </a:xfrm>
          <a:prstGeom prst="rect">
            <a:avLst/>
          </a:prstGeom>
          <a:solidFill>
            <a:srgbClr val="09243D"/>
          </a:solidFill>
          <a:ln w="12700">
            <a:solidFill>
              <a:srgbClr val="09243D">
                <a:alpha val="0"/>
              </a:srgbClr>
            </a:solidFill>
            <a:prstDash val="solid"/>
          </a:ln>
        </p:spPr>
      </p:sp>
      <p:sp>
        <p:nvSpPr>
          <p:cNvPr id="30" name="Text 28"/>
          <p:cNvSpPr/>
          <p:nvPr/>
        </p:nvSpPr>
        <p:spPr>
          <a:xfrm>
            <a:off x="6519672" y="3648456"/>
            <a:ext cx="401421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Cleaning decision</a:t>
            </a:r>
            <a:endParaRPr lang="en-US" sz="1250" dirty="0"/>
          </a:p>
        </p:txBody>
      </p:sp>
      <p:sp>
        <p:nvSpPr>
          <p:cNvPr id="31" name="Text 29"/>
          <p:cNvSpPr/>
          <p:nvPr/>
        </p:nvSpPr>
        <p:spPr>
          <a:xfrm>
            <a:off x="6519672" y="3959352"/>
            <a:ext cx="3995928" cy="310896"/>
          </a:xfrm>
          <a:prstGeom prst="rect">
            <a:avLst/>
          </a:prstGeom>
          <a:noFill/>
          <a:ln/>
        </p:spPr>
        <p:txBody>
          <a:bodyPr wrap="square" lIns="0" tIns="0" rIns="0" bIns="0" rtlCol="0" anchor="ctr">
            <a:normAutofit fontScale="92500" lnSpcReduction="10000"/>
          </a:bodyPr>
          <a:lstStyle/>
          <a:p>
            <a:pPr marL="0" indent="0">
              <a:buNone/>
            </a:pPr>
            <a:r>
              <a:rPr lang="en-US" sz="1200" dirty="0">
                <a:solidFill>
                  <a:srgbClr val="152238"/>
                </a:solidFill>
                <a:latin typeface="Lato" pitchFamily="34" charset="0"/>
                <a:ea typeface="Lato" pitchFamily="34" charset="-122"/>
                <a:cs typeface="Lato" pitchFamily="34" charset="-120"/>
              </a:rPr>
              <a:t>`unknown` is retained because it can carry semantic information in historical campaign data.</a:t>
            </a:r>
            <a:endParaRPr lang="en-US" sz="1200" dirty="0"/>
          </a:p>
        </p:txBody>
      </p:sp>
      <p:sp>
        <p:nvSpPr>
          <p:cNvPr id="32" name="Shape 3">
            <a:extLst>
              <a:ext uri="{FF2B5EF4-FFF2-40B4-BE49-F238E27FC236}">
                <a16:creationId xmlns:a16="http://schemas.microsoft.com/office/drawing/2014/main" id="{A63D45A7-8BCB-EB77-BB3B-E194C9CC1A61}"/>
              </a:ext>
            </a:extLst>
          </p:cNvPr>
          <p:cNvSpPr/>
          <p:nvPr/>
        </p:nvSpPr>
        <p:spPr>
          <a:xfrm>
            <a:off x="292608" y="1051560"/>
            <a:ext cx="1572768" cy="27432"/>
          </a:xfrm>
          <a:prstGeom prst="rect">
            <a:avLst/>
          </a:prstGeom>
          <a:solidFill>
            <a:srgbClr val="F4A340"/>
          </a:solidFill>
          <a:ln w="12700">
            <a:solidFill>
              <a:srgbClr val="F4A340"/>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09243D"/>
          </a:solidFill>
          <a:ln w="12700">
            <a:solidFill>
              <a:srgbClr val="09243D">
                <a:alpha val="0"/>
              </a:srgbClr>
            </a:solidFill>
            <a:prstDash val="solid"/>
          </a:ln>
        </p:spPr>
      </p:sp>
      <p:sp>
        <p:nvSpPr>
          <p:cNvPr id="3" name="Text 1"/>
          <p:cNvSpPr/>
          <p:nvPr/>
        </p:nvSpPr>
        <p:spPr>
          <a:xfrm>
            <a:off x="320040" y="201168"/>
            <a:ext cx="6949440" cy="201168"/>
          </a:xfrm>
          <a:prstGeom prst="rect">
            <a:avLst/>
          </a:prstGeom>
          <a:noFill/>
          <a:ln/>
        </p:spPr>
        <p:txBody>
          <a:bodyPr wrap="square" lIns="0" tIns="0" rIns="0" bIns="0" rtlCol="0" anchor="ctr"/>
          <a:lstStyle/>
          <a:p>
            <a:pPr marL="0" indent="0">
              <a:buNone/>
            </a:pPr>
            <a:r>
              <a:rPr lang="en-US" sz="850" b="1" dirty="0">
                <a:solidFill>
                  <a:srgbClr val="20A7A6"/>
                </a:solidFill>
                <a:latin typeface="Lato" pitchFamily="34" charset="0"/>
                <a:ea typeface="Lato" pitchFamily="34" charset="-122"/>
                <a:cs typeface="Lato" pitchFamily="34" charset="-120"/>
              </a:rPr>
              <a:t>REASONING TO REDUCE BIAS &amp; LEAKAGE</a:t>
            </a:r>
            <a:endParaRPr lang="en-US" sz="850" dirty="0"/>
          </a:p>
        </p:txBody>
      </p:sp>
      <p:sp>
        <p:nvSpPr>
          <p:cNvPr id="4" name="Text 2"/>
          <p:cNvSpPr/>
          <p:nvPr/>
        </p:nvSpPr>
        <p:spPr>
          <a:xfrm>
            <a:off x="11338560" y="182880"/>
            <a:ext cx="502920" cy="182880"/>
          </a:xfrm>
          <a:prstGeom prst="rect">
            <a:avLst/>
          </a:prstGeom>
          <a:noFill/>
          <a:ln/>
        </p:spPr>
        <p:txBody>
          <a:bodyPr wrap="square" lIns="0" tIns="0" rIns="0" bIns="0" rtlCol="0" anchor="ctr"/>
          <a:lstStyle/>
          <a:p>
            <a:pPr marL="0" indent="0" algn="r">
              <a:buNone/>
            </a:pPr>
            <a:r>
              <a:rPr lang="en-US" sz="750" dirty="0">
                <a:solidFill>
                  <a:srgbClr val="6B7280"/>
                </a:solidFill>
                <a:latin typeface="Lato" pitchFamily="34" charset="0"/>
                <a:ea typeface="Lato" pitchFamily="34" charset="-122"/>
                <a:cs typeface="Lato" pitchFamily="34" charset="-120"/>
              </a:rPr>
              <a:t>10/23</a:t>
            </a:r>
            <a:endParaRPr lang="en-US" sz="750" dirty="0"/>
          </a:p>
        </p:txBody>
      </p:sp>
      <p:sp>
        <p:nvSpPr>
          <p:cNvPr id="5" name="Text 3"/>
          <p:cNvSpPr/>
          <p:nvPr/>
        </p:nvSpPr>
        <p:spPr>
          <a:xfrm>
            <a:off x="320040" y="566928"/>
            <a:ext cx="8229600" cy="512064"/>
          </a:xfrm>
          <a:prstGeom prst="rect">
            <a:avLst/>
          </a:prstGeom>
          <a:noFill/>
          <a:ln/>
        </p:spPr>
        <p:txBody>
          <a:bodyPr wrap="square" lIns="0" tIns="0" rIns="0" bIns="0" rtlCol="0" anchor="ctr">
            <a:normAutofit/>
          </a:bodyPr>
          <a:lstStyle/>
          <a:p>
            <a:pPr marL="0" indent="0">
              <a:buNone/>
            </a:pPr>
            <a:r>
              <a:rPr lang="en-US" sz="2700" b="1" dirty="0">
                <a:solidFill>
                  <a:srgbClr val="09243D"/>
                </a:solidFill>
                <a:latin typeface="Lato" pitchFamily="34" charset="0"/>
                <a:ea typeface="Lato" pitchFamily="34" charset="-122"/>
                <a:cs typeface="Lato" pitchFamily="34" charset="-120"/>
              </a:rPr>
              <a:t>Data Cleaning &amp; Feature Engineering</a:t>
            </a:r>
            <a:endParaRPr lang="en-US" sz="2700" dirty="0"/>
          </a:p>
        </p:txBody>
      </p:sp>
      <p:sp>
        <p:nvSpPr>
          <p:cNvPr id="7" name="Shape 5"/>
          <p:cNvSpPr/>
          <p:nvPr/>
        </p:nvSpPr>
        <p:spPr>
          <a:xfrm>
            <a:off x="640080" y="1371600"/>
            <a:ext cx="1097280" cy="603504"/>
          </a:xfrm>
          <a:prstGeom prst="roundRect">
            <a:avLst>
              <a:gd name="adj" fmla="val 7576"/>
            </a:avLst>
          </a:prstGeom>
          <a:solidFill>
            <a:srgbClr val="20A7A6"/>
          </a:solidFill>
          <a:ln w="12700">
            <a:solidFill>
              <a:srgbClr val="20A7A6">
                <a:alpha val="0"/>
              </a:srgbClr>
            </a:solidFill>
            <a:prstDash val="solid"/>
          </a:ln>
        </p:spPr>
      </p:sp>
      <p:sp>
        <p:nvSpPr>
          <p:cNvPr id="8" name="Text 6"/>
          <p:cNvSpPr/>
          <p:nvPr/>
        </p:nvSpPr>
        <p:spPr>
          <a:xfrm>
            <a:off x="676656" y="1444752"/>
            <a:ext cx="1024128" cy="457200"/>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Raw</a:t>
            </a:r>
            <a:endParaRPr lang="en-US" sz="1100" dirty="0"/>
          </a:p>
          <a:p>
            <a:pPr marL="0" indent="0" algn="ctr">
              <a:buNone/>
            </a:pPr>
            <a:r>
              <a:rPr lang="en-US" sz="1100" b="1" dirty="0">
                <a:solidFill>
                  <a:srgbClr val="FFFFFF"/>
                </a:solidFill>
                <a:latin typeface="Lato" pitchFamily="34" charset="0"/>
                <a:ea typeface="Lato" pitchFamily="34" charset="-122"/>
                <a:cs typeface="Lato" pitchFamily="34" charset="-120"/>
              </a:rPr>
              <a:t>data</a:t>
            </a:r>
            <a:endParaRPr lang="en-US" sz="1100" dirty="0"/>
          </a:p>
        </p:txBody>
      </p:sp>
      <p:sp>
        <p:nvSpPr>
          <p:cNvPr id="9" name="Shape 7"/>
          <p:cNvSpPr/>
          <p:nvPr/>
        </p:nvSpPr>
        <p:spPr>
          <a:xfrm>
            <a:off x="1737360" y="1673352"/>
            <a:ext cx="777240" cy="0"/>
          </a:xfrm>
          <a:prstGeom prst="line">
            <a:avLst/>
          </a:prstGeom>
          <a:noFill/>
          <a:ln w="15240">
            <a:solidFill>
              <a:srgbClr val="8096A3"/>
            </a:solidFill>
            <a:prstDash val="solid"/>
            <a:headEnd type="none"/>
            <a:tailEnd type="triangle"/>
          </a:ln>
        </p:spPr>
      </p:sp>
      <p:sp>
        <p:nvSpPr>
          <p:cNvPr id="10" name="Shape 8"/>
          <p:cNvSpPr/>
          <p:nvPr/>
        </p:nvSpPr>
        <p:spPr>
          <a:xfrm>
            <a:off x="2514600" y="1371600"/>
            <a:ext cx="1097280" cy="603504"/>
          </a:xfrm>
          <a:prstGeom prst="roundRect">
            <a:avLst>
              <a:gd name="adj" fmla="val 7576"/>
            </a:avLst>
          </a:prstGeom>
          <a:solidFill>
            <a:srgbClr val="09243D"/>
          </a:solidFill>
          <a:ln w="12700">
            <a:solidFill>
              <a:srgbClr val="09243D">
                <a:alpha val="0"/>
              </a:srgbClr>
            </a:solidFill>
            <a:prstDash val="solid"/>
          </a:ln>
        </p:spPr>
      </p:sp>
      <p:sp>
        <p:nvSpPr>
          <p:cNvPr id="11" name="Text 9"/>
          <p:cNvSpPr/>
          <p:nvPr/>
        </p:nvSpPr>
        <p:spPr>
          <a:xfrm>
            <a:off x="2551176" y="1444752"/>
            <a:ext cx="1024128" cy="457200"/>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Feature</a:t>
            </a:r>
            <a:endParaRPr lang="en-US" sz="1100" dirty="0"/>
          </a:p>
          <a:p>
            <a:pPr marL="0" indent="0" algn="ctr">
              <a:buNone/>
            </a:pPr>
            <a:r>
              <a:rPr lang="en-US" sz="1100" b="1" dirty="0">
                <a:solidFill>
                  <a:srgbClr val="FFFFFF"/>
                </a:solidFill>
                <a:latin typeface="Lato" pitchFamily="34" charset="0"/>
                <a:ea typeface="Lato" pitchFamily="34" charset="-122"/>
                <a:cs typeface="Lato" pitchFamily="34" charset="-120"/>
              </a:rPr>
              <a:t>availability</a:t>
            </a:r>
            <a:endParaRPr lang="en-US" sz="1100" dirty="0"/>
          </a:p>
        </p:txBody>
      </p:sp>
      <p:sp>
        <p:nvSpPr>
          <p:cNvPr id="12" name="Shape 10"/>
          <p:cNvSpPr/>
          <p:nvPr/>
        </p:nvSpPr>
        <p:spPr>
          <a:xfrm>
            <a:off x="3611880" y="1673352"/>
            <a:ext cx="914400" cy="0"/>
          </a:xfrm>
          <a:prstGeom prst="line">
            <a:avLst/>
          </a:prstGeom>
          <a:noFill/>
          <a:ln w="15240">
            <a:solidFill>
              <a:srgbClr val="8096A3"/>
            </a:solidFill>
            <a:prstDash val="solid"/>
            <a:headEnd type="none"/>
            <a:tailEnd type="triangle"/>
          </a:ln>
        </p:spPr>
      </p:sp>
      <p:sp>
        <p:nvSpPr>
          <p:cNvPr id="13" name="Shape 11"/>
          <p:cNvSpPr/>
          <p:nvPr/>
        </p:nvSpPr>
        <p:spPr>
          <a:xfrm>
            <a:off x="4526280" y="1371600"/>
            <a:ext cx="1097280" cy="603504"/>
          </a:xfrm>
          <a:prstGeom prst="roundRect">
            <a:avLst>
              <a:gd name="adj" fmla="val 7576"/>
            </a:avLst>
          </a:prstGeom>
          <a:solidFill>
            <a:srgbClr val="09243D"/>
          </a:solidFill>
          <a:ln w="12700">
            <a:solidFill>
              <a:srgbClr val="09243D">
                <a:alpha val="0"/>
              </a:srgbClr>
            </a:solidFill>
            <a:prstDash val="solid"/>
          </a:ln>
        </p:spPr>
      </p:sp>
      <p:sp>
        <p:nvSpPr>
          <p:cNvPr id="14" name="Text 12"/>
          <p:cNvSpPr/>
          <p:nvPr/>
        </p:nvSpPr>
        <p:spPr>
          <a:xfrm>
            <a:off x="4562856" y="1444752"/>
            <a:ext cx="1024128" cy="457200"/>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Feature</a:t>
            </a:r>
            <a:endParaRPr lang="en-US" sz="1100" dirty="0"/>
          </a:p>
          <a:p>
            <a:pPr marL="0" indent="0" algn="ctr">
              <a:buNone/>
            </a:pPr>
            <a:r>
              <a:rPr lang="en-US" sz="1100" b="1" dirty="0">
                <a:solidFill>
                  <a:srgbClr val="FFFFFF"/>
                </a:solidFill>
                <a:latin typeface="Lato" pitchFamily="34" charset="0"/>
                <a:ea typeface="Lato" pitchFamily="34" charset="-122"/>
                <a:cs typeface="Lato" pitchFamily="34" charset="-120"/>
              </a:rPr>
              <a:t>engineering</a:t>
            </a:r>
            <a:endParaRPr lang="en-US" sz="1100" dirty="0"/>
          </a:p>
        </p:txBody>
      </p:sp>
      <p:sp>
        <p:nvSpPr>
          <p:cNvPr id="15" name="Shape 13"/>
          <p:cNvSpPr/>
          <p:nvPr/>
        </p:nvSpPr>
        <p:spPr>
          <a:xfrm>
            <a:off x="5623560" y="1673352"/>
            <a:ext cx="960120" cy="0"/>
          </a:xfrm>
          <a:prstGeom prst="line">
            <a:avLst/>
          </a:prstGeom>
          <a:noFill/>
          <a:ln w="15240">
            <a:solidFill>
              <a:srgbClr val="8096A3"/>
            </a:solidFill>
            <a:prstDash val="solid"/>
            <a:headEnd type="none"/>
            <a:tailEnd type="triangle"/>
          </a:ln>
        </p:spPr>
      </p:sp>
      <p:sp>
        <p:nvSpPr>
          <p:cNvPr id="16" name="Shape 14"/>
          <p:cNvSpPr/>
          <p:nvPr/>
        </p:nvSpPr>
        <p:spPr>
          <a:xfrm>
            <a:off x="6583680" y="1371600"/>
            <a:ext cx="1097280" cy="603504"/>
          </a:xfrm>
          <a:prstGeom prst="roundRect">
            <a:avLst>
              <a:gd name="adj" fmla="val 7576"/>
            </a:avLst>
          </a:prstGeom>
          <a:solidFill>
            <a:srgbClr val="09243D"/>
          </a:solidFill>
          <a:ln w="12700">
            <a:solidFill>
              <a:srgbClr val="09243D">
                <a:alpha val="0"/>
              </a:srgbClr>
            </a:solidFill>
            <a:prstDash val="solid"/>
          </a:ln>
        </p:spPr>
      </p:sp>
      <p:sp>
        <p:nvSpPr>
          <p:cNvPr id="17" name="Text 15"/>
          <p:cNvSpPr/>
          <p:nvPr/>
        </p:nvSpPr>
        <p:spPr>
          <a:xfrm>
            <a:off x="6620256" y="1444752"/>
            <a:ext cx="1024128" cy="457200"/>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Preprocess</a:t>
            </a:r>
            <a:endParaRPr lang="en-US" sz="1100" dirty="0"/>
          </a:p>
        </p:txBody>
      </p:sp>
      <p:sp>
        <p:nvSpPr>
          <p:cNvPr id="18" name="Shape 16"/>
          <p:cNvSpPr/>
          <p:nvPr/>
        </p:nvSpPr>
        <p:spPr>
          <a:xfrm>
            <a:off x="7680960" y="1673352"/>
            <a:ext cx="777240" cy="0"/>
          </a:xfrm>
          <a:prstGeom prst="line">
            <a:avLst/>
          </a:prstGeom>
          <a:noFill/>
          <a:ln w="15240">
            <a:solidFill>
              <a:srgbClr val="8096A3"/>
            </a:solidFill>
            <a:prstDash val="solid"/>
            <a:headEnd type="none"/>
            <a:tailEnd type="triangle"/>
          </a:ln>
        </p:spPr>
      </p:sp>
      <p:sp>
        <p:nvSpPr>
          <p:cNvPr id="19" name="Shape 17"/>
          <p:cNvSpPr/>
          <p:nvPr/>
        </p:nvSpPr>
        <p:spPr>
          <a:xfrm>
            <a:off x="8458200" y="1371600"/>
            <a:ext cx="1097280" cy="603504"/>
          </a:xfrm>
          <a:prstGeom prst="roundRect">
            <a:avLst>
              <a:gd name="adj" fmla="val 7576"/>
            </a:avLst>
          </a:prstGeom>
          <a:solidFill>
            <a:srgbClr val="F5A33B"/>
          </a:solidFill>
          <a:ln w="12700">
            <a:solidFill>
              <a:srgbClr val="F5A33B">
                <a:alpha val="0"/>
              </a:srgbClr>
            </a:solidFill>
            <a:prstDash val="solid"/>
          </a:ln>
        </p:spPr>
      </p:sp>
      <p:sp>
        <p:nvSpPr>
          <p:cNvPr id="20" name="Text 18"/>
          <p:cNvSpPr/>
          <p:nvPr/>
        </p:nvSpPr>
        <p:spPr>
          <a:xfrm>
            <a:off x="8494776" y="1444752"/>
            <a:ext cx="1024128" cy="457200"/>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Model-ready</a:t>
            </a:r>
            <a:endParaRPr lang="en-US" sz="1100" dirty="0"/>
          </a:p>
          <a:p>
            <a:pPr marL="0" indent="0" algn="ctr">
              <a:buNone/>
            </a:pPr>
            <a:r>
              <a:rPr lang="en-US" sz="1100" b="1" dirty="0">
                <a:solidFill>
                  <a:srgbClr val="FFFFFF"/>
                </a:solidFill>
                <a:latin typeface="Lato" pitchFamily="34" charset="0"/>
                <a:ea typeface="Lato" pitchFamily="34" charset="-122"/>
                <a:cs typeface="Lato" pitchFamily="34" charset="-120"/>
              </a:rPr>
              <a:t>matrix</a:t>
            </a:r>
            <a:endParaRPr lang="en-US" sz="1100" dirty="0"/>
          </a:p>
        </p:txBody>
      </p:sp>
      <p:sp>
        <p:nvSpPr>
          <p:cNvPr id="21" name="Shape 19"/>
          <p:cNvSpPr/>
          <p:nvPr/>
        </p:nvSpPr>
        <p:spPr>
          <a:xfrm>
            <a:off x="594360" y="2560320"/>
            <a:ext cx="2423160" cy="868680"/>
          </a:xfrm>
          <a:prstGeom prst="roundRect">
            <a:avLst>
              <a:gd name="adj" fmla="val 5263"/>
            </a:avLst>
          </a:prstGeom>
          <a:solidFill>
            <a:srgbClr val="F4F8FA"/>
          </a:solidFill>
          <a:ln w="7620">
            <a:solidFill>
              <a:srgbClr val="D7E4EA"/>
            </a:solidFill>
            <a:prstDash val="solid"/>
          </a:ln>
        </p:spPr>
      </p:sp>
      <p:sp>
        <p:nvSpPr>
          <p:cNvPr id="22" name="Shape 20"/>
          <p:cNvSpPr/>
          <p:nvPr/>
        </p:nvSpPr>
        <p:spPr>
          <a:xfrm>
            <a:off x="594360" y="2560320"/>
            <a:ext cx="73152" cy="868680"/>
          </a:xfrm>
          <a:prstGeom prst="rect">
            <a:avLst/>
          </a:prstGeom>
          <a:solidFill>
            <a:srgbClr val="F5A33B"/>
          </a:solidFill>
          <a:ln w="12700">
            <a:solidFill>
              <a:srgbClr val="F5A33B">
                <a:alpha val="0"/>
              </a:srgbClr>
            </a:solidFill>
            <a:prstDash val="solid"/>
          </a:ln>
        </p:spPr>
      </p:sp>
      <p:sp>
        <p:nvSpPr>
          <p:cNvPr id="23" name="Text 21"/>
          <p:cNvSpPr/>
          <p:nvPr/>
        </p:nvSpPr>
        <p:spPr>
          <a:xfrm>
            <a:off x="758952" y="2688336"/>
            <a:ext cx="218541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Exclude</a:t>
            </a:r>
            <a:endParaRPr lang="en-US" sz="1250" dirty="0"/>
          </a:p>
        </p:txBody>
      </p:sp>
      <p:sp>
        <p:nvSpPr>
          <p:cNvPr id="24" name="Text 22"/>
          <p:cNvSpPr/>
          <p:nvPr/>
        </p:nvSpPr>
        <p:spPr>
          <a:xfrm>
            <a:off x="758952" y="2999232"/>
            <a:ext cx="2167128" cy="356616"/>
          </a:xfrm>
          <a:prstGeom prst="rect">
            <a:avLst/>
          </a:prstGeom>
          <a:noFill/>
          <a:ln/>
        </p:spPr>
        <p:txBody>
          <a:bodyPr wrap="square" lIns="0" tIns="0" rIns="0" bIns="0" rtlCol="0" anchor="ctr">
            <a:normAutofit fontScale="92500"/>
          </a:bodyPr>
          <a:lstStyle/>
          <a:p>
            <a:pPr marL="0" indent="0">
              <a:buNone/>
            </a:pPr>
            <a:r>
              <a:rPr lang="en-US" sz="1100" dirty="0">
                <a:solidFill>
                  <a:srgbClr val="152238"/>
                </a:solidFill>
                <a:latin typeface="Lato" pitchFamily="34" charset="0"/>
                <a:ea typeface="Lato" pitchFamily="34" charset="-122"/>
                <a:cs typeface="Lato" pitchFamily="34" charset="-120"/>
              </a:rPr>
              <a:t>`duration` is post-contact leakage; not available before contact finishes.</a:t>
            </a:r>
            <a:endParaRPr lang="en-US" sz="1100" dirty="0"/>
          </a:p>
        </p:txBody>
      </p:sp>
      <p:sp>
        <p:nvSpPr>
          <p:cNvPr id="25" name="Shape 23"/>
          <p:cNvSpPr/>
          <p:nvPr/>
        </p:nvSpPr>
        <p:spPr>
          <a:xfrm>
            <a:off x="3337560" y="2560320"/>
            <a:ext cx="2423160" cy="868680"/>
          </a:xfrm>
          <a:prstGeom prst="roundRect">
            <a:avLst>
              <a:gd name="adj" fmla="val 5263"/>
            </a:avLst>
          </a:prstGeom>
          <a:solidFill>
            <a:srgbClr val="F4F8FA"/>
          </a:solidFill>
          <a:ln w="7620">
            <a:solidFill>
              <a:srgbClr val="D7E4EA"/>
            </a:solidFill>
            <a:prstDash val="solid"/>
          </a:ln>
        </p:spPr>
      </p:sp>
      <p:sp>
        <p:nvSpPr>
          <p:cNvPr id="26" name="Shape 24"/>
          <p:cNvSpPr/>
          <p:nvPr/>
        </p:nvSpPr>
        <p:spPr>
          <a:xfrm>
            <a:off x="3337560" y="2560320"/>
            <a:ext cx="73152" cy="868680"/>
          </a:xfrm>
          <a:prstGeom prst="rect">
            <a:avLst/>
          </a:prstGeom>
          <a:solidFill>
            <a:srgbClr val="20A7A6"/>
          </a:solidFill>
          <a:ln w="12700">
            <a:solidFill>
              <a:srgbClr val="20A7A6">
                <a:alpha val="0"/>
              </a:srgbClr>
            </a:solidFill>
            <a:prstDash val="solid"/>
          </a:ln>
        </p:spPr>
      </p:sp>
      <p:sp>
        <p:nvSpPr>
          <p:cNvPr id="27" name="Text 25"/>
          <p:cNvSpPr/>
          <p:nvPr/>
        </p:nvSpPr>
        <p:spPr>
          <a:xfrm>
            <a:off x="3502152" y="2688336"/>
            <a:ext cx="218541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Engineer</a:t>
            </a:r>
            <a:endParaRPr lang="en-US" sz="1250" dirty="0"/>
          </a:p>
        </p:txBody>
      </p:sp>
      <p:sp>
        <p:nvSpPr>
          <p:cNvPr id="28" name="Text 26"/>
          <p:cNvSpPr/>
          <p:nvPr/>
        </p:nvSpPr>
        <p:spPr>
          <a:xfrm>
            <a:off x="3502152" y="2999232"/>
            <a:ext cx="2167128" cy="356616"/>
          </a:xfrm>
          <a:prstGeom prst="rect">
            <a:avLst/>
          </a:prstGeom>
          <a:noFill/>
          <a:ln/>
        </p:spPr>
        <p:txBody>
          <a:bodyPr wrap="square" lIns="0" tIns="0" rIns="0" bIns="0" rtlCol="0" anchor="ctr">
            <a:normAutofit fontScale="85000" lnSpcReduction="20000"/>
          </a:bodyPr>
          <a:lstStyle/>
          <a:p>
            <a:pPr marL="0" indent="0">
              <a:buNone/>
            </a:pPr>
            <a:r>
              <a:rPr lang="en-US" sz="1100" dirty="0">
                <a:solidFill>
                  <a:srgbClr val="152238"/>
                </a:solidFill>
                <a:latin typeface="Lato" pitchFamily="34" charset="0"/>
                <a:ea typeface="Lato" pitchFamily="34" charset="-122"/>
                <a:cs typeface="Lato" pitchFamily="34" charset="-120"/>
              </a:rPr>
              <a:t>`pdays = 999` means no previous contact; transformed into previous-contact information.</a:t>
            </a:r>
            <a:endParaRPr lang="en-US" sz="1100" dirty="0"/>
          </a:p>
        </p:txBody>
      </p:sp>
      <p:sp>
        <p:nvSpPr>
          <p:cNvPr id="29" name="Shape 27"/>
          <p:cNvSpPr/>
          <p:nvPr/>
        </p:nvSpPr>
        <p:spPr>
          <a:xfrm>
            <a:off x="6080760" y="2560320"/>
            <a:ext cx="2423160" cy="868680"/>
          </a:xfrm>
          <a:prstGeom prst="roundRect">
            <a:avLst>
              <a:gd name="adj" fmla="val 5263"/>
            </a:avLst>
          </a:prstGeom>
          <a:solidFill>
            <a:srgbClr val="F4F8FA"/>
          </a:solidFill>
          <a:ln w="7620">
            <a:solidFill>
              <a:srgbClr val="D7E4EA"/>
            </a:solidFill>
            <a:prstDash val="solid"/>
          </a:ln>
        </p:spPr>
      </p:sp>
      <p:sp>
        <p:nvSpPr>
          <p:cNvPr id="30" name="Shape 28"/>
          <p:cNvSpPr/>
          <p:nvPr/>
        </p:nvSpPr>
        <p:spPr>
          <a:xfrm>
            <a:off x="6080760" y="2560320"/>
            <a:ext cx="73152" cy="868680"/>
          </a:xfrm>
          <a:prstGeom prst="rect">
            <a:avLst/>
          </a:prstGeom>
          <a:solidFill>
            <a:srgbClr val="09243D"/>
          </a:solidFill>
          <a:ln w="12700">
            <a:solidFill>
              <a:srgbClr val="09243D">
                <a:alpha val="0"/>
              </a:srgbClr>
            </a:solidFill>
            <a:prstDash val="solid"/>
          </a:ln>
        </p:spPr>
      </p:sp>
      <p:sp>
        <p:nvSpPr>
          <p:cNvPr id="31" name="Text 29"/>
          <p:cNvSpPr/>
          <p:nvPr/>
        </p:nvSpPr>
        <p:spPr>
          <a:xfrm>
            <a:off x="6245352" y="2688336"/>
            <a:ext cx="218541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Retain</a:t>
            </a:r>
            <a:endParaRPr lang="en-US" sz="1250" dirty="0"/>
          </a:p>
        </p:txBody>
      </p:sp>
      <p:sp>
        <p:nvSpPr>
          <p:cNvPr id="32" name="Text 30"/>
          <p:cNvSpPr/>
          <p:nvPr/>
        </p:nvSpPr>
        <p:spPr>
          <a:xfrm>
            <a:off x="6245352" y="2999232"/>
            <a:ext cx="2167128" cy="356616"/>
          </a:xfrm>
          <a:prstGeom prst="rect">
            <a:avLst/>
          </a:prstGeom>
          <a:noFill/>
          <a:ln/>
        </p:spPr>
        <p:txBody>
          <a:bodyPr wrap="square" lIns="0" tIns="0" rIns="0" bIns="0" rtlCol="0" anchor="ctr">
            <a:normAutofit fontScale="85000" lnSpcReduction="20000"/>
          </a:bodyPr>
          <a:lstStyle/>
          <a:p>
            <a:pPr marL="0" indent="0">
              <a:buNone/>
            </a:pPr>
            <a:r>
              <a:rPr lang="en-US" sz="1100" dirty="0">
                <a:solidFill>
                  <a:srgbClr val="152238"/>
                </a:solidFill>
                <a:latin typeface="Lato" pitchFamily="34" charset="0"/>
                <a:ea typeface="Lato" pitchFamily="34" charset="-122"/>
                <a:cs typeface="Lato" pitchFamily="34" charset="-120"/>
              </a:rPr>
              <a:t>`unknown` and `nonexistent` have semantic / structural meaning; not ordinary NaN.</a:t>
            </a:r>
            <a:endParaRPr lang="en-US" sz="1100" dirty="0"/>
          </a:p>
        </p:txBody>
      </p:sp>
      <p:sp>
        <p:nvSpPr>
          <p:cNvPr id="33" name="Shape 31"/>
          <p:cNvSpPr/>
          <p:nvPr/>
        </p:nvSpPr>
        <p:spPr>
          <a:xfrm>
            <a:off x="8823960" y="2560320"/>
            <a:ext cx="2423160" cy="868680"/>
          </a:xfrm>
          <a:prstGeom prst="roundRect">
            <a:avLst>
              <a:gd name="adj" fmla="val 5263"/>
            </a:avLst>
          </a:prstGeom>
          <a:solidFill>
            <a:srgbClr val="F4F8FA"/>
          </a:solidFill>
          <a:ln w="7620">
            <a:solidFill>
              <a:srgbClr val="D7E4EA"/>
            </a:solidFill>
            <a:prstDash val="solid"/>
          </a:ln>
        </p:spPr>
      </p:sp>
      <p:sp>
        <p:nvSpPr>
          <p:cNvPr id="34" name="Shape 32"/>
          <p:cNvSpPr/>
          <p:nvPr/>
        </p:nvSpPr>
        <p:spPr>
          <a:xfrm>
            <a:off x="8823960" y="2560320"/>
            <a:ext cx="73152" cy="868680"/>
          </a:xfrm>
          <a:prstGeom prst="rect">
            <a:avLst/>
          </a:prstGeom>
          <a:solidFill>
            <a:srgbClr val="20A7A6"/>
          </a:solidFill>
          <a:ln w="12700">
            <a:solidFill>
              <a:srgbClr val="20A7A6">
                <a:alpha val="0"/>
              </a:srgbClr>
            </a:solidFill>
            <a:prstDash val="solid"/>
          </a:ln>
        </p:spPr>
      </p:sp>
      <p:sp>
        <p:nvSpPr>
          <p:cNvPr id="35" name="Text 33"/>
          <p:cNvSpPr/>
          <p:nvPr/>
        </p:nvSpPr>
        <p:spPr>
          <a:xfrm>
            <a:off x="8988552" y="2688336"/>
            <a:ext cx="218541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Encode &amp; Scale</a:t>
            </a:r>
            <a:endParaRPr lang="en-US" sz="1250" dirty="0"/>
          </a:p>
        </p:txBody>
      </p:sp>
      <p:sp>
        <p:nvSpPr>
          <p:cNvPr id="36" name="Text 34"/>
          <p:cNvSpPr/>
          <p:nvPr/>
        </p:nvSpPr>
        <p:spPr>
          <a:xfrm>
            <a:off x="8988552" y="2999232"/>
            <a:ext cx="2167128" cy="356616"/>
          </a:xfrm>
          <a:prstGeom prst="rect">
            <a:avLst/>
          </a:prstGeom>
          <a:noFill/>
          <a:ln/>
        </p:spPr>
        <p:txBody>
          <a:bodyPr wrap="square" lIns="0" tIns="0" rIns="0" bIns="0" rtlCol="0" anchor="ctr">
            <a:normAutofit fontScale="85000" lnSpcReduction="10000"/>
          </a:bodyPr>
          <a:lstStyle/>
          <a:p>
            <a:pPr marL="0" indent="0">
              <a:buNone/>
            </a:pPr>
            <a:r>
              <a:rPr lang="en-US" sz="1080" dirty="0">
                <a:solidFill>
                  <a:srgbClr val="152238"/>
                </a:solidFill>
                <a:latin typeface="Lato" pitchFamily="34" charset="0"/>
                <a:ea typeface="Lato" pitchFamily="34" charset="-122"/>
                <a:cs typeface="Lato" pitchFamily="34" charset="-120"/>
              </a:rPr>
              <a:t>OHE/Binary encoding; Robust/Standard scaler based on distribution and cardinality.</a:t>
            </a:r>
            <a:endParaRPr lang="en-US" sz="1080" dirty="0"/>
          </a:p>
        </p:txBody>
      </p:sp>
      <p:sp>
        <p:nvSpPr>
          <p:cNvPr id="37" name="Shape 3">
            <a:extLst>
              <a:ext uri="{FF2B5EF4-FFF2-40B4-BE49-F238E27FC236}">
                <a16:creationId xmlns:a16="http://schemas.microsoft.com/office/drawing/2014/main" id="{CA4E4E3A-C48F-CD12-0216-1AE4ECBD2BF7}"/>
              </a:ext>
            </a:extLst>
          </p:cNvPr>
          <p:cNvSpPr/>
          <p:nvPr/>
        </p:nvSpPr>
        <p:spPr>
          <a:xfrm>
            <a:off x="292608" y="1051560"/>
            <a:ext cx="1572768" cy="27432"/>
          </a:xfrm>
          <a:prstGeom prst="rect">
            <a:avLst/>
          </a:prstGeom>
          <a:solidFill>
            <a:srgbClr val="F4A340"/>
          </a:solidFill>
          <a:ln w="12700">
            <a:solidFill>
              <a:srgbClr val="F4A340"/>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09243D"/>
          </a:solidFill>
          <a:ln w="12700">
            <a:solidFill>
              <a:srgbClr val="09243D">
                <a:alpha val="0"/>
              </a:srgbClr>
            </a:solidFill>
            <a:prstDash val="solid"/>
          </a:ln>
        </p:spPr>
      </p:sp>
      <p:sp>
        <p:nvSpPr>
          <p:cNvPr id="3" name="Text 1"/>
          <p:cNvSpPr/>
          <p:nvPr/>
        </p:nvSpPr>
        <p:spPr>
          <a:xfrm>
            <a:off x="320040" y="201168"/>
            <a:ext cx="6949440" cy="201168"/>
          </a:xfrm>
          <a:prstGeom prst="rect">
            <a:avLst/>
          </a:prstGeom>
          <a:noFill/>
          <a:ln/>
        </p:spPr>
        <p:txBody>
          <a:bodyPr wrap="square" lIns="0" tIns="0" rIns="0" bIns="0" rtlCol="0" anchor="ctr"/>
          <a:lstStyle/>
          <a:p>
            <a:pPr marL="0" indent="0">
              <a:buNone/>
            </a:pPr>
            <a:r>
              <a:rPr lang="en-US" sz="850" b="1" dirty="0">
                <a:solidFill>
                  <a:srgbClr val="20A7A6"/>
                </a:solidFill>
                <a:latin typeface="Lato" pitchFamily="34" charset="0"/>
                <a:ea typeface="Lato" pitchFamily="34" charset="-122"/>
                <a:cs typeface="Lato" pitchFamily="34" charset="-120"/>
              </a:rPr>
              <a:t>EDA: FEATURE VS TARGET</a:t>
            </a:r>
            <a:endParaRPr lang="en-US" sz="850" dirty="0"/>
          </a:p>
        </p:txBody>
      </p:sp>
      <p:sp>
        <p:nvSpPr>
          <p:cNvPr id="4" name="Text 2"/>
          <p:cNvSpPr/>
          <p:nvPr/>
        </p:nvSpPr>
        <p:spPr>
          <a:xfrm>
            <a:off x="11338560" y="182880"/>
            <a:ext cx="502920" cy="182880"/>
          </a:xfrm>
          <a:prstGeom prst="rect">
            <a:avLst/>
          </a:prstGeom>
          <a:noFill/>
          <a:ln/>
        </p:spPr>
        <p:txBody>
          <a:bodyPr wrap="square" lIns="0" tIns="0" rIns="0" bIns="0" rtlCol="0" anchor="ctr"/>
          <a:lstStyle/>
          <a:p>
            <a:pPr marL="0" indent="0" algn="r">
              <a:buNone/>
            </a:pPr>
            <a:r>
              <a:rPr lang="en-US" sz="750" dirty="0">
                <a:solidFill>
                  <a:srgbClr val="6B7280"/>
                </a:solidFill>
                <a:latin typeface="Lato" pitchFamily="34" charset="0"/>
                <a:ea typeface="Lato" pitchFamily="34" charset="-122"/>
                <a:cs typeface="Lato" pitchFamily="34" charset="-120"/>
              </a:rPr>
              <a:t>11/23</a:t>
            </a:r>
            <a:endParaRPr lang="en-US" sz="750" dirty="0"/>
          </a:p>
        </p:txBody>
      </p:sp>
      <p:sp>
        <p:nvSpPr>
          <p:cNvPr id="5" name="Text 3"/>
          <p:cNvSpPr/>
          <p:nvPr/>
        </p:nvSpPr>
        <p:spPr>
          <a:xfrm>
            <a:off x="320040" y="566928"/>
            <a:ext cx="8229600" cy="512064"/>
          </a:xfrm>
          <a:prstGeom prst="rect">
            <a:avLst/>
          </a:prstGeom>
          <a:noFill/>
          <a:ln/>
        </p:spPr>
        <p:txBody>
          <a:bodyPr wrap="square" lIns="0" tIns="0" rIns="0" bIns="0" rtlCol="0" anchor="ctr">
            <a:normAutofit/>
          </a:bodyPr>
          <a:lstStyle/>
          <a:p>
            <a:pPr marL="0" indent="0">
              <a:buNone/>
            </a:pPr>
            <a:r>
              <a:rPr lang="en-US" sz="2700" b="1" dirty="0">
                <a:solidFill>
                  <a:srgbClr val="09243D"/>
                </a:solidFill>
                <a:latin typeface="Lato" pitchFamily="34" charset="0"/>
                <a:ea typeface="Lato" pitchFamily="34" charset="-122"/>
                <a:cs typeface="Lato" pitchFamily="34" charset="-120"/>
              </a:rPr>
              <a:t>Previous Success Is the Strongest Signal</a:t>
            </a:r>
            <a:endParaRPr lang="en-US" sz="2700" dirty="0"/>
          </a:p>
        </p:txBody>
      </p:sp>
      <p:sp>
        <p:nvSpPr>
          <p:cNvPr id="7" name="Text 5"/>
          <p:cNvSpPr/>
          <p:nvPr/>
        </p:nvSpPr>
        <p:spPr>
          <a:xfrm>
            <a:off x="502920" y="1234440"/>
            <a:ext cx="4023360" cy="2057400"/>
          </a:xfrm>
          <a:prstGeom prst="rect">
            <a:avLst/>
          </a:prstGeom>
          <a:noFill/>
          <a:ln/>
        </p:spPr>
        <p:txBody>
          <a:bodyPr wrap="square" lIns="762" tIns="762" rIns="762" bIns="762" rtlCol="0" anchor="t">
            <a:normAutofit/>
          </a:bodyPr>
          <a:lstStyle/>
          <a:p>
            <a:pPr marL="0" indent="0">
              <a:buNone/>
            </a:pPr>
            <a:r>
              <a:rPr lang="en-US" sz="1450" dirty="0">
                <a:solidFill>
                  <a:srgbClr val="152238"/>
                </a:solidFill>
                <a:latin typeface="Lato" pitchFamily="34" charset="0"/>
                <a:ea typeface="Lato" pitchFamily="34" charset="-122"/>
                <a:cs typeface="Lato" pitchFamily="34" charset="-120"/>
              </a:rPr>
              <a:t>Previous campaign success has 65.11% subscription rate.</a:t>
            </a:r>
            <a:endParaRPr lang="en-US" sz="1450" dirty="0"/>
          </a:p>
          <a:p>
            <a:pPr marL="0" indent="0">
              <a:buNone/>
            </a:pPr>
            <a:r>
              <a:rPr lang="en-US" sz="1450" dirty="0">
                <a:solidFill>
                  <a:srgbClr val="152238"/>
                </a:solidFill>
                <a:latin typeface="Lato" pitchFamily="34" charset="0"/>
                <a:ea typeface="Lato" pitchFamily="34" charset="-122"/>
                <a:cs typeface="Lato" pitchFamily="34" charset="-120"/>
              </a:rPr>
              <a:t>Cellular contact shows higher rate than telephone contact.</a:t>
            </a:r>
            <a:endParaRPr lang="en-US" sz="1450" dirty="0"/>
          </a:p>
          <a:p>
            <a:pPr marL="0" indent="0">
              <a:buNone/>
            </a:pPr>
            <a:r>
              <a:rPr lang="en-US" sz="1450" dirty="0">
                <a:solidFill>
                  <a:srgbClr val="152238"/>
                </a:solidFill>
                <a:latin typeface="Lato" pitchFamily="34" charset="0"/>
                <a:ea typeface="Lato" pitchFamily="34" charset="-122"/>
                <a:cs typeface="Lato" pitchFamily="34" charset="-120"/>
              </a:rPr>
              <a:t>Repeated contacts do not show higher historical subscription rate.</a:t>
            </a:r>
            <a:endParaRPr lang="en-US" sz="1450" dirty="0"/>
          </a:p>
          <a:p>
            <a:pPr marL="0" indent="0">
              <a:buNone/>
            </a:pPr>
            <a:r>
              <a:rPr lang="en-US" sz="1450" dirty="0">
                <a:solidFill>
                  <a:srgbClr val="152238"/>
                </a:solidFill>
                <a:latin typeface="Lato" pitchFamily="34" charset="0"/>
                <a:ea typeface="Lato" pitchFamily="34" charset="-122"/>
                <a:cs typeface="Lato" pitchFamily="34" charset="-120"/>
              </a:rPr>
              <a:t>Patterns are descriptive associations, not causal rules.</a:t>
            </a:r>
            <a:endParaRPr lang="en-US" sz="1450" dirty="0"/>
          </a:p>
        </p:txBody>
      </p:sp>
      <p:pic>
        <p:nvPicPr>
          <p:cNvPr id="8" name="Image 0" descr="/mnt/data/bank_presentation_assets/key_signal_rates.png"/>
          <p:cNvPicPr>
            <a:picLocks noChangeAspect="1"/>
          </p:cNvPicPr>
          <p:nvPr/>
        </p:nvPicPr>
        <p:blipFill>
          <a:blip r:embed="rId3"/>
          <a:stretch>
            <a:fillRect/>
          </a:stretch>
        </p:blipFill>
        <p:spPr>
          <a:xfrm>
            <a:off x="4572000" y="1247140"/>
            <a:ext cx="6126480" cy="3403600"/>
          </a:xfrm>
          <a:prstGeom prst="rect">
            <a:avLst/>
          </a:prstGeom>
        </p:spPr>
      </p:pic>
      <p:sp>
        <p:nvSpPr>
          <p:cNvPr id="9" name="Shape 6"/>
          <p:cNvSpPr/>
          <p:nvPr/>
        </p:nvSpPr>
        <p:spPr>
          <a:xfrm>
            <a:off x="594360" y="4983480"/>
            <a:ext cx="4846320" cy="640080"/>
          </a:xfrm>
          <a:prstGeom prst="roundRect">
            <a:avLst>
              <a:gd name="adj" fmla="val 7143"/>
            </a:avLst>
          </a:prstGeom>
          <a:solidFill>
            <a:srgbClr val="F4F8FA"/>
          </a:solidFill>
          <a:ln w="7620">
            <a:solidFill>
              <a:srgbClr val="D7E4EA"/>
            </a:solidFill>
            <a:prstDash val="solid"/>
          </a:ln>
        </p:spPr>
      </p:sp>
      <p:sp>
        <p:nvSpPr>
          <p:cNvPr id="10" name="Shape 7"/>
          <p:cNvSpPr/>
          <p:nvPr/>
        </p:nvSpPr>
        <p:spPr>
          <a:xfrm>
            <a:off x="594360" y="4983480"/>
            <a:ext cx="73152" cy="640080"/>
          </a:xfrm>
          <a:prstGeom prst="rect">
            <a:avLst/>
          </a:prstGeom>
          <a:solidFill>
            <a:srgbClr val="F5A33B"/>
          </a:solidFill>
          <a:ln w="12700">
            <a:solidFill>
              <a:srgbClr val="F5A33B">
                <a:alpha val="0"/>
              </a:srgbClr>
            </a:solidFill>
            <a:prstDash val="solid"/>
          </a:ln>
        </p:spPr>
      </p:sp>
      <p:sp>
        <p:nvSpPr>
          <p:cNvPr id="11" name="Text 8"/>
          <p:cNvSpPr/>
          <p:nvPr/>
        </p:nvSpPr>
        <p:spPr>
          <a:xfrm>
            <a:off x="758952" y="5111496"/>
            <a:ext cx="460857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Business cue</a:t>
            </a:r>
            <a:endParaRPr lang="en-US" sz="1250" dirty="0"/>
          </a:p>
        </p:txBody>
      </p:sp>
      <p:sp>
        <p:nvSpPr>
          <p:cNvPr id="12" name="Text 9"/>
          <p:cNvSpPr/>
          <p:nvPr/>
        </p:nvSpPr>
        <p:spPr>
          <a:xfrm>
            <a:off x="758952" y="5422392"/>
            <a:ext cx="4590288" cy="128016"/>
          </a:xfrm>
          <a:prstGeom prst="rect">
            <a:avLst/>
          </a:prstGeom>
          <a:noFill/>
          <a:ln/>
        </p:spPr>
        <p:txBody>
          <a:bodyPr wrap="square" lIns="0" tIns="0" rIns="0" bIns="0" rtlCol="0" anchor="ctr">
            <a:normAutofit fontScale="70000" lnSpcReduction="20000"/>
          </a:bodyPr>
          <a:lstStyle/>
          <a:p>
            <a:pPr marL="0" indent="0">
              <a:buNone/>
            </a:pPr>
            <a:r>
              <a:rPr lang="en-US" sz="1150" dirty="0">
                <a:solidFill>
                  <a:srgbClr val="152238"/>
                </a:solidFill>
                <a:latin typeface="Lato" pitchFamily="34" charset="0"/>
                <a:ea typeface="Lato" pitchFamily="34" charset="-122"/>
                <a:cs typeface="Lato" pitchFamily="34" charset="-120"/>
              </a:rPr>
              <a:t>Use previous response and contact history as supporting context, not standalone targeting rules.</a:t>
            </a:r>
            <a:endParaRPr lang="en-US" sz="1150" dirty="0"/>
          </a:p>
        </p:txBody>
      </p:sp>
      <p:sp>
        <p:nvSpPr>
          <p:cNvPr id="13" name="Shape 3">
            <a:extLst>
              <a:ext uri="{FF2B5EF4-FFF2-40B4-BE49-F238E27FC236}">
                <a16:creationId xmlns:a16="http://schemas.microsoft.com/office/drawing/2014/main" id="{06379F56-67F8-5B7C-A338-814B469DE45E}"/>
              </a:ext>
            </a:extLst>
          </p:cNvPr>
          <p:cNvSpPr/>
          <p:nvPr/>
        </p:nvSpPr>
        <p:spPr>
          <a:xfrm>
            <a:off x="292608" y="1051560"/>
            <a:ext cx="1572768" cy="27432"/>
          </a:xfrm>
          <a:prstGeom prst="rect">
            <a:avLst/>
          </a:prstGeom>
          <a:solidFill>
            <a:srgbClr val="F4A340"/>
          </a:solidFill>
          <a:ln w="12700">
            <a:solidFill>
              <a:srgbClr val="F4A340"/>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09243D"/>
          </a:solidFill>
          <a:ln w="12700">
            <a:solidFill>
              <a:srgbClr val="09243D">
                <a:alpha val="0"/>
              </a:srgbClr>
            </a:solidFill>
            <a:prstDash val="solid"/>
          </a:ln>
        </p:spPr>
      </p:sp>
      <p:sp>
        <p:nvSpPr>
          <p:cNvPr id="3" name="Text 1"/>
          <p:cNvSpPr/>
          <p:nvPr/>
        </p:nvSpPr>
        <p:spPr>
          <a:xfrm>
            <a:off x="320040" y="201168"/>
            <a:ext cx="6949440" cy="201168"/>
          </a:xfrm>
          <a:prstGeom prst="rect">
            <a:avLst/>
          </a:prstGeom>
          <a:noFill/>
          <a:ln/>
        </p:spPr>
        <p:txBody>
          <a:bodyPr wrap="square" lIns="0" tIns="0" rIns="0" bIns="0" rtlCol="0" anchor="ctr"/>
          <a:lstStyle/>
          <a:p>
            <a:pPr marL="0" indent="0">
              <a:buNone/>
            </a:pPr>
            <a:r>
              <a:rPr lang="en-US" sz="850" b="1" dirty="0">
                <a:solidFill>
                  <a:srgbClr val="20A7A6"/>
                </a:solidFill>
                <a:latin typeface="Lato" pitchFamily="34" charset="0"/>
                <a:ea typeface="Lato" pitchFamily="34" charset="-122"/>
                <a:cs typeface="Lato" pitchFamily="34" charset="-120"/>
              </a:rPr>
              <a:t>EDA: MULTIVARIATE RELATIONSHIP</a:t>
            </a:r>
            <a:endParaRPr lang="en-US" sz="850" dirty="0"/>
          </a:p>
        </p:txBody>
      </p:sp>
      <p:sp>
        <p:nvSpPr>
          <p:cNvPr id="4" name="Text 2"/>
          <p:cNvSpPr/>
          <p:nvPr/>
        </p:nvSpPr>
        <p:spPr>
          <a:xfrm>
            <a:off x="11338560" y="182880"/>
            <a:ext cx="502920" cy="182880"/>
          </a:xfrm>
          <a:prstGeom prst="rect">
            <a:avLst/>
          </a:prstGeom>
          <a:noFill/>
          <a:ln/>
        </p:spPr>
        <p:txBody>
          <a:bodyPr wrap="square" lIns="0" tIns="0" rIns="0" bIns="0" rtlCol="0" anchor="ctr"/>
          <a:lstStyle/>
          <a:p>
            <a:pPr marL="0" indent="0" algn="r">
              <a:buNone/>
            </a:pPr>
            <a:r>
              <a:rPr lang="en-US" sz="750" dirty="0">
                <a:solidFill>
                  <a:srgbClr val="6B7280"/>
                </a:solidFill>
                <a:latin typeface="Lato" pitchFamily="34" charset="0"/>
                <a:ea typeface="Lato" pitchFamily="34" charset="-122"/>
                <a:cs typeface="Lato" pitchFamily="34" charset="-120"/>
              </a:rPr>
              <a:t>12/23</a:t>
            </a:r>
            <a:endParaRPr lang="en-US" sz="750" dirty="0"/>
          </a:p>
        </p:txBody>
      </p:sp>
      <p:sp>
        <p:nvSpPr>
          <p:cNvPr id="5" name="Text 3"/>
          <p:cNvSpPr/>
          <p:nvPr/>
        </p:nvSpPr>
        <p:spPr>
          <a:xfrm>
            <a:off x="320040" y="566928"/>
            <a:ext cx="7132320" cy="512064"/>
          </a:xfrm>
          <a:prstGeom prst="rect">
            <a:avLst/>
          </a:prstGeom>
          <a:noFill/>
          <a:ln/>
        </p:spPr>
        <p:txBody>
          <a:bodyPr wrap="square" lIns="0" tIns="0" rIns="0" bIns="0" rtlCol="0" anchor="ctr">
            <a:normAutofit/>
          </a:bodyPr>
          <a:lstStyle/>
          <a:p>
            <a:pPr marL="0" indent="0">
              <a:buNone/>
            </a:pPr>
            <a:r>
              <a:rPr lang="en-US" sz="2700" b="1" dirty="0">
                <a:solidFill>
                  <a:srgbClr val="09243D"/>
                </a:solidFill>
                <a:latin typeface="Lato" pitchFamily="34" charset="0"/>
                <a:ea typeface="Lato" pitchFamily="34" charset="-122"/>
                <a:cs typeface="Lato" pitchFamily="34" charset="-120"/>
              </a:rPr>
              <a:t>Economic Signals Move Together</a:t>
            </a:r>
            <a:endParaRPr lang="en-US" sz="2700" dirty="0"/>
          </a:p>
        </p:txBody>
      </p:sp>
      <p:pic>
        <p:nvPicPr>
          <p:cNvPr id="7" name="Image 0" descr="/mnt/data/bank_presentation_assets/spearman_heatmap.png"/>
          <p:cNvPicPr>
            <a:picLocks noChangeAspect="1"/>
          </p:cNvPicPr>
          <p:nvPr/>
        </p:nvPicPr>
        <p:blipFill>
          <a:blip r:embed="rId3"/>
          <a:stretch>
            <a:fillRect/>
          </a:stretch>
        </p:blipFill>
        <p:spPr>
          <a:xfrm>
            <a:off x="914400" y="1330234"/>
            <a:ext cx="4572000" cy="3374571"/>
          </a:xfrm>
          <a:prstGeom prst="rect">
            <a:avLst/>
          </a:prstGeom>
        </p:spPr>
      </p:pic>
      <p:sp>
        <p:nvSpPr>
          <p:cNvPr id="8" name="Text 5"/>
          <p:cNvSpPr/>
          <p:nvPr/>
        </p:nvSpPr>
        <p:spPr>
          <a:xfrm>
            <a:off x="5806440" y="1325880"/>
            <a:ext cx="4251960" cy="1554480"/>
          </a:xfrm>
          <a:prstGeom prst="rect">
            <a:avLst/>
          </a:prstGeom>
          <a:noFill/>
          <a:ln/>
        </p:spPr>
        <p:txBody>
          <a:bodyPr wrap="square" lIns="762" tIns="762" rIns="762" bIns="762" rtlCol="0" anchor="t">
            <a:normAutofit/>
          </a:bodyPr>
          <a:lstStyle/>
          <a:p>
            <a:pPr marL="0" indent="0">
              <a:buNone/>
            </a:pPr>
            <a:r>
              <a:rPr lang="en-US" sz="1420" dirty="0">
                <a:solidFill>
                  <a:srgbClr val="152238"/>
                </a:solidFill>
                <a:latin typeface="Lato" pitchFamily="34" charset="0"/>
                <a:ea typeface="Lato" pitchFamily="34" charset="-122"/>
                <a:cs typeface="Lato" pitchFamily="34" charset="-120"/>
              </a:rPr>
              <a:t>`emp.var.rate`, `euribor3m`, and `nr.employed` are strongly correlated.</a:t>
            </a:r>
            <a:endParaRPr lang="en-US" sz="1420" dirty="0"/>
          </a:p>
          <a:p>
            <a:pPr marL="0" indent="0">
              <a:buNone/>
            </a:pPr>
            <a:r>
              <a:rPr lang="en-US" sz="1420" dirty="0">
                <a:solidFill>
                  <a:srgbClr val="152238"/>
                </a:solidFill>
                <a:latin typeface="Lato" pitchFamily="34" charset="0"/>
                <a:ea typeface="Lato" pitchFamily="34" charset="-122"/>
                <a:cs typeface="Lato" pitchFamily="34" charset="-120"/>
              </a:rPr>
              <a:t>They carry overlapping information about macro conditions.</a:t>
            </a:r>
            <a:endParaRPr lang="en-US" sz="1420" dirty="0"/>
          </a:p>
          <a:p>
            <a:pPr marL="0" indent="0">
              <a:buNone/>
            </a:pPr>
            <a:r>
              <a:rPr lang="en-US" sz="1420" dirty="0">
                <a:solidFill>
                  <a:srgbClr val="152238"/>
                </a:solidFill>
                <a:latin typeface="Lato" pitchFamily="34" charset="0"/>
                <a:ea typeface="Lato" pitchFamily="34" charset="-122"/>
                <a:cs typeface="Lato" pitchFamily="34" charset="-120"/>
              </a:rPr>
              <a:t>Correlation explains feature movement, not causal impact.</a:t>
            </a:r>
            <a:endParaRPr lang="en-US" sz="1420" dirty="0"/>
          </a:p>
        </p:txBody>
      </p:sp>
      <p:sp>
        <p:nvSpPr>
          <p:cNvPr id="9" name="Shape 6"/>
          <p:cNvSpPr/>
          <p:nvPr/>
        </p:nvSpPr>
        <p:spPr>
          <a:xfrm>
            <a:off x="5989320" y="4160520"/>
            <a:ext cx="4023360" cy="685800"/>
          </a:xfrm>
          <a:prstGeom prst="roundRect">
            <a:avLst>
              <a:gd name="adj" fmla="val 6667"/>
            </a:avLst>
          </a:prstGeom>
          <a:solidFill>
            <a:srgbClr val="F4F8FA"/>
          </a:solidFill>
          <a:ln w="7620">
            <a:solidFill>
              <a:srgbClr val="D7E4EA"/>
            </a:solidFill>
            <a:prstDash val="solid"/>
          </a:ln>
        </p:spPr>
      </p:sp>
      <p:sp>
        <p:nvSpPr>
          <p:cNvPr id="10" name="Shape 7"/>
          <p:cNvSpPr/>
          <p:nvPr/>
        </p:nvSpPr>
        <p:spPr>
          <a:xfrm>
            <a:off x="5989320" y="4160520"/>
            <a:ext cx="73152" cy="685800"/>
          </a:xfrm>
          <a:prstGeom prst="rect">
            <a:avLst/>
          </a:prstGeom>
          <a:solidFill>
            <a:srgbClr val="20A7A6"/>
          </a:solidFill>
          <a:ln w="12700">
            <a:solidFill>
              <a:srgbClr val="20A7A6">
                <a:alpha val="0"/>
              </a:srgbClr>
            </a:solidFill>
            <a:prstDash val="solid"/>
          </a:ln>
        </p:spPr>
      </p:sp>
      <p:sp>
        <p:nvSpPr>
          <p:cNvPr id="11" name="Text 8"/>
          <p:cNvSpPr/>
          <p:nvPr/>
        </p:nvSpPr>
        <p:spPr>
          <a:xfrm>
            <a:off x="6153912" y="4288536"/>
            <a:ext cx="378561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Implication</a:t>
            </a:r>
            <a:endParaRPr lang="en-US" sz="1250" dirty="0"/>
          </a:p>
        </p:txBody>
      </p:sp>
      <p:sp>
        <p:nvSpPr>
          <p:cNvPr id="12" name="Text 9"/>
          <p:cNvSpPr/>
          <p:nvPr/>
        </p:nvSpPr>
        <p:spPr>
          <a:xfrm>
            <a:off x="6153912" y="4599432"/>
            <a:ext cx="3767328" cy="173736"/>
          </a:xfrm>
          <a:prstGeom prst="rect">
            <a:avLst/>
          </a:prstGeom>
          <a:noFill/>
          <a:ln/>
        </p:spPr>
        <p:txBody>
          <a:bodyPr wrap="square" lIns="0" tIns="0" rIns="0" bIns="0" rtlCol="0" anchor="ctr">
            <a:normAutofit fontScale="55000" lnSpcReduction="20000"/>
          </a:bodyPr>
          <a:lstStyle/>
          <a:p>
            <a:pPr marL="0" indent="0">
              <a:buNone/>
            </a:pPr>
            <a:r>
              <a:rPr lang="en-US" sz="1200" dirty="0">
                <a:solidFill>
                  <a:srgbClr val="152238"/>
                </a:solidFill>
                <a:latin typeface="Lato" pitchFamily="34" charset="0"/>
                <a:ea typeface="Lato" pitchFamily="34" charset="-122"/>
                <a:cs typeface="Lato" pitchFamily="34" charset="-120"/>
              </a:rPr>
              <a:t>Monitor economic distributions when comparing campaign performance across periods.</a:t>
            </a:r>
            <a:endParaRPr lang="en-US" sz="1200" dirty="0"/>
          </a:p>
        </p:txBody>
      </p:sp>
      <p:sp>
        <p:nvSpPr>
          <p:cNvPr id="13" name="Shape 3">
            <a:extLst>
              <a:ext uri="{FF2B5EF4-FFF2-40B4-BE49-F238E27FC236}">
                <a16:creationId xmlns:a16="http://schemas.microsoft.com/office/drawing/2014/main" id="{EEACE3F2-C41D-1F6A-482A-0D7DB7CC5DCA}"/>
              </a:ext>
            </a:extLst>
          </p:cNvPr>
          <p:cNvSpPr/>
          <p:nvPr/>
        </p:nvSpPr>
        <p:spPr>
          <a:xfrm>
            <a:off x="292608" y="1051560"/>
            <a:ext cx="1572768" cy="27432"/>
          </a:xfrm>
          <a:prstGeom prst="rect">
            <a:avLst/>
          </a:prstGeom>
          <a:solidFill>
            <a:srgbClr val="F4A340"/>
          </a:solidFill>
          <a:ln w="12700">
            <a:solidFill>
              <a:srgbClr val="F4A340"/>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09243D"/>
          </a:solidFill>
          <a:ln w="12700">
            <a:solidFill>
              <a:srgbClr val="09243D">
                <a:alpha val="0"/>
              </a:srgbClr>
            </a:solidFill>
            <a:prstDash val="solid"/>
          </a:ln>
        </p:spPr>
      </p:sp>
      <p:sp>
        <p:nvSpPr>
          <p:cNvPr id="3" name="Text 1"/>
          <p:cNvSpPr/>
          <p:nvPr/>
        </p:nvSpPr>
        <p:spPr>
          <a:xfrm>
            <a:off x="320040" y="201168"/>
            <a:ext cx="6949440" cy="201168"/>
          </a:xfrm>
          <a:prstGeom prst="rect">
            <a:avLst/>
          </a:prstGeom>
          <a:noFill/>
          <a:ln/>
        </p:spPr>
        <p:txBody>
          <a:bodyPr wrap="square" lIns="0" tIns="0" rIns="0" bIns="0" rtlCol="0" anchor="ctr"/>
          <a:lstStyle/>
          <a:p>
            <a:pPr marL="0" indent="0">
              <a:buNone/>
            </a:pPr>
            <a:r>
              <a:rPr lang="en-US" sz="850" b="1" dirty="0">
                <a:solidFill>
                  <a:srgbClr val="20A7A6"/>
                </a:solidFill>
                <a:latin typeface="Lato" pitchFamily="34" charset="0"/>
                <a:ea typeface="Lato" pitchFamily="34" charset="-122"/>
                <a:cs typeface="Lato" pitchFamily="34" charset="-120"/>
              </a:rPr>
              <a:t>ANALYTICAL APPROACH</a:t>
            </a:r>
            <a:endParaRPr lang="en-US" sz="850" dirty="0"/>
          </a:p>
        </p:txBody>
      </p:sp>
      <p:sp>
        <p:nvSpPr>
          <p:cNvPr id="4" name="Text 2"/>
          <p:cNvSpPr/>
          <p:nvPr/>
        </p:nvSpPr>
        <p:spPr>
          <a:xfrm>
            <a:off x="11338560" y="182880"/>
            <a:ext cx="502920" cy="182880"/>
          </a:xfrm>
          <a:prstGeom prst="rect">
            <a:avLst/>
          </a:prstGeom>
          <a:noFill/>
          <a:ln/>
        </p:spPr>
        <p:txBody>
          <a:bodyPr wrap="square" lIns="0" tIns="0" rIns="0" bIns="0" rtlCol="0" anchor="ctr"/>
          <a:lstStyle/>
          <a:p>
            <a:pPr marL="0" indent="0" algn="r">
              <a:buNone/>
            </a:pPr>
            <a:r>
              <a:rPr lang="en-US" sz="750" dirty="0">
                <a:solidFill>
                  <a:srgbClr val="6B7280"/>
                </a:solidFill>
                <a:latin typeface="Lato" pitchFamily="34" charset="0"/>
                <a:ea typeface="Lato" pitchFamily="34" charset="-122"/>
                <a:cs typeface="Lato" pitchFamily="34" charset="-120"/>
              </a:rPr>
              <a:t>13/23</a:t>
            </a:r>
            <a:endParaRPr lang="en-US" sz="750" dirty="0"/>
          </a:p>
        </p:txBody>
      </p:sp>
      <p:sp>
        <p:nvSpPr>
          <p:cNvPr id="5" name="Text 3"/>
          <p:cNvSpPr/>
          <p:nvPr/>
        </p:nvSpPr>
        <p:spPr>
          <a:xfrm>
            <a:off x="320040" y="566928"/>
            <a:ext cx="7498080" cy="512064"/>
          </a:xfrm>
          <a:prstGeom prst="rect">
            <a:avLst/>
          </a:prstGeom>
          <a:noFill/>
          <a:ln/>
        </p:spPr>
        <p:txBody>
          <a:bodyPr wrap="square" lIns="0" tIns="0" rIns="0" bIns="0" rtlCol="0" anchor="ctr">
            <a:normAutofit/>
          </a:bodyPr>
          <a:lstStyle/>
          <a:p>
            <a:pPr marL="0" indent="0">
              <a:buNone/>
            </a:pPr>
            <a:r>
              <a:rPr lang="en-US" sz="2700" b="1" dirty="0">
                <a:solidFill>
                  <a:srgbClr val="09243D"/>
                </a:solidFill>
                <a:latin typeface="Lato" pitchFamily="34" charset="0"/>
                <a:ea typeface="Lato" pitchFamily="34" charset="-122"/>
                <a:cs typeface="Lato" pitchFamily="34" charset="-120"/>
              </a:rPr>
              <a:t>Analytics + Classification Model</a:t>
            </a:r>
            <a:endParaRPr lang="en-US" sz="2700" dirty="0"/>
          </a:p>
        </p:txBody>
      </p:sp>
      <p:sp>
        <p:nvSpPr>
          <p:cNvPr id="7" name="Text 5"/>
          <p:cNvSpPr/>
          <p:nvPr/>
        </p:nvSpPr>
        <p:spPr>
          <a:xfrm>
            <a:off x="502920" y="1371600"/>
            <a:ext cx="4480560" cy="2057400"/>
          </a:xfrm>
          <a:prstGeom prst="rect">
            <a:avLst/>
          </a:prstGeom>
          <a:noFill/>
          <a:ln/>
        </p:spPr>
        <p:txBody>
          <a:bodyPr wrap="square" lIns="762" tIns="762" rIns="762" bIns="762" rtlCol="0" anchor="ctr">
            <a:normAutofit/>
          </a:bodyPr>
          <a:lstStyle/>
          <a:p>
            <a:r>
              <a:rPr lang="en-US" sz="1320" dirty="0">
                <a:solidFill>
                  <a:srgbClr val="152238"/>
                </a:solidFill>
                <a:latin typeface="Lato" pitchFamily="34" charset="0"/>
                <a:ea typeface="Lato" pitchFamily="34" charset="-122"/>
                <a:cs typeface="Lato" pitchFamily="34" charset="-120"/>
              </a:rPr>
              <a:t>Analytics identifies client, campaign, and economic patterns.</a:t>
            </a:r>
            <a:endParaRPr lang="en-US" sz="1320" dirty="0"/>
          </a:p>
          <a:p>
            <a:r>
              <a:rPr lang="en-US" sz="1320" dirty="0">
                <a:solidFill>
                  <a:srgbClr val="152238"/>
                </a:solidFill>
                <a:latin typeface="Lato" pitchFamily="34" charset="0"/>
                <a:ea typeface="Lato" pitchFamily="34" charset="-122"/>
                <a:cs typeface="Lato" pitchFamily="34" charset="-120"/>
              </a:rPr>
              <a:t>Machine learning generates prediction score for prioritization.</a:t>
            </a:r>
            <a:endParaRPr lang="en-US" sz="1320" dirty="0"/>
          </a:p>
          <a:p>
            <a:r>
              <a:rPr lang="en-US" sz="1320" dirty="0">
                <a:solidFill>
                  <a:srgbClr val="152238"/>
                </a:solidFill>
                <a:latin typeface="Lato" pitchFamily="34" charset="0"/>
                <a:ea typeface="Lato" pitchFamily="34" charset="-122"/>
                <a:cs typeface="Lato" pitchFamily="34" charset="-120"/>
              </a:rPr>
              <a:t>Average Precision is used for model selection due to imbalanced target.</a:t>
            </a:r>
            <a:endParaRPr lang="en-US" sz="1320" dirty="0"/>
          </a:p>
          <a:p>
            <a:r>
              <a:rPr lang="en-US" sz="1320" dirty="0">
                <a:solidFill>
                  <a:srgbClr val="152238"/>
                </a:solidFill>
                <a:latin typeface="Lato" pitchFamily="34" charset="0"/>
                <a:ea typeface="Lato" pitchFamily="34" charset="-122"/>
                <a:cs typeface="Lato" pitchFamily="34" charset="-120"/>
              </a:rPr>
              <a:t>Threshold is treated as an operating scenario, not a universal optimum.</a:t>
            </a:r>
            <a:endParaRPr lang="en-US" sz="1320" dirty="0"/>
          </a:p>
        </p:txBody>
      </p:sp>
      <p:sp>
        <p:nvSpPr>
          <p:cNvPr id="8" name="Text 6"/>
          <p:cNvSpPr/>
          <p:nvPr/>
        </p:nvSpPr>
        <p:spPr>
          <a:xfrm>
            <a:off x="5486400" y="1261872"/>
            <a:ext cx="1554480" cy="201168"/>
          </a:xfrm>
          <a:prstGeom prst="rect">
            <a:avLst/>
          </a:prstGeom>
          <a:noFill/>
          <a:ln/>
        </p:spPr>
        <p:txBody>
          <a:bodyPr wrap="square" lIns="381" tIns="381" rIns="381" bIns="381" rtlCol="0" anchor="ctr">
            <a:normAutofit/>
          </a:bodyPr>
          <a:lstStyle/>
          <a:p>
            <a:pPr marL="0" indent="0" algn="l">
              <a:buNone/>
            </a:pPr>
            <a:r>
              <a:rPr lang="en-US" sz="1200" b="1" dirty="0">
                <a:solidFill>
                  <a:srgbClr val="20A7A6"/>
                </a:solidFill>
                <a:latin typeface="Lato" pitchFamily="34" charset="0"/>
                <a:ea typeface="Lato" pitchFamily="34" charset="-122"/>
                <a:cs typeface="Lato" pitchFamily="34" charset="-120"/>
              </a:rPr>
              <a:t>Training flow</a:t>
            </a:r>
            <a:endParaRPr lang="en-US" sz="1200" dirty="0"/>
          </a:p>
        </p:txBody>
      </p:sp>
      <p:sp>
        <p:nvSpPr>
          <p:cNvPr id="9" name="Shape 7"/>
          <p:cNvSpPr/>
          <p:nvPr/>
        </p:nvSpPr>
        <p:spPr>
          <a:xfrm>
            <a:off x="5486400" y="1563624"/>
            <a:ext cx="941832" cy="594360"/>
          </a:xfrm>
          <a:prstGeom prst="roundRect">
            <a:avLst>
              <a:gd name="adj" fmla="val 7692"/>
            </a:avLst>
          </a:prstGeom>
          <a:solidFill>
            <a:srgbClr val="20A7A6"/>
          </a:solidFill>
          <a:ln w="12700">
            <a:solidFill>
              <a:srgbClr val="20A7A6">
                <a:alpha val="0"/>
              </a:srgbClr>
            </a:solidFill>
            <a:prstDash val="solid"/>
          </a:ln>
        </p:spPr>
      </p:sp>
      <p:sp>
        <p:nvSpPr>
          <p:cNvPr id="10" name="Text 8"/>
          <p:cNvSpPr/>
          <p:nvPr/>
        </p:nvSpPr>
        <p:spPr>
          <a:xfrm>
            <a:off x="5522976" y="1636776"/>
            <a:ext cx="868680" cy="448056"/>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Raw training</a:t>
            </a:r>
            <a:endParaRPr lang="en-US" sz="1100" dirty="0"/>
          </a:p>
          <a:p>
            <a:pPr marL="0" indent="0" algn="ctr">
              <a:buNone/>
            </a:pPr>
            <a:r>
              <a:rPr lang="en-US" sz="1100" b="1" dirty="0">
                <a:solidFill>
                  <a:srgbClr val="FFFFFF"/>
                </a:solidFill>
                <a:latin typeface="Lato" pitchFamily="34" charset="0"/>
                <a:ea typeface="Lato" pitchFamily="34" charset="-122"/>
                <a:cs typeface="Lato" pitchFamily="34" charset="-120"/>
              </a:rPr>
              <a:t>data</a:t>
            </a:r>
            <a:endParaRPr lang="en-US" sz="1100" dirty="0"/>
          </a:p>
        </p:txBody>
      </p:sp>
      <p:sp>
        <p:nvSpPr>
          <p:cNvPr id="11" name="Shape 9"/>
          <p:cNvSpPr/>
          <p:nvPr/>
        </p:nvSpPr>
        <p:spPr>
          <a:xfrm>
            <a:off x="6428232" y="1856232"/>
            <a:ext cx="292608" cy="0"/>
          </a:xfrm>
          <a:prstGeom prst="line">
            <a:avLst/>
          </a:prstGeom>
          <a:noFill/>
          <a:ln w="15240">
            <a:solidFill>
              <a:srgbClr val="8096A3"/>
            </a:solidFill>
            <a:prstDash val="solid"/>
            <a:headEnd type="none"/>
            <a:tailEnd type="triangle"/>
          </a:ln>
        </p:spPr>
      </p:sp>
      <p:sp>
        <p:nvSpPr>
          <p:cNvPr id="12" name="Shape 10"/>
          <p:cNvSpPr/>
          <p:nvPr/>
        </p:nvSpPr>
        <p:spPr>
          <a:xfrm>
            <a:off x="6720840" y="1563624"/>
            <a:ext cx="941832" cy="594360"/>
          </a:xfrm>
          <a:prstGeom prst="roundRect">
            <a:avLst>
              <a:gd name="adj" fmla="val 7692"/>
            </a:avLst>
          </a:prstGeom>
          <a:solidFill>
            <a:srgbClr val="F5A33B"/>
          </a:solidFill>
          <a:ln w="12700">
            <a:solidFill>
              <a:srgbClr val="F5A33B">
                <a:alpha val="0"/>
              </a:srgbClr>
            </a:solidFill>
            <a:prstDash val="solid"/>
          </a:ln>
        </p:spPr>
      </p:sp>
      <p:sp>
        <p:nvSpPr>
          <p:cNvPr id="13" name="Text 11"/>
          <p:cNvSpPr/>
          <p:nvPr/>
        </p:nvSpPr>
        <p:spPr>
          <a:xfrm>
            <a:off x="6757416" y="1636776"/>
            <a:ext cx="868680" cy="448056"/>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Random</a:t>
            </a:r>
            <a:endParaRPr lang="en-US" sz="1100" dirty="0"/>
          </a:p>
          <a:p>
            <a:pPr marL="0" indent="0" algn="ctr">
              <a:buNone/>
            </a:pPr>
            <a:r>
              <a:rPr lang="en-US" sz="1100" b="1" dirty="0">
                <a:solidFill>
                  <a:srgbClr val="FFFFFF"/>
                </a:solidFill>
                <a:latin typeface="Lato" pitchFamily="34" charset="0"/>
                <a:ea typeface="Lato" pitchFamily="34" charset="-122"/>
                <a:cs typeface="Lato" pitchFamily="34" charset="-120"/>
              </a:rPr>
              <a:t>Oversampling</a:t>
            </a:r>
            <a:endParaRPr lang="en-US" sz="1100" dirty="0"/>
          </a:p>
        </p:txBody>
      </p:sp>
      <p:sp>
        <p:nvSpPr>
          <p:cNvPr id="14" name="Shape 12"/>
          <p:cNvSpPr/>
          <p:nvPr/>
        </p:nvSpPr>
        <p:spPr>
          <a:xfrm>
            <a:off x="7662672" y="1856232"/>
            <a:ext cx="310896" cy="0"/>
          </a:xfrm>
          <a:prstGeom prst="line">
            <a:avLst/>
          </a:prstGeom>
          <a:noFill/>
          <a:ln w="15240">
            <a:solidFill>
              <a:srgbClr val="8096A3"/>
            </a:solidFill>
            <a:prstDash val="solid"/>
            <a:headEnd type="none"/>
            <a:tailEnd type="triangle"/>
          </a:ln>
        </p:spPr>
      </p:sp>
      <p:sp>
        <p:nvSpPr>
          <p:cNvPr id="15" name="Shape 13"/>
          <p:cNvSpPr/>
          <p:nvPr/>
        </p:nvSpPr>
        <p:spPr>
          <a:xfrm>
            <a:off x="7973568" y="1563624"/>
            <a:ext cx="941832" cy="594360"/>
          </a:xfrm>
          <a:prstGeom prst="roundRect">
            <a:avLst>
              <a:gd name="adj" fmla="val 7692"/>
            </a:avLst>
          </a:prstGeom>
          <a:solidFill>
            <a:srgbClr val="09243D"/>
          </a:solidFill>
          <a:ln w="12700">
            <a:solidFill>
              <a:srgbClr val="09243D">
                <a:alpha val="0"/>
              </a:srgbClr>
            </a:solidFill>
            <a:prstDash val="solid"/>
          </a:ln>
        </p:spPr>
      </p:sp>
      <p:sp>
        <p:nvSpPr>
          <p:cNvPr id="16" name="Text 14"/>
          <p:cNvSpPr/>
          <p:nvPr/>
        </p:nvSpPr>
        <p:spPr>
          <a:xfrm>
            <a:off x="8010144" y="1636776"/>
            <a:ext cx="868680" cy="448056"/>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Feature</a:t>
            </a:r>
            <a:endParaRPr lang="en-US" sz="1100" dirty="0"/>
          </a:p>
          <a:p>
            <a:pPr marL="0" indent="0" algn="ctr">
              <a:buNone/>
            </a:pPr>
            <a:r>
              <a:rPr lang="en-US" sz="1100" b="1" dirty="0">
                <a:solidFill>
                  <a:srgbClr val="FFFFFF"/>
                </a:solidFill>
                <a:latin typeface="Lato" pitchFamily="34" charset="0"/>
                <a:ea typeface="Lato" pitchFamily="34" charset="-122"/>
                <a:cs typeface="Lato" pitchFamily="34" charset="-120"/>
              </a:rPr>
              <a:t>engineering</a:t>
            </a:r>
            <a:endParaRPr lang="en-US" sz="1100" dirty="0"/>
          </a:p>
        </p:txBody>
      </p:sp>
      <p:sp>
        <p:nvSpPr>
          <p:cNvPr id="17" name="Shape 15"/>
          <p:cNvSpPr/>
          <p:nvPr/>
        </p:nvSpPr>
        <p:spPr>
          <a:xfrm>
            <a:off x="8915400" y="1856232"/>
            <a:ext cx="320040" cy="0"/>
          </a:xfrm>
          <a:prstGeom prst="line">
            <a:avLst/>
          </a:prstGeom>
          <a:noFill/>
          <a:ln w="15240">
            <a:solidFill>
              <a:srgbClr val="8096A3"/>
            </a:solidFill>
            <a:prstDash val="solid"/>
            <a:headEnd type="none"/>
            <a:tailEnd type="triangle"/>
          </a:ln>
        </p:spPr>
      </p:sp>
      <p:sp>
        <p:nvSpPr>
          <p:cNvPr id="18" name="Shape 16"/>
          <p:cNvSpPr/>
          <p:nvPr/>
        </p:nvSpPr>
        <p:spPr>
          <a:xfrm>
            <a:off x="9235440" y="1563624"/>
            <a:ext cx="941832" cy="594360"/>
          </a:xfrm>
          <a:prstGeom prst="roundRect">
            <a:avLst>
              <a:gd name="adj" fmla="val 7692"/>
            </a:avLst>
          </a:prstGeom>
          <a:solidFill>
            <a:srgbClr val="09243D"/>
          </a:solidFill>
          <a:ln w="12700">
            <a:solidFill>
              <a:srgbClr val="09243D">
                <a:alpha val="0"/>
              </a:srgbClr>
            </a:solidFill>
            <a:prstDash val="solid"/>
          </a:ln>
        </p:spPr>
      </p:sp>
      <p:sp>
        <p:nvSpPr>
          <p:cNvPr id="19" name="Text 17"/>
          <p:cNvSpPr/>
          <p:nvPr/>
        </p:nvSpPr>
        <p:spPr>
          <a:xfrm>
            <a:off x="9272016" y="1636776"/>
            <a:ext cx="868680" cy="448056"/>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Preprocess</a:t>
            </a:r>
            <a:endParaRPr lang="en-US" sz="1100" dirty="0"/>
          </a:p>
        </p:txBody>
      </p:sp>
      <p:sp>
        <p:nvSpPr>
          <p:cNvPr id="20" name="Shape 18"/>
          <p:cNvSpPr/>
          <p:nvPr/>
        </p:nvSpPr>
        <p:spPr>
          <a:xfrm>
            <a:off x="10177272" y="1856232"/>
            <a:ext cx="109728" cy="0"/>
          </a:xfrm>
          <a:prstGeom prst="line">
            <a:avLst/>
          </a:prstGeom>
          <a:noFill/>
          <a:ln w="15240">
            <a:solidFill>
              <a:srgbClr val="8096A3"/>
            </a:solidFill>
            <a:prstDash val="solid"/>
            <a:headEnd type="none"/>
            <a:tailEnd type="triangle"/>
          </a:ln>
        </p:spPr>
      </p:sp>
      <p:sp>
        <p:nvSpPr>
          <p:cNvPr id="21" name="Shape 19"/>
          <p:cNvSpPr/>
          <p:nvPr/>
        </p:nvSpPr>
        <p:spPr>
          <a:xfrm>
            <a:off x="10287000" y="1563624"/>
            <a:ext cx="941832" cy="594360"/>
          </a:xfrm>
          <a:prstGeom prst="roundRect">
            <a:avLst>
              <a:gd name="adj" fmla="val 7692"/>
            </a:avLst>
          </a:prstGeom>
          <a:solidFill>
            <a:srgbClr val="09243D"/>
          </a:solidFill>
          <a:ln w="12700">
            <a:solidFill>
              <a:srgbClr val="09243D">
                <a:alpha val="0"/>
              </a:srgbClr>
            </a:solidFill>
            <a:prstDash val="solid"/>
          </a:ln>
        </p:spPr>
      </p:sp>
      <p:sp>
        <p:nvSpPr>
          <p:cNvPr id="22" name="Text 20"/>
          <p:cNvSpPr/>
          <p:nvPr/>
        </p:nvSpPr>
        <p:spPr>
          <a:xfrm>
            <a:off x="10323576" y="1636776"/>
            <a:ext cx="868680" cy="448056"/>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Gradient</a:t>
            </a:r>
            <a:endParaRPr lang="en-US" sz="1100" dirty="0"/>
          </a:p>
          <a:p>
            <a:pPr marL="0" indent="0" algn="ctr">
              <a:buNone/>
            </a:pPr>
            <a:r>
              <a:rPr lang="en-US" sz="1100" b="1" dirty="0">
                <a:solidFill>
                  <a:srgbClr val="FFFFFF"/>
                </a:solidFill>
                <a:latin typeface="Lato" pitchFamily="34" charset="0"/>
                <a:ea typeface="Lato" pitchFamily="34" charset="-122"/>
                <a:cs typeface="Lato" pitchFamily="34" charset="-120"/>
              </a:rPr>
              <a:t>Boosting</a:t>
            </a:r>
            <a:endParaRPr lang="en-US" sz="1100" dirty="0"/>
          </a:p>
        </p:txBody>
      </p:sp>
      <p:sp>
        <p:nvSpPr>
          <p:cNvPr id="23" name="Text 21"/>
          <p:cNvSpPr/>
          <p:nvPr/>
        </p:nvSpPr>
        <p:spPr>
          <a:xfrm>
            <a:off x="5486400" y="3246120"/>
            <a:ext cx="1554480" cy="201168"/>
          </a:xfrm>
          <a:prstGeom prst="rect">
            <a:avLst/>
          </a:prstGeom>
          <a:noFill/>
          <a:ln/>
        </p:spPr>
        <p:txBody>
          <a:bodyPr wrap="square" lIns="381" tIns="381" rIns="381" bIns="381" rtlCol="0" anchor="ctr">
            <a:normAutofit/>
          </a:bodyPr>
          <a:lstStyle/>
          <a:p>
            <a:pPr marL="0" indent="0" algn="l">
              <a:buNone/>
            </a:pPr>
            <a:r>
              <a:rPr lang="en-US" sz="1200" b="1" dirty="0">
                <a:solidFill>
                  <a:srgbClr val="20A7A6"/>
                </a:solidFill>
                <a:latin typeface="Lato" pitchFamily="34" charset="0"/>
                <a:ea typeface="Lato" pitchFamily="34" charset="-122"/>
                <a:cs typeface="Lato" pitchFamily="34" charset="-120"/>
              </a:rPr>
              <a:t>Scoring flow</a:t>
            </a:r>
            <a:endParaRPr lang="en-US" sz="1200" dirty="0"/>
          </a:p>
        </p:txBody>
      </p:sp>
      <p:sp>
        <p:nvSpPr>
          <p:cNvPr id="24" name="Shape 22"/>
          <p:cNvSpPr/>
          <p:nvPr/>
        </p:nvSpPr>
        <p:spPr>
          <a:xfrm>
            <a:off x="5486400" y="3547872"/>
            <a:ext cx="941832" cy="594360"/>
          </a:xfrm>
          <a:prstGeom prst="roundRect">
            <a:avLst>
              <a:gd name="adj" fmla="val 7692"/>
            </a:avLst>
          </a:prstGeom>
          <a:solidFill>
            <a:srgbClr val="20A7A6"/>
          </a:solidFill>
          <a:ln w="12700">
            <a:solidFill>
              <a:srgbClr val="20A7A6">
                <a:alpha val="0"/>
              </a:srgbClr>
            </a:solidFill>
            <a:prstDash val="solid"/>
          </a:ln>
        </p:spPr>
      </p:sp>
      <p:sp>
        <p:nvSpPr>
          <p:cNvPr id="25" name="Text 23"/>
          <p:cNvSpPr/>
          <p:nvPr/>
        </p:nvSpPr>
        <p:spPr>
          <a:xfrm>
            <a:off x="5522976" y="3621024"/>
            <a:ext cx="868680" cy="448056"/>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Eligible</a:t>
            </a:r>
            <a:endParaRPr lang="en-US" sz="1100" dirty="0"/>
          </a:p>
          <a:p>
            <a:pPr marL="0" indent="0" algn="ctr">
              <a:buNone/>
            </a:pPr>
            <a:r>
              <a:rPr lang="en-US" sz="1100" b="1" dirty="0">
                <a:solidFill>
                  <a:srgbClr val="FFFFFF"/>
                </a:solidFill>
                <a:latin typeface="Lato" pitchFamily="34" charset="0"/>
                <a:ea typeface="Lato" pitchFamily="34" charset="-122"/>
                <a:cs typeface="Lato" pitchFamily="34" charset="-120"/>
              </a:rPr>
              <a:t>clients</a:t>
            </a:r>
            <a:endParaRPr lang="en-US" sz="1100" dirty="0"/>
          </a:p>
        </p:txBody>
      </p:sp>
      <p:sp>
        <p:nvSpPr>
          <p:cNvPr id="26" name="Shape 24"/>
          <p:cNvSpPr/>
          <p:nvPr/>
        </p:nvSpPr>
        <p:spPr>
          <a:xfrm>
            <a:off x="6428232" y="3840480"/>
            <a:ext cx="475488" cy="0"/>
          </a:xfrm>
          <a:prstGeom prst="line">
            <a:avLst/>
          </a:prstGeom>
          <a:noFill/>
          <a:ln w="15240">
            <a:solidFill>
              <a:srgbClr val="8096A3"/>
            </a:solidFill>
            <a:prstDash val="solid"/>
            <a:headEnd type="none"/>
            <a:tailEnd type="triangle"/>
          </a:ln>
        </p:spPr>
      </p:sp>
      <p:sp>
        <p:nvSpPr>
          <p:cNvPr id="27" name="Shape 25"/>
          <p:cNvSpPr/>
          <p:nvPr/>
        </p:nvSpPr>
        <p:spPr>
          <a:xfrm>
            <a:off x="6903720" y="3547872"/>
            <a:ext cx="941832" cy="594360"/>
          </a:xfrm>
          <a:prstGeom prst="roundRect">
            <a:avLst>
              <a:gd name="adj" fmla="val 7692"/>
            </a:avLst>
          </a:prstGeom>
          <a:solidFill>
            <a:srgbClr val="09243D"/>
          </a:solidFill>
          <a:ln w="12700">
            <a:solidFill>
              <a:srgbClr val="09243D">
                <a:alpha val="0"/>
              </a:srgbClr>
            </a:solidFill>
            <a:prstDash val="solid"/>
          </a:ln>
        </p:spPr>
      </p:sp>
      <p:sp>
        <p:nvSpPr>
          <p:cNvPr id="28" name="Text 26"/>
          <p:cNvSpPr/>
          <p:nvPr/>
        </p:nvSpPr>
        <p:spPr>
          <a:xfrm>
            <a:off x="6940296" y="3621024"/>
            <a:ext cx="868680" cy="448056"/>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Feature</a:t>
            </a:r>
            <a:endParaRPr lang="en-US" sz="1100" dirty="0"/>
          </a:p>
          <a:p>
            <a:pPr marL="0" indent="0" algn="ctr">
              <a:buNone/>
            </a:pPr>
            <a:r>
              <a:rPr lang="en-US" sz="1100" b="1" dirty="0">
                <a:solidFill>
                  <a:srgbClr val="FFFFFF"/>
                </a:solidFill>
                <a:latin typeface="Lato" pitchFamily="34" charset="0"/>
                <a:ea typeface="Lato" pitchFamily="34" charset="-122"/>
                <a:cs typeface="Lato" pitchFamily="34" charset="-120"/>
              </a:rPr>
              <a:t>engineering</a:t>
            </a:r>
            <a:endParaRPr lang="en-US" sz="1100" dirty="0"/>
          </a:p>
        </p:txBody>
      </p:sp>
      <p:sp>
        <p:nvSpPr>
          <p:cNvPr id="29" name="Shape 27"/>
          <p:cNvSpPr/>
          <p:nvPr/>
        </p:nvSpPr>
        <p:spPr>
          <a:xfrm>
            <a:off x="7845552" y="3840480"/>
            <a:ext cx="475488" cy="0"/>
          </a:xfrm>
          <a:prstGeom prst="line">
            <a:avLst/>
          </a:prstGeom>
          <a:noFill/>
          <a:ln w="15240">
            <a:solidFill>
              <a:srgbClr val="8096A3"/>
            </a:solidFill>
            <a:prstDash val="solid"/>
            <a:headEnd type="none"/>
            <a:tailEnd type="triangle"/>
          </a:ln>
        </p:spPr>
      </p:sp>
      <p:sp>
        <p:nvSpPr>
          <p:cNvPr id="30" name="Shape 28"/>
          <p:cNvSpPr/>
          <p:nvPr/>
        </p:nvSpPr>
        <p:spPr>
          <a:xfrm>
            <a:off x="8321040" y="3547872"/>
            <a:ext cx="941832" cy="594360"/>
          </a:xfrm>
          <a:prstGeom prst="roundRect">
            <a:avLst>
              <a:gd name="adj" fmla="val 7692"/>
            </a:avLst>
          </a:prstGeom>
          <a:solidFill>
            <a:srgbClr val="09243D"/>
          </a:solidFill>
          <a:ln w="12700">
            <a:solidFill>
              <a:srgbClr val="09243D">
                <a:alpha val="0"/>
              </a:srgbClr>
            </a:solidFill>
            <a:prstDash val="solid"/>
          </a:ln>
        </p:spPr>
      </p:sp>
      <p:sp>
        <p:nvSpPr>
          <p:cNvPr id="31" name="Text 29"/>
          <p:cNvSpPr/>
          <p:nvPr/>
        </p:nvSpPr>
        <p:spPr>
          <a:xfrm>
            <a:off x="8357616" y="3621024"/>
            <a:ext cx="868680" cy="448056"/>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Preprocess</a:t>
            </a:r>
            <a:endParaRPr lang="en-US" sz="1100" dirty="0"/>
          </a:p>
        </p:txBody>
      </p:sp>
      <p:sp>
        <p:nvSpPr>
          <p:cNvPr id="32" name="Shape 30"/>
          <p:cNvSpPr/>
          <p:nvPr/>
        </p:nvSpPr>
        <p:spPr>
          <a:xfrm>
            <a:off x="9262872" y="3840480"/>
            <a:ext cx="201168" cy="0"/>
          </a:xfrm>
          <a:prstGeom prst="line">
            <a:avLst/>
          </a:prstGeom>
          <a:noFill/>
          <a:ln w="15240">
            <a:solidFill>
              <a:srgbClr val="8096A3"/>
            </a:solidFill>
            <a:prstDash val="solid"/>
            <a:headEnd type="none"/>
            <a:tailEnd type="triangle"/>
          </a:ln>
        </p:spPr>
      </p:sp>
      <p:sp>
        <p:nvSpPr>
          <p:cNvPr id="33" name="Shape 31"/>
          <p:cNvSpPr/>
          <p:nvPr/>
        </p:nvSpPr>
        <p:spPr>
          <a:xfrm>
            <a:off x="9464040" y="3547872"/>
            <a:ext cx="941832" cy="594360"/>
          </a:xfrm>
          <a:prstGeom prst="roundRect">
            <a:avLst>
              <a:gd name="adj" fmla="val 7692"/>
            </a:avLst>
          </a:prstGeom>
          <a:solidFill>
            <a:srgbClr val="09243D"/>
          </a:solidFill>
          <a:ln w="12700">
            <a:solidFill>
              <a:srgbClr val="09243D">
                <a:alpha val="0"/>
              </a:srgbClr>
            </a:solidFill>
            <a:prstDash val="solid"/>
          </a:ln>
        </p:spPr>
      </p:sp>
      <p:sp>
        <p:nvSpPr>
          <p:cNvPr id="34" name="Text 32"/>
          <p:cNvSpPr/>
          <p:nvPr/>
        </p:nvSpPr>
        <p:spPr>
          <a:xfrm>
            <a:off x="9500616" y="3621024"/>
            <a:ext cx="868680" cy="448056"/>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Gradient</a:t>
            </a:r>
            <a:endParaRPr lang="en-US" sz="1100" dirty="0"/>
          </a:p>
          <a:p>
            <a:pPr marL="0" indent="0" algn="ctr">
              <a:buNone/>
            </a:pPr>
            <a:r>
              <a:rPr lang="en-US" sz="1100" b="1" dirty="0">
                <a:solidFill>
                  <a:srgbClr val="FFFFFF"/>
                </a:solidFill>
                <a:latin typeface="Lato" pitchFamily="34" charset="0"/>
                <a:ea typeface="Lato" pitchFamily="34" charset="-122"/>
                <a:cs typeface="Lato" pitchFamily="34" charset="-120"/>
              </a:rPr>
              <a:t>Boosting</a:t>
            </a:r>
            <a:endParaRPr lang="en-US" sz="1100" dirty="0"/>
          </a:p>
        </p:txBody>
      </p:sp>
      <p:sp>
        <p:nvSpPr>
          <p:cNvPr id="35" name="Shape 33"/>
          <p:cNvSpPr/>
          <p:nvPr/>
        </p:nvSpPr>
        <p:spPr>
          <a:xfrm>
            <a:off x="10405872" y="3840480"/>
            <a:ext cx="201168" cy="0"/>
          </a:xfrm>
          <a:prstGeom prst="line">
            <a:avLst/>
          </a:prstGeom>
          <a:noFill/>
          <a:ln w="15240">
            <a:solidFill>
              <a:srgbClr val="8096A3"/>
            </a:solidFill>
            <a:prstDash val="solid"/>
            <a:headEnd type="none"/>
            <a:tailEnd type="triangle"/>
          </a:ln>
        </p:spPr>
      </p:sp>
      <p:sp>
        <p:nvSpPr>
          <p:cNvPr id="36" name="Shape 34"/>
          <p:cNvSpPr/>
          <p:nvPr/>
        </p:nvSpPr>
        <p:spPr>
          <a:xfrm>
            <a:off x="10607040" y="3547872"/>
            <a:ext cx="941832" cy="594360"/>
          </a:xfrm>
          <a:prstGeom prst="roundRect">
            <a:avLst>
              <a:gd name="adj" fmla="val 7692"/>
            </a:avLst>
          </a:prstGeom>
          <a:solidFill>
            <a:srgbClr val="F5A33B"/>
          </a:solidFill>
          <a:ln w="12700">
            <a:solidFill>
              <a:srgbClr val="F5A33B">
                <a:alpha val="0"/>
              </a:srgbClr>
            </a:solidFill>
            <a:prstDash val="solid"/>
          </a:ln>
        </p:spPr>
      </p:sp>
      <p:sp>
        <p:nvSpPr>
          <p:cNvPr id="37" name="Text 35"/>
          <p:cNvSpPr/>
          <p:nvPr/>
        </p:nvSpPr>
        <p:spPr>
          <a:xfrm>
            <a:off x="10643616" y="3621024"/>
            <a:ext cx="868680" cy="448056"/>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Prediction</a:t>
            </a:r>
            <a:endParaRPr lang="en-US" sz="1100" dirty="0"/>
          </a:p>
          <a:p>
            <a:pPr marL="0" indent="0" algn="ctr">
              <a:buNone/>
            </a:pPr>
            <a:r>
              <a:rPr lang="en-US" sz="1100" b="1" dirty="0">
                <a:solidFill>
                  <a:srgbClr val="FFFFFF"/>
                </a:solidFill>
                <a:latin typeface="Lato" pitchFamily="34" charset="0"/>
                <a:ea typeface="Lato" pitchFamily="34" charset="-122"/>
                <a:cs typeface="Lato" pitchFamily="34" charset="-120"/>
              </a:rPr>
              <a:t>score</a:t>
            </a:r>
            <a:endParaRPr lang="en-US" sz="1100" dirty="0"/>
          </a:p>
        </p:txBody>
      </p:sp>
      <p:sp>
        <p:nvSpPr>
          <p:cNvPr id="38" name="Shape 36"/>
          <p:cNvSpPr/>
          <p:nvPr/>
        </p:nvSpPr>
        <p:spPr>
          <a:xfrm>
            <a:off x="5486400" y="5010912"/>
            <a:ext cx="5394960" cy="658368"/>
          </a:xfrm>
          <a:prstGeom prst="roundRect">
            <a:avLst>
              <a:gd name="adj" fmla="val 6944"/>
            </a:avLst>
          </a:prstGeom>
          <a:solidFill>
            <a:srgbClr val="F4F8FA"/>
          </a:solidFill>
          <a:ln w="7620">
            <a:solidFill>
              <a:srgbClr val="D7E4EA"/>
            </a:solidFill>
            <a:prstDash val="solid"/>
          </a:ln>
        </p:spPr>
      </p:sp>
      <p:sp>
        <p:nvSpPr>
          <p:cNvPr id="39" name="Shape 37"/>
          <p:cNvSpPr/>
          <p:nvPr/>
        </p:nvSpPr>
        <p:spPr>
          <a:xfrm>
            <a:off x="5486400" y="5010912"/>
            <a:ext cx="73152" cy="658368"/>
          </a:xfrm>
          <a:prstGeom prst="rect">
            <a:avLst/>
          </a:prstGeom>
          <a:solidFill>
            <a:srgbClr val="20A7A6"/>
          </a:solidFill>
          <a:ln w="12700">
            <a:solidFill>
              <a:srgbClr val="20A7A6">
                <a:alpha val="0"/>
              </a:srgbClr>
            </a:solidFill>
            <a:prstDash val="solid"/>
          </a:ln>
        </p:spPr>
      </p:sp>
      <p:sp>
        <p:nvSpPr>
          <p:cNvPr id="40" name="Text 38"/>
          <p:cNvSpPr/>
          <p:nvPr/>
        </p:nvSpPr>
        <p:spPr>
          <a:xfrm>
            <a:off x="5650992" y="5138928"/>
            <a:ext cx="515721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Leakage control</a:t>
            </a:r>
            <a:endParaRPr lang="en-US" sz="1250" dirty="0"/>
          </a:p>
        </p:txBody>
      </p:sp>
      <p:sp>
        <p:nvSpPr>
          <p:cNvPr id="41" name="Text 39"/>
          <p:cNvSpPr/>
          <p:nvPr/>
        </p:nvSpPr>
        <p:spPr>
          <a:xfrm>
            <a:off x="5650992" y="5449824"/>
            <a:ext cx="5138928" cy="146304"/>
          </a:xfrm>
          <a:prstGeom prst="rect">
            <a:avLst/>
          </a:prstGeom>
          <a:noFill/>
          <a:ln/>
        </p:spPr>
        <p:txBody>
          <a:bodyPr wrap="square" lIns="0" tIns="0" rIns="0" bIns="0" rtlCol="0" anchor="ctr">
            <a:normAutofit fontScale="77500" lnSpcReduction="20000"/>
          </a:bodyPr>
          <a:lstStyle/>
          <a:p>
            <a:pPr marL="0" indent="0">
              <a:buNone/>
            </a:pPr>
            <a:r>
              <a:rPr lang="en-US" sz="1200" dirty="0">
                <a:solidFill>
                  <a:srgbClr val="152238"/>
                </a:solidFill>
                <a:latin typeface="Lato" pitchFamily="34" charset="0"/>
                <a:ea typeface="Lato" pitchFamily="34" charset="-122"/>
                <a:cs typeface="Lato" pitchFamily="34" charset="-120"/>
              </a:rPr>
              <a:t>Random Oversampling is applied only inside training folds; validation/test data remains unchanged.</a:t>
            </a:r>
            <a:endParaRPr lang="en-US" sz="1200" dirty="0"/>
          </a:p>
        </p:txBody>
      </p:sp>
      <p:sp>
        <p:nvSpPr>
          <p:cNvPr id="42" name="Shape 3">
            <a:extLst>
              <a:ext uri="{FF2B5EF4-FFF2-40B4-BE49-F238E27FC236}">
                <a16:creationId xmlns:a16="http://schemas.microsoft.com/office/drawing/2014/main" id="{B6016178-63D7-76FC-F4A8-3C977FFFB968}"/>
              </a:ext>
            </a:extLst>
          </p:cNvPr>
          <p:cNvSpPr/>
          <p:nvPr/>
        </p:nvSpPr>
        <p:spPr>
          <a:xfrm>
            <a:off x="292608" y="1051560"/>
            <a:ext cx="1572768" cy="27432"/>
          </a:xfrm>
          <a:prstGeom prst="rect">
            <a:avLst/>
          </a:prstGeom>
          <a:solidFill>
            <a:srgbClr val="F4A340"/>
          </a:solidFill>
          <a:ln w="12700">
            <a:solidFill>
              <a:srgbClr val="F4A340"/>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09243D"/>
          </a:solidFill>
          <a:ln w="12700">
            <a:solidFill>
              <a:srgbClr val="09243D">
                <a:alpha val="0"/>
              </a:srgbClr>
            </a:solidFill>
            <a:prstDash val="solid"/>
          </a:ln>
        </p:spPr>
      </p:sp>
      <p:sp>
        <p:nvSpPr>
          <p:cNvPr id="3" name="Text 1"/>
          <p:cNvSpPr/>
          <p:nvPr/>
        </p:nvSpPr>
        <p:spPr>
          <a:xfrm>
            <a:off x="320040" y="201168"/>
            <a:ext cx="6949440" cy="201168"/>
          </a:xfrm>
          <a:prstGeom prst="rect">
            <a:avLst/>
          </a:prstGeom>
          <a:noFill/>
          <a:ln/>
        </p:spPr>
        <p:txBody>
          <a:bodyPr wrap="square" lIns="0" tIns="0" rIns="0" bIns="0" rtlCol="0" anchor="ctr"/>
          <a:lstStyle/>
          <a:p>
            <a:pPr marL="0" indent="0">
              <a:buNone/>
            </a:pPr>
            <a:r>
              <a:rPr lang="en-US" sz="850" b="1" dirty="0">
                <a:solidFill>
                  <a:srgbClr val="20A7A6"/>
                </a:solidFill>
                <a:latin typeface="Lato" pitchFamily="34" charset="0"/>
                <a:ea typeface="Lato" pitchFamily="34" charset="-122"/>
                <a:cs typeface="Lato" pitchFamily="34" charset="-120"/>
              </a:rPr>
              <a:t>MODEL SELECTION FROM CROSS-VALIDATION</a:t>
            </a:r>
            <a:endParaRPr lang="en-US" sz="850" dirty="0"/>
          </a:p>
        </p:txBody>
      </p:sp>
      <p:sp>
        <p:nvSpPr>
          <p:cNvPr id="4" name="Text 2"/>
          <p:cNvSpPr/>
          <p:nvPr/>
        </p:nvSpPr>
        <p:spPr>
          <a:xfrm>
            <a:off x="11338560" y="182880"/>
            <a:ext cx="502920" cy="182880"/>
          </a:xfrm>
          <a:prstGeom prst="rect">
            <a:avLst/>
          </a:prstGeom>
          <a:noFill/>
          <a:ln/>
        </p:spPr>
        <p:txBody>
          <a:bodyPr wrap="square" lIns="0" tIns="0" rIns="0" bIns="0" rtlCol="0" anchor="ctr"/>
          <a:lstStyle/>
          <a:p>
            <a:pPr marL="0" indent="0" algn="r">
              <a:buNone/>
            </a:pPr>
            <a:r>
              <a:rPr lang="en-US" sz="750" dirty="0">
                <a:solidFill>
                  <a:srgbClr val="6B7280"/>
                </a:solidFill>
                <a:latin typeface="Lato" pitchFamily="34" charset="0"/>
                <a:ea typeface="Lato" pitchFamily="34" charset="-122"/>
                <a:cs typeface="Lato" pitchFamily="34" charset="-120"/>
              </a:rPr>
              <a:t>14/23</a:t>
            </a:r>
            <a:endParaRPr lang="en-US" sz="750" dirty="0"/>
          </a:p>
        </p:txBody>
      </p:sp>
      <p:sp>
        <p:nvSpPr>
          <p:cNvPr id="5" name="Text 3"/>
          <p:cNvSpPr/>
          <p:nvPr/>
        </p:nvSpPr>
        <p:spPr>
          <a:xfrm>
            <a:off x="320040" y="566928"/>
            <a:ext cx="9601200" cy="512064"/>
          </a:xfrm>
          <a:prstGeom prst="rect">
            <a:avLst/>
          </a:prstGeom>
          <a:noFill/>
          <a:ln/>
        </p:spPr>
        <p:txBody>
          <a:bodyPr wrap="square" lIns="0" tIns="0" rIns="0" bIns="0" rtlCol="0" anchor="ctr">
            <a:normAutofit/>
          </a:bodyPr>
          <a:lstStyle/>
          <a:p>
            <a:pPr marL="0" indent="0">
              <a:buNone/>
            </a:pPr>
            <a:r>
              <a:rPr lang="en-US" sz="2700" b="1" dirty="0">
                <a:solidFill>
                  <a:srgbClr val="09243D"/>
                </a:solidFill>
                <a:latin typeface="Lato" pitchFamily="34" charset="0"/>
                <a:ea typeface="Lato" pitchFamily="34" charset="-122"/>
                <a:cs typeface="Lato" pitchFamily="34" charset="-120"/>
              </a:rPr>
              <a:t>Gradient Boosting + ROS Has the Best CV AP</a:t>
            </a:r>
            <a:endParaRPr lang="en-US" sz="2700" dirty="0"/>
          </a:p>
        </p:txBody>
      </p:sp>
      <p:sp>
        <p:nvSpPr>
          <p:cNvPr id="7" name="Text 5"/>
          <p:cNvSpPr/>
          <p:nvPr/>
        </p:nvSpPr>
        <p:spPr>
          <a:xfrm>
            <a:off x="502920" y="1325880"/>
            <a:ext cx="9875520" cy="457200"/>
          </a:xfrm>
          <a:prstGeom prst="rect">
            <a:avLst/>
          </a:prstGeom>
          <a:noFill/>
          <a:ln/>
        </p:spPr>
        <p:txBody>
          <a:bodyPr wrap="square" lIns="762" tIns="762" rIns="762" bIns="762" rtlCol="0" anchor="t">
            <a:normAutofit/>
          </a:bodyPr>
          <a:lstStyle/>
          <a:p>
            <a:pPr marL="0" indent="0">
              <a:buNone/>
            </a:pPr>
            <a:r>
              <a:rPr lang="en-US" sz="1320" dirty="0">
                <a:solidFill>
                  <a:srgbClr val="152238"/>
                </a:solidFill>
                <a:latin typeface="Lato" pitchFamily="34" charset="0"/>
                <a:ea typeface="Lato" pitchFamily="34" charset="-122"/>
                <a:cs typeface="Lato" pitchFamily="34" charset="-120"/>
              </a:rPr>
              <a:t>Models were compared using the same training data, preprocessing pipeline, and 5-fold Stratified Cross Validation. AP is the primary model-selection metric.</a:t>
            </a:r>
            <a:endParaRPr lang="en-US" sz="1320" dirty="0"/>
          </a:p>
        </p:txBody>
      </p:sp>
      <p:sp>
        <p:nvSpPr>
          <p:cNvPr id="8" name="Text 6"/>
          <p:cNvSpPr/>
          <p:nvPr/>
        </p:nvSpPr>
        <p:spPr>
          <a:xfrm>
            <a:off x="640080" y="2011680"/>
            <a:ext cx="1554480" cy="493776"/>
          </a:xfrm>
          <a:prstGeom prst="rect">
            <a:avLst/>
          </a:prstGeom>
          <a:noFill/>
          <a:ln/>
        </p:spPr>
        <p:txBody>
          <a:bodyPr wrap="square" lIns="0" tIns="0" rIns="0" bIns="0" rtlCol="0" anchor="ctr">
            <a:normAutofit/>
          </a:bodyPr>
          <a:lstStyle/>
          <a:p>
            <a:pPr marL="0" indent="0">
              <a:buNone/>
            </a:pPr>
            <a:r>
              <a:rPr lang="en-US" sz="1040" dirty="0">
                <a:solidFill>
                  <a:srgbClr val="152238"/>
                </a:solidFill>
                <a:latin typeface="Lato" pitchFamily="34" charset="0"/>
                <a:ea typeface="Lato" pitchFamily="34" charset="-122"/>
                <a:cs typeface="Lato" pitchFamily="34" charset="-120"/>
              </a:rPr>
              <a:t>Naive baseline</a:t>
            </a:r>
            <a:endParaRPr lang="en-US" sz="1040" dirty="0"/>
          </a:p>
        </p:txBody>
      </p:sp>
      <p:sp>
        <p:nvSpPr>
          <p:cNvPr id="9" name="Shape 7"/>
          <p:cNvSpPr/>
          <p:nvPr/>
        </p:nvSpPr>
        <p:spPr>
          <a:xfrm>
            <a:off x="2286000" y="2084832"/>
            <a:ext cx="814118" cy="365760"/>
          </a:xfrm>
          <a:prstGeom prst="rect">
            <a:avLst/>
          </a:prstGeom>
          <a:solidFill>
            <a:srgbClr val="6B7280"/>
          </a:solidFill>
          <a:ln w="12700">
            <a:solidFill>
              <a:srgbClr val="6B7280">
                <a:alpha val="0"/>
              </a:srgbClr>
            </a:solidFill>
            <a:prstDash val="solid"/>
          </a:ln>
        </p:spPr>
      </p:sp>
      <p:sp>
        <p:nvSpPr>
          <p:cNvPr id="10" name="Text 8"/>
          <p:cNvSpPr/>
          <p:nvPr/>
        </p:nvSpPr>
        <p:spPr>
          <a:xfrm>
            <a:off x="6172200" y="2011680"/>
            <a:ext cx="640080" cy="493776"/>
          </a:xfrm>
          <a:prstGeom prst="rect">
            <a:avLst/>
          </a:prstGeom>
          <a:noFill/>
          <a:ln/>
        </p:spPr>
        <p:txBody>
          <a:bodyPr wrap="square" lIns="0" tIns="0" rIns="0" bIns="0" rtlCol="0" anchor="ctr">
            <a:normAutofit/>
          </a:bodyPr>
          <a:lstStyle/>
          <a:p>
            <a:pPr marL="0" indent="0" algn="r">
              <a:buNone/>
            </a:pPr>
            <a:r>
              <a:rPr lang="en-US" sz="920" b="1" dirty="0">
                <a:solidFill>
                  <a:srgbClr val="152238"/>
                </a:solidFill>
                <a:latin typeface="Lato" pitchFamily="34" charset="0"/>
                <a:ea typeface="Lato" pitchFamily="34" charset="-122"/>
                <a:cs typeface="Lato" pitchFamily="34" charset="-120"/>
              </a:rPr>
              <a:t>0.1127</a:t>
            </a:r>
            <a:endParaRPr lang="en-US" sz="920" dirty="0"/>
          </a:p>
        </p:txBody>
      </p:sp>
      <p:sp>
        <p:nvSpPr>
          <p:cNvPr id="11" name="Text 9"/>
          <p:cNvSpPr/>
          <p:nvPr/>
        </p:nvSpPr>
        <p:spPr>
          <a:xfrm>
            <a:off x="640080" y="2578608"/>
            <a:ext cx="1554480" cy="493776"/>
          </a:xfrm>
          <a:prstGeom prst="rect">
            <a:avLst/>
          </a:prstGeom>
          <a:noFill/>
          <a:ln/>
        </p:spPr>
        <p:txBody>
          <a:bodyPr wrap="square" lIns="0" tIns="0" rIns="0" bIns="0" rtlCol="0" anchor="ctr">
            <a:normAutofit/>
          </a:bodyPr>
          <a:lstStyle/>
          <a:p>
            <a:pPr marL="0" indent="0">
              <a:buNone/>
            </a:pPr>
            <a:r>
              <a:rPr lang="en-US" sz="1040" dirty="0">
                <a:solidFill>
                  <a:srgbClr val="152238"/>
                </a:solidFill>
                <a:latin typeface="Lato" pitchFamily="34" charset="0"/>
                <a:ea typeface="Lato" pitchFamily="34" charset="-122"/>
                <a:cs typeface="Lato" pitchFamily="34" charset="-120"/>
              </a:rPr>
              <a:t>LogReg</a:t>
            </a:r>
            <a:endParaRPr lang="en-US" sz="1040" dirty="0"/>
          </a:p>
        </p:txBody>
      </p:sp>
      <p:sp>
        <p:nvSpPr>
          <p:cNvPr id="12" name="Shape 10"/>
          <p:cNvSpPr/>
          <p:nvPr/>
        </p:nvSpPr>
        <p:spPr>
          <a:xfrm>
            <a:off x="2286000" y="2651760"/>
            <a:ext cx="3193624" cy="365760"/>
          </a:xfrm>
          <a:prstGeom prst="rect">
            <a:avLst/>
          </a:prstGeom>
          <a:solidFill>
            <a:srgbClr val="20A7A6"/>
          </a:solidFill>
          <a:ln w="12700">
            <a:solidFill>
              <a:srgbClr val="20A7A6">
                <a:alpha val="0"/>
              </a:srgbClr>
            </a:solidFill>
            <a:prstDash val="solid"/>
          </a:ln>
        </p:spPr>
      </p:sp>
      <p:sp>
        <p:nvSpPr>
          <p:cNvPr id="13" name="Text 11"/>
          <p:cNvSpPr/>
          <p:nvPr/>
        </p:nvSpPr>
        <p:spPr>
          <a:xfrm>
            <a:off x="6172200" y="2578608"/>
            <a:ext cx="640080" cy="493776"/>
          </a:xfrm>
          <a:prstGeom prst="rect">
            <a:avLst/>
          </a:prstGeom>
          <a:noFill/>
          <a:ln/>
        </p:spPr>
        <p:txBody>
          <a:bodyPr wrap="square" lIns="0" tIns="0" rIns="0" bIns="0" rtlCol="0" anchor="ctr">
            <a:normAutofit/>
          </a:bodyPr>
          <a:lstStyle/>
          <a:p>
            <a:pPr marL="0" indent="0" algn="r">
              <a:buNone/>
            </a:pPr>
            <a:r>
              <a:rPr lang="en-US" sz="920" b="1" dirty="0">
                <a:solidFill>
                  <a:srgbClr val="152238"/>
                </a:solidFill>
                <a:latin typeface="Lato" pitchFamily="34" charset="0"/>
                <a:ea typeface="Lato" pitchFamily="34" charset="-122"/>
                <a:cs typeface="Lato" pitchFamily="34" charset="-120"/>
              </a:rPr>
              <a:t>0.4421</a:t>
            </a:r>
            <a:endParaRPr lang="en-US" sz="920" dirty="0"/>
          </a:p>
        </p:txBody>
      </p:sp>
      <p:sp>
        <p:nvSpPr>
          <p:cNvPr id="14" name="Text 12"/>
          <p:cNvSpPr/>
          <p:nvPr/>
        </p:nvSpPr>
        <p:spPr>
          <a:xfrm>
            <a:off x="640080" y="3145536"/>
            <a:ext cx="1554480" cy="493776"/>
          </a:xfrm>
          <a:prstGeom prst="rect">
            <a:avLst/>
          </a:prstGeom>
          <a:noFill/>
          <a:ln/>
        </p:spPr>
        <p:txBody>
          <a:bodyPr wrap="square" lIns="0" tIns="0" rIns="0" bIns="0" rtlCol="0" anchor="ctr">
            <a:normAutofit/>
          </a:bodyPr>
          <a:lstStyle/>
          <a:p>
            <a:pPr marL="0" indent="0">
              <a:buNone/>
            </a:pPr>
            <a:r>
              <a:rPr lang="en-US" sz="1040" dirty="0">
                <a:solidFill>
                  <a:srgbClr val="152238"/>
                </a:solidFill>
                <a:latin typeface="Lato" pitchFamily="34" charset="0"/>
                <a:ea typeface="Lato" pitchFamily="34" charset="-122"/>
                <a:cs typeface="Lato" pitchFamily="34" charset="-120"/>
              </a:rPr>
              <a:t>GB no treatment</a:t>
            </a:r>
            <a:endParaRPr lang="en-US" sz="1040" dirty="0"/>
          </a:p>
        </p:txBody>
      </p:sp>
      <p:sp>
        <p:nvSpPr>
          <p:cNvPr id="15" name="Shape 13"/>
          <p:cNvSpPr/>
          <p:nvPr/>
        </p:nvSpPr>
        <p:spPr>
          <a:xfrm>
            <a:off x="2286000" y="3218688"/>
            <a:ext cx="3327986" cy="365760"/>
          </a:xfrm>
          <a:prstGeom prst="rect">
            <a:avLst/>
          </a:prstGeom>
          <a:solidFill>
            <a:srgbClr val="09243D"/>
          </a:solidFill>
          <a:ln w="12700">
            <a:solidFill>
              <a:srgbClr val="09243D">
                <a:alpha val="0"/>
              </a:srgbClr>
            </a:solidFill>
            <a:prstDash val="solid"/>
          </a:ln>
        </p:spPr>
      </p:sp>
      <p:sp>
        <p:nvSpPr>
          <p:cNvPr id="16" name="Text 14"/>
          <p:cNvSpPr/>
          <p:nvPr/>
        </p:nvSpPr>
        <p:spPr>
          <a:xfrm>
            <a:off x="6172200" y="3145536"/>
            <a:ext cx="640080" cy="493776"/>
          </a:xfrm>
          <a:prstGeom prst="rect">
            <a:avLst/>
          </a:prstGeom>
          <a:noFill/>
          <a:ln/>
        </p:spPr>
        <p:txBody>
          <a:bodyPr wrap="square" lIns="0" tIns="0" rIns="0" bIns="0" rtlCol="0" anchor="ctr">
            <a:normAutofit/>
          </a:bodyPr>
          <a:lstStyle/>
          <a:p>
            <a:pPr marL="0" indent="0" algn="r">
              <a:buNone/>
            </a:pPr>
            <a:r>
              <a:rPr lang="en-US" sz="920" b="1" dirty="0">
                <a:solidFill>
                  <a:srgbClr val="152238"/>
                </a:solidFill>
                <a:latin typeface="Lato" pitchFamily="34" charset="0"/>
                <a:ea typeface="Lato" pitchFamily="34" charset="-122"/>
                <a:cs typeface="Lato" pitchFamily="34" charset="-120"/>
              </a:rPr>
              <a:t>0.4607</a:t>
            </a:r>
            <a:endParaRPr lang="en-US" sz="920" dirty="0"/>
          </a:p>
        </p:txBody>
      </p:sp>
      <p:sp>
        <p:nvSpPr>
          <p:cNvPr id="17" name="Text 15"/>
          <p:cNvSpPr/>
          <p:nvPr/>
        </p:nvSpPr>
        <p:spPr>
          <a:xfrm>
            <a:off x="640080" y="3712464"/>
            <a:ext cx="1554480" cy="493776"/>
          </a:xfrm>
          <a:prstGeom prst="rect">
            <a:avLst/>
          </a:prstGeom>
          <a:noFill/>
          <a:ln/>
        </p:spPr>
        <p:txBody>
          <a:bodyPr wrap="square" lIns="0" tIns="0" rIns="0" bIns="0" rtlCol="0" anchor="ctr">
            <a:normAutofit/>
          </a:bodyPr>
          <a:lstStyle/>
          <a:p>
            <a:pPr marL="0" indent="0">
              <a:buNone/>
            </a:pPr>
            <a:r>
              <a:rPr lang="en-US" sz="1040" dirty="0">
                <a:solidFill>
                  <a:srgbClr val="152238"/>
                </a:solidFill>
                <a:latin typeface="Lato" pitchFamily="34" charset="0"/>
                <a:ea typeface="Lato" pitchFamily="34" charset="-122"/>
                <a:cs typeface="Lato" pitchFamily="34" charset="-120"/>
              </a:rPr>
              <a:t>GB + ROS</a:t>
            </a:r>
            <a:endParaRPr lang="en-US" sz="1040" dirty="0"/>
          </a:p>
        </p:txBody>
      </p:sp>
      <p:sp>
        <p:nvSpPr>
          <p:cNvPr id="18" name="Shape 16"/>
          <p:cNvSpPr/>
          <p:nvPr/>
        </p:nvSpPr>
        <p:spPr>
          <a:xfrm>
            <a:off x="2286000" y="3785616"/>
            <a:ext cx="3347490" cy="365760"/>
          </a:xfrm>
          <a:prstGeom prst="rect">
            <a:avLst/>
          </a:prstGeom>
          <a:solidFill>
            <a:srgbClr val="F5A33B"/>
          </a:solidFill>
          <a:ln w="12700">
            <a:solidFill>
              <a:srgbClr val="F5A33B">
                <a:alpha val="0"/>
              </a:srgbClr>
            </a:solidFill>
            <a:prstDash val="solid"/>
          </a:ln>
        </p:spPr>
      </p:sp>
      <p:sp>
        <p:nvSpPr>
          <p:cNvPr id="19" name="Text 17"/>
          <p:cNvSpPr/>
          <p:nvPr/>
        </p:nvSpPr>
        <p:spPr>
          <a:xfrm>
            <a:off x="6172200" y="3712464"/>
            <a:ext cx="640080" cy="493776"/>
          </a:xfrm>
          <a:prstGeom prst="rect">
            <a:avLst/>
          </a:prstGeom>
          <a:noFill/>
          <a:ln/>
        </p:spPr>
        <p:txBody>
          <a:bodyPr wrap="square" lIns="0" tIns="0" rIns="0" bIns="0" rtlCol="0" anchor="ctr">
            <a:normAutofit/>
          </a:bodyPr>
          <a:lstStyle/>
          <a:p>
            <a:pPr marL="0" indent="0" algn="r">
              <a:buNone/>
            </a:pPr>
            <a:r>
              <a:rPr lang="en-US" sz="920" b="1" dirty="0">
                <a:solidFill>
                  <a:srgbClr val="152238"/>
                </a:solidFill>
                <a:latin typeface="Lato" pitchFamily="34" charset="0"/>
                <a:ea typeface="Lato" pitchFamily="34" charset="-122"/>
                <a:cs typeface="Lato" pitchFamily="34" charset="-120"/>
              </a:rPr>
              <a:t>0.4634</a:t>
            </a:r>
            <a:endParaRPr lang="en-US" sz="920" dirty="0"/>
          </a:p>
        </p:txBody>
      </p:sp>
      <p:sp>
        <p:nvSpPr>
          <p:cNvPr id="20" name="Text 18"/>
          <p:cNvSpPr/>
          <p:nvPr/>
        </p:nvSpPr>
        <p:spPr>
          <a:xfrm>
            <a:off x="640080" y="4279392"/>
            <a:ext cx="1554480" cy="493776"/>
          </a:xfrm>
          <a:prstGeom prst="rect">
            <a:avLst/>
          </a:prstGeom>
          <a:noFill/>
          <a:ln/>
        </p:spPr>
        <p:txBody>
          <a:bodyPr wrap="square" lIns="0" tIns="0" rIns="0" bIns="0" rtlCol="0" anchor="ctr">
            <a:normAutofit/>
          </a:bodyPr>
          <a:lstStyle/>
          <a:p>
            <a:pPr marL="0" indent="0">
              <a:buNone/>
            </a:pPr>
            <a:r>
              <a:rPr lang="en-US" sz="1040" dirty="0">
                <a:solidFill>
                  <a:srgbClr val="152238"/>
                </a:solidFill>
                <a:latin typeface="Lato" pitchFamily="34" charset="0"/>
                <a:ea typeface="Lato" pitchFamily="34" charset="-122"/>
                <a:cs typeface="Lato" pitchFamily="34" charset="-120"/>
              </a:rPr>
              <a:t>Tuned GB + ROS</a:t>
            </a:r>
            <a:endParaRPr lang="en-US" sz="1040" dirty="0"/>
          </a:p>
        </p:txBody>
      </p:sp>
      <p:sp>
        <p:nvSpPr>
          <p:cNvPr id="21" name="Shape 19"/>
          <p:cNvSpPr/>
          <p:nvPr/>
        </p:nvSpPr>
        <p:spPr>
          <a:xfrm>
            <a:off x="2286000" y="4352544"/>
            <a:ext cx="3340989" cy="365760"/>
          </a:xfrm>
          <a:prstGeom prst="rect">
            <a:avLst/>
          </a:prstGeom>
          <a:solidFill>
            <a:srgbClr val="20A7A6"/>
          </a:solidFill>
          <a:ln w="12700">
            <a:solidFill>
              <a:srgbClr val="20A7A6">
                <a:alpha val="0"/>
              </a:srgbClr>
            </a:solidFill>
            <a:prstDash val="solid"/>
          </a:ln>
        </p:spPr>
      </p:sp>
      <p:sp>
        <p:nvSpPr>
          <p:cNvPr id="22" name="Text 20"/>
          <p:cNvSpPr/>
          <p:nvPr/>
        </p:nvSpPr>
        <p:spPr>
          <a:xfrm>
            <a:off x="6172200" y="4279392"/>
            <a:ext cx="640080" cy="493776"/>
          </a:xfrm>
          <a:prstGeom prst="rect">
            <a:avLst/>
          </a:prstGeom>
          <a:noFill/>
          <a:ln/>
        </p:spPr>
        <p:txBody>
          <a:bodyPr wrap="square" lIns="0" tIns="0" rIns="0" bIns="0" rtlCol="0" anchor="ctr">
            <a:normAutofit/>
          </a:bodyPr>
          <a:lstStyle/>
          <a:p>
            <a:pPr marL="0" indent="0" algn="r">
              <a:buNone/>
            </a:pPr>
            <a:r>
              <a:rPr lang="en-US" sz="920" b="1" dirty="0">
                <a:solidFill>
                  <a:srgbClr val="152238"/>
                </a:solidFill>
                <a:latin typeface="Lato" pitchFamily="34" charset="0"/>
                <a:ea typeface="Lato" pitchFamily="34" charset="-122"/>
                <a:cs typeface="Lato" pitchFamily="34" charset="-120"/>
              </a:rPr>
              <a:t>0.4625</a:t>
            </a:r>
            <a:endParaRPr lang="en-US" sz="920" dirty="0"/>
          </a:p>
        </p:txBody>
      </p:sp>
      <p:sp>
        <p:nvSpPr>
          <p:cNvPr id="23" name="Shape 21"/>
          <p:cNvSpPr/>
          <p:nvPr/>
        </p:nvSpPr>
        <p:spPr>
          <a:xfrm>
            <a:off x="7360920" y="1965960"/>
            <a:ext cx="3291840" cy="713232"/>
          </a:xfrm>
          <a:prstGeom prst="roundRect">
            <a:avLst>
              <a:gd name="adj" fmla="val 6410"/>
            </a:avLst>
          </a:prstGeom>
          <a:solidFill>
            <a:srgbClr val="F4F8FA"/>
          </a:solidFill>
          <a:ln w="7620">
            <a:solidFill>
              <a:srgbClr val="D7E4EA"/>
            </a:solidFill>
            <a:prstDash val="solid"/>
          </a:ln>
        </p:spPr>
      </p:sp>
      <p:sp>
        <p:nvSpPr>
          <p:cNvPr id="24" name="Shape 22"/>
          <p:cNvSpPr/>
          <p:nvPr/>
        </p:nvSpPr>
        <p:spPr>
          <a:xfrm>
            <a:off x="7360920" y="1965960"/>
            <a:ext cx="73152" cy="713232"/>
          </a:xfrm>
          <a:prstGeom prst="rect">
            <a:avLst/>
          </a:prstGeom>
          <a:solidFill>
            <a:srgbClr val="F5A33B"/>
          </a:solidFill>
          <a:ln w="12700">
            <a:solidFill>
              <a:srgbClr val="F5A33B">
                <a:alpha val="0"/>
              </a:srgbClr>
            </a:solidFill>
            <a:prstDash val="solid"/>
          </a:ln>
        </p:spPr>
      </p:sp>
      <p:sp>
        <p:nvSpPr>
          <p:cNvPr id="25" name="Text 23"/>
          <p:cNvSpPr/>
          <p:nvPr/>
        </p:nvSpPr>
        <p:spPr>
          <a:xfrm>
            <a:off x="7525512" y="2093976"/>
            <a:ext cx="305409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Selected model</a:t>
            </a:r>
            <a:endParaRPr lang="en-US" sz="1250" dirty="0"/>
          </a:p>
        </p:txBody>
      </p:sp>
      <p:sp>
        <p:nvSpPr>
          <p:cNvPr id="26" name="Text 24"/>
          <p:cNvSpPr/>
          <p:nvPr/>
        </p:nvSpPr>
        <p:spPr>
          <a:xfrm>
            <a:off x="7525512" y="2404872"/>
            <a:ext cx="3035808" cy="201168"/>
          </a:xfrm>
          <a:prstGeom prst="rect">
            <a:avLst/>
          </a:prstGeom>
          <a:noFill/>
          <a:ln/>
        </p:spPr>
        <p:txBody>
          <a:bodyPr wrap="square" lIns="0" tIns="0" rIns="0" bIns="0" rtlCol="0" anchor="ctr">
            <a:normAutofit fontScale="92500"/>
          </a:bodyPr>
          <a:lstStyle/>
          <a:p>
            <a:pPr marL="0" indent="0">
              <a:buNone/>
            </a:pPr>
            <a:r>
              <a:rPr lang="en-US" sz="1200" dirty="0">
                <a:solidFill>
                  <a:srgbClr val="152238"/>
                </a:solidFill>
                <a:latin typeface="Lato" pitchFamily="34" charset="0"/>
                <a:ea typeface="Lato" pitchFamily="34" charset="-122"/>
                <a:cs typeface="Lato" pitchFamily="34" charset="-120"/>
              </a:rPr>
              <a:t>Base Gradient Boosting + Random Oversampling</a:t>
            </a:r>
            <a:endParaRPr lang="en-US" sz="1200" dirty="0"/>
          </a:p>
        </p:txBody>
      </p:sp>
      <p:sp>
        <p:nvSpPr>
          <p:cNvPr id="27" name="Shape 25"/>
          <p:cNvSpPr/>
          <p:nvPr/>
        </p:nvSpPr>
        <p:spPr>
          <a:xfrm>
            <a:off x="7360920" y="2971800"/>
            <a:ext cx="3291840" cy="713232"/>
          </a:xfrm>
          <a:prstGeom prst="roundRect">
            <a:avLst>
              <a:gd name="adj" fmla="val 6410"/>
            </a:avLst>
          </a:prstGeom>
          <a:solidFill>
            <a:srgbClr val="F4F8FA"/>
          </a:solidFill>
          <a:ln w="7620">
            <a:solidFill>
              <a:srgbClr val="D7E4EA"/>
            </a:solidFill>
            <a:prstDash val="solid"/>
          </a:ln>
        </p:spPr>
      </p:sp>
      <p:sp>
        <p:nvSpPr>
          <p:cNvPr id="28" name="Shape 26"/>
          <p:cNvSpPr/>
          <p:nvPr/>
        </p:nvSpPr>
        <p:spPr>
          <a:xfrm>
            <a:off x="7360920" y="2971800"/>
            <a:ext cx="73152" cy="713232"/>
          </a:xfrm>
          <a:prstGeom prst="rect">
            <a:avLst/>
          </a:prstGeom>
          <a:solidFill>
            <a:srgbClr val="20A7A6"/>
          </a:solidFill>
          <a:ln w="12700">
            <a:solidFill>
              <a:srgbClr val="20A7A6">
                <a:alpha val="0"/>
              </a:srgbClr>
            </a:solidFill>
            <a:prstDash val="solid"/>
          </a:ln>
        </p:spPr>
      </p:sp>
      <p:sp>
        <p:nvSpPr>
          <p:cNvPr id="29" name="Text 27"/>
          <p:cNvSpPr/>
          <p:nvPr/>
        </p:nvSpPr>
        <p:spPr>
          <a:xfrm>
            <a:off x="7525512" y="3099816"/>
            <a:ext cx="305409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Tuning result</a:t>
            </a:r>
            <a:endParaRPr lang="en-US" sz="1250" dirty="0"/>
          </a:p>
        </p:txBody>
      </p:sp>
      <p:sp>
        <p:nvSpPr>
          <p:cNvPr id="30" name="Text 28"/>
          <p:cNvSpPr/>
          <p:nvPr/>
        </p:nvSpPr>
        <p:spPr>
          <a:xfrm>
            <a:off x="7525512" y="3410712"/>
            <a:ext cx="3035808" cy="201168"/>
          </a:xfrm>
          <a:prstGeom prst="rect">
            <a:avLst/>
          </a:prstGeom>
          <a:noFill/>
          <a:ln/>
        </p:spPr>
        <p:txBody>
          <a:bodyPr wrap="square" lIns="0" tIns="0" rIns="0" bIns="0" rtlCol="0" anchor="ctr">
            <a:normAutofit/>
          </a:bodyPr>
          <a:lstStyle/>
          <a:p>
            <a:pPr marL="0" indent="0">
              <a:buNone/>
            </a:pPr>
            <a:r>
              <a:rPr lang="en-US" sz="1200" dirty="0">
                <a:solidFill>
                  <a:srgbClr val="152238"/>
                </a:solidFill>
                <a:latin typeface="Lato" pitchFamily="34" charset="0"/>
                <a:ea typeface="Lato" pitchFamily="34" charset="-122"/>
                <a:cs typeface="Lato" pitchFamily="34" charset="-120"/>
              </a:rPr>
              <a:t>Tuned configuration did not improve AP.</a:t>
            </a:r>
            <a:endParaRPr lang="en-US" sz="1200" dirty="0"/>
          </a:p>
        </p:txBody>
      </p:sp>
      <p:sp>
        <p:nvSpPr>
          <p:cNvPr id="31" name="Shape 29"/>
          <p:cNvSpPr/>
          <p:nvPr/>
        </p:nvSpPr>
        <p:spPr>
          <a:xfrm>
            <a:off x="7360920" y="3977640"/>
            <a:ext cx="3291840" cy="804672"/>
          </a:xfrm>
          <a:prstGeom prst="roundRect">
            <a:avLst>
              <a:gd name="adj" fmla="val 5682"/>
            </a:avLst>
          </a:prstGeom>
          <a:solidFill>
            <a:srgbClr val="F4F8FA"/>
          </a:solidFill>
          <a:ln w="7620">
            <a:solidFill>
              <a:srgbClr val="D7E4EA"/>
            </a:solidFill>
            <a:prstDash val="solid"/>
          </a:ln>
        </p:spPr>
      </p:sp>
      <p:sp>
        <p:nvSpPr>
          <p:cNvPr id="32" name="Shape 30"/>
          <p:cNvSpPr/>
          <p:nvPr/>
        </p:nvSpPr>
        <p:spPr>
          <a:xfrm>
            <a:off x="7360920" y="3977640"/>
            <a:ext cx="73152" cy="804672"/>
          </a:xfrm>
          <a:prstGeom prst="rect">
            <a:avLst/>
          </a:prstGeom>
          <a:solidFill>
            <a:srgbClr val="09243D"/>
          </a:solidFill>
          <a:ln w="12700">
            <a:solidFill>
              <a:srgbClr val="09243D">
                <a:alpha val="0"/>
              </a:srgbClr>
            </a:solidFill>
            <a:prstDash val="solid"/>
          </a:ln>
        </p:spPr>
      </p:sp>
      <p:sp>
        <p:nvSpPr>
          <p:cNvPr id="33" name="Text 31"/>
          <p:cNvSpPr/>
          <p:nvPr/>
        </p:nvSpPr>
        <p:spPr>
          <a:xfrm>
            <a:off x="7525512" y="4105656"/>
            <a:ext cx="305409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Decision</a:t>
            </a:r>
            <a:endParaRPr lang="en-US" sz="1250" dirty="0"/>
          </a:p>
        </p:txBody>
      </p:sp>
      <p:sp>
        <p:nvSpPr>
          <p:cNvPr id="34" name="Text 32"/>
          <p:cNvSpPr/>
          <p:nvPr/>
        </p:nvSpPr>
        <p:spPr>
          <a:xfrm>
            <a:off x="7525512" y="4416552"/>
            <a:ext cx="3035808" cy="292608"/>
          </a:xfrm>
          <a:prstGeom prst="rect">
            <a:avLst/>
          </a:prstGeom>
          <a:noFill/>
          <a:ln/>
        </p:spPr>
        <p:txBody>
          <a:bodyPr wrap="square" lIns="0" tIns="0" rIns="0" bIns="0" rtlCol="0" anchor="ctr">
            <a:normAutofit fontScale="92500" lnSpcReduction="20000"/>
          </a:bodyPr>
          <a:lstStyle/>
          <a:p>
            <a:pPr marL="0" indent="0">
              <a:buNone/>
            </a:pPr>
            <a:r>
              <a:rPr lang="en-US" sz="1150" dirty="0">
                <a:solidFill>
                  <a:srgbClr val="152238"/>
                </a:solidFill>
                <a:latin typeface="Lato" pitchFamily="34" charset="0"/>
                <a:ea typeface="Lato" pitchFamily="34" charset="-122"/>
                <a:cs typeface="Lato" pitchFamily="34" charset="-120"/>
              </a:rPr>
              <a:t>Use base configuration because AP is slightly higher and simpler.</a:t>
            </a:r>
            <a:endParaRPr lang="en-US" sz="1150" dirty="0"/>
          </a:p>
        </p:txBody>
      </p:sp>
      <p:sp>
        <p:nvSpPr>
          <p:cNvPr id="35" name="Shape 3">
            <a:extLst>
              <a:ext uri="{FF2B5EF4-FFF2-40B4-BE49-F238E27FC236}">
                <a16:creationId xmlns:a16="http://schemas.microsoft.com/office/drawing/2014/main" id="{FF3F8490-3595-C6A5-CA2A-15148104E23C}"/>
              </a:ext>
            </a:extLst>
          </p:cNvPr>
          <p:cNvSpPr/>
          <p:nvPr/>
        </p:nvSpPr>
        <p:spPr>
          <a:xfrm>
            <a:off x="292608" y="1051560"/>
            <a:ext cx="1572768" cy="27432"/>
          </a:xfrm>
          <a:prstGeom prst="rect">
            <a:avLst/>
          </a:prstGeom>
          <a:solidFill>
            <a:srgbClr val="F4A340"/>
          </a:solidFill>
          <a:ln w="12700">
            <a:solidFill>
              <a:srgbClr val="F4A340"/>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09243D"/>
          </a:solidFill>
          <a:ln w="12700">
            <a:solidFill>
              <a:srgbClr val="09243D">
                <a:alpha val="0"/>
              </a:srgbClr>
            </a:solidFill>
            <a:prstDash val="solid"/>
          </a:ln>
        </p:spPr>
      </p:sp>
      <p:sp>
        <p:nvSpPr>
          <p:cNvPr id="3" name="Text 1"/>
          <p:cNvSpPr/>
          <p:nvPr/>
        </p:nvSpPr>
        <p:spPr>
          <a:xfrm>
            <a:off x="320040" y="201168"/>
            <a:ext cx="6949440" cy="201168"/>
          </a:xfrm>
          <a:prstGeom prst="rect">
            <a:avLst/>
          </a:prstGeom>
          <a:noFill/>
          <a:ln/>
        </p:spPr>
        <p:txBody>
          <a:bodyPr wrap="square" lIns="0" tIns="0" rIns="0" bIns="0" rtlCol="0" anchor="ctr"/>
          <a:lstStyle/>
          <a:p>
            <a:pPr marL="0" indent="0">
              <a:buNone/>
            </a:pPr>
            <a:r>
              <a:rPr lang="en-US" sz="850" b="1" dirty="0">
                <a:solidFill>
                  <a:srgbClr val="20A7A6"/>
                </a:solidFill>
                <a:latin typeface="Lato" pitchFamily="34" charset="0"/>
                <a:ea typeface="Lato" pitchFamily="34" charset="-122"/>
                <a:cs typeface="Lato" pitchFamily="34" charset="-120"/>
              </a:rPr>
              <a:t>SELECTED MODEL PERFORMANCE</a:t>
            </a:r>
            <a:endParaRPr lang="en-US" sz="850" dirty="0"/>
          </a:p>
        </p:txBody>
      </p:sp>
      <p:sp>
        <p:nvSpPr>
          <p:cNvPr id="4" name="Text 2"/>
          <p:cNvSpPr/>
          <p:nvPr/>
        </p:nvSpPr>
        <p:spPr>
          <a:xfrm>
            <a:off x="11338560" y="182880"/>
            <a:ext cx="502920" cy="182880"/>
          </a:xfrm>
          <a:prstGeom prst="rect">
            <a:avLst/>
          </a:prstGeom>
          <a:noFill/>
          <a:ln/>
        </p:spPr>
        <p:txBody>
          <a:bodyPr wrap="square" lIns="0" tIns="0" rIns="0" bIns="0" rtlCol="0" anchor="ctr"/>
          <a:lstStyle/>
          <a:p>
            <a:pPr marL="0" indent="0" algn="r">
              <a:buNone/>
            </a:pPr>
            <a:r>
              <a:rPr lang="en-US" sz="750" dirty="0">
                <a:solidFill>
                  <a:srgbClr val="6B7280"/>
                </a:solidFill>
                <a:latin typeface="Lato" pitchFamily="34" charset="0"/>
                <a:ea typeface="Lato" pitchFamily="34" charset="-122"/>
                <a:cs typeface="Lato" pitchFamily="34" charset="-120"/>
              </a:rPr>
              <a:t>15/23</a:t>
            </a:r>
            <a:endParaRPr lang="en-US" sz="750" dirty="0"/>
          </a:p>
        </p:txBody>
      </p:sp>
      <p:sp>
        <p:nvSpPr>
          <p:cNvPr id="5" name="Text 3"/>
          <p:cNvSpPr/>
          <p:nvPr/>
        </p:nvSpPr>
        <p:spPr>
          <a:xfrm>
            <a:off x="320040" y="566928"/>
            <a:ext cx="8778240" cy="512064"/>
          </a:xfrm>
          <a:prstGeom prst="rect">
            <a:avLst/>
          </a:prstGeom>
          <a:noFill/>
          <a:ln/>
        </p:spPr>
        <p:txBody>
          <a:bodyPr wrap="square" lIns="0" tIns="0" rIns="0" bIns="0" rtlCol="0" anchor="ctr">
            <a:normAutofit/>
          </a:bodyPr>
          <a:lstStyle/>
          <a:p>
            <a:pPr marL="0" indent="0">
              <a:buNone/>
            </a:pPr>
            <a:r>
              <a:rPr lang="en-US" sz="2700" b="1" dirty="0">
                <a:solidFill>
                  <a:srgbClr val="09243D"/>
                </a:solidFill>
                <a:latin typeface="Lato" pitchFamily="34" charset="0"/>
                <a:ea typeface="Lato" pitchFamily="34" charset="-122"/>
                <a:cs typeface="Lato" pitchFamily="34" charset="-120"/>
              </a:rPr>
              <a:t>Selected Model Generalizes to Test Data</a:t>
            </a:r>
            <a:endParaRPr lang="en-US" sz="2700" dirty="0"/>
          </a:p>
        </p:txBody>
      </p:sp>
      <p:sp>
        <p:nvSpPr>
          <p:cNvPr id="7" name="Shape 5"/>
          <p:cNvSpPr/>
          <p:nvPr/>
        </p:nvSpPr>
        <p:spPr>
          <a:xfrm>
            <a:off x="685800" y="1417320"/>
            <a:ext cx="2194560" cy="1051560"/>
          </a:xfrm>
          <a:prstGeom prst="roundRect">
            <a:avLst>
              <a:gd name="adj" fmla="val 3478"/>
            </a:avLst>
          </a:prstGeom>
          <a:solidFill>
            <a:srgbClr val="F4F8FA"/>
          </a:solidFill>
          <a:ln w="8890">
            <a:solidFill>
              <a:srgbClr val="DCE9EF"/>
            </a:solidFill>
            <a:prstDash val="solid"/>
          </a:ln>
        </p:spPr>
      </p:sp>
      <p:sp>
        <p:nvSpPr>
          <p:cNvPr id="8" name="Text 6"/>
          <p:cNvSpPr/>
          <p:nvPr/>
        </p:nvSpPr>
        <p:spPr>
          <a:xfrm>
            <a:off x="777240" y="1554480"/>
            <a:ext cx="2011680" cy="292608"/>
          </a:xfrm>
          <a:prstGeom prst="rect">
            <a:avLst/>
          </a:prstGeom>
          <a:noFill/>
          <a:ln/>
        </p:spPr>
        <p:txBody>
          <a:bodyPr wrap="square" lIns="0" tIns="0" rIns="0" bIns="0" rtlCol="0" anchor="ctr"/>
          <a:lstStyle/>
          <a:p>
            <a:pPr marL="0" indent="0" algn="ctr">
              <a:buNone/>
            </a:pPr>
            <a:r>
              <a:rPr lang="en-US" sz="1900" b="1" dirty="0">
                <a:solidFill>
                  <a:srgbClr val="20A7A6"/>
                </a:solidFill>
                <a:latin typeface="Lato" pitchFamily="34" charset="0"/>
                <a:ea typeface="Lato" pitchFamily="34" charset="-122"/>
                <a:cs typeface="Lato" pitchFamily="34" charset="-120"/>
              </a:rPr>
              <a:t>0.4634</a:t>
            </a:r>
            <a:endParaRPr lang="en-US" sz="1900" dirty="0"/>
          </a:p>
        </p:txBody>
      </p:sp>
      <p:sp>
        <p:nvSpPr>
          <p:cNvPr id="9" name="Text 7"/>
          <p:cNvSpPr/>
          <p:nvPr/>
        </p:nvSpPr>
        <p:spPr>
          <a:xfrm>
            <a:off x="777240" y="1920240"/>
            <a:ext cx="2011680" cy="502920"/>
          </a:xfrm>
          <a:prstGeom prst="rect">
            <a:avLst/>
          </a:prstGeom>
          <a:noFill/>
          <a:ln/>
        </p:spPr>
        <p:txBody>
          <a:bodyPr wrap="square" lIns="0" tIns="0" rIns="0" bIns="0" rtlCol="0" anchor="ctr">
            <a:normAutofit/>
          </a:bodyPr>
          <a:lstStyle/>
          <a:p>
            <a:pPr marL="0" indent="0" algn="ctr">
              <a:buNone/>
            </a:pPr>
            <a:r>
              <a:rPr lang="en-US" sz="950" b="1" dirty="0">
                <a:solidFill>
                  <a:srgbClr val="09243D"/>
                </a:solidFill>
                <a:latin typeface="Lato" pitchFamily="34" charset="0"/>
                <a:ea typeface="Lato" pitchFamily="34" charset="-122"/>
                <a:cs typeface="Lato" pitchFamily="34" charset="-120"/>
              </a:rPr>
              <a:t>5-fold CV AP</a:t>
            </a:r>
            <a:endParaRPr lang="en-US" sz="950" dirty="0"/>
          </a:p>
        </p:txBody>
      </p:sp>
      <p:sp>
        <p:nvSpPr>
          <p:cNvPr id="10" name="Shape 8"/>
          <p:cNvSpPr/>
          <p:nvPr/>
        </p:nvSpPr>
        <p:spPr>
          <a:xfrm>
            <a:off x="3337560" y="1417320"/>
            <a:ext cx="2194560" cy="1051560"/>
          </a:xfrm>
          <a:prstGeom prst="roundRect">
            <a:avLst>
              <a:gd name="adj" fmla="val 3478"/>
            </a:avLst>
          </a:prstGeom>
          <a:solidFill>
            <a:srgbClr val="F4F8FA"/>
          </a:solidFill>
          <a:ln w="8890">
            <a:solidFill>
              <a:srgbClr val="DCE9EF"/>
            </a:solidFill>
            <a:prstDash val="solid"/>
          </a:ln>
        </p:spPr>
      </p:sp>
      <p:sp>
        <p:nvSpPr>
          <p:cNvPr id="11" name="Text 9"/>
          <p:cNvSpPr/>
          <p:nvPr/>
        </p:nvSpPr>
        <p:spPr>
          <a:xfrm>
            <a:off x="3429000" y="1554480"/>
            <a:ext cx="2011680" cy="292608"/>
          </a:xfrm>
          <a:prstGeom prst="rect">
            <a:avLst/>
          </a:prstGeom>
          <a:noFill/>
          <a:ln/>
        </p:spPr>
        <p:txBody>
          <a:bodyPr wrap="square" lIns="0" tIns="0" rIns="0" bIns="0" rtlCol="0" anchor="ctr"/>
          <a:lstStyle/>
          <a:p>
            <a:pPr marL="0" indent="0" algn="ctr">
              <a:buNone/>
            </a:pPr>
            <a:r>
              <a:rPr lang="en-US" sz="1900" b="1" dirty="0">
                <a:solidFill>
                  <a:srgbClr val="F5A33B"/>
                </a:solidFill>
                <a:latin typeface="Lato" pitchFamily="34" charset="0"/>
                <a:ea typeface="Lato" pitchFamily="34" charset="-122"/>
                <a:cs typeface="Lato" pitchFamily="34" charset="-120"/>
              </a:rPr>
              <a:t>0.4810</a:t>
            </a:r>
            <a:endParaRPr lang="en-US" sz="1900" dirty="0"/>
          </a:p>
        </p:txBody>
      </p:sp>
      <p:sp>
        <p:nvSpPr>
          <p:cNvPr id="12" name="Text 10"/>
          <p:cNvSpPr/>
          <p:nvPr/>
        </p:nvSpPr>
        <p:spPr>
          <a:xfrm>
            <a:off x="3429000" y="1920240"/>
            <a:ext cx="2011680" cy="502920"/>
          </a:xfrm>
          <a:prstGeom prst="rect">
            <a:avLst/>
          </a:prstGeom>
          <a:noFill/>
          <a:ln/>
        </p:spPr>
        <p:txBody>
          <a:bodyPr wrap="square" lIns="0" tIns="0" rIns="0" bIns="0" rtlCol="0" anchor="ctr">
            <a:normAutofit/>
          </a:bodyPr>
          <a:lstStyle/>
          <a:p>
            <a:pPr marL="0" indent="0" algn="ctr">
              <a:buNone/>
            </a:pPr>
            <a:r>
              <a:rPr lang="en-US" sz="950" b="1" dirty="0">
                <a:solidFill>
                  <a:srgbClr val="09243D"/>
                </a:solidFill>
                <a:latin typeface="Lato" pitchFamily="34" charset="0"/>
                <a:ea typeface="Lato" pitchFamily="34" charset="-122"/>
                <a:cs typeface="Lato" pitchFamily="34" charset="-120"/>
              </a:rPr>
              <a:t>Untouched test AP</a:t>
            </a:r>
            <a:endParaRPr lang="en-US" sz="950" dirty="0"/>
          </a:p>
        </p:txBody>
      </p:sp>
      <p:sp>
        <p:nvSpPr>
          <p:cNvPr id="13" name="Shape 11"/>
          <p:cNvSpPr/>
          <p:nvPr/>
        </p:nvSpPr>
        <p:spPr>
          <a:xfrm>
            <a:off x="5989320" y="1417320"/>
            <a:ext cx="2194560" cy="1051560"/>
          </a:xfrm>
          <a:prstGeom prst="roundRect">
            <a:avLst>
              <a:gd name="adj" fmla="val 3478"/>
            </a:avLst>
          </a:prstGeom>
          <a:solidFill>
            <a:srgbClr val="F4F8FA"/>
          </a:solidFill>
          <a:ln w="8890">
            <a:solidFill>
              <a:srgbClr val="DCE9EF"/>
            </a:solidFill>
            <a:prstDash val="solid"/>
          </a:ln>
        </p:spPr>
      </p:sp>
      <p:sp>
        <p:nvSpPr>
          <p:cNvPr id="14" name="Text 12"/>
          <p:cNvSpPr/>
          <p:nvPr/>
        </p:nvSpPr>
        <p:spPr>
          <a:xfrm>
            <a:off x="6080760" y="1554480"/>
            <a:ext cx="2011680" cy="292608"/>
          </a:xfrm>
          <a:prstGeom prst="rect">
            <a:avLst/>
          </a:prstGeom>
          <a:noFill/>
          <a:ln/>
        </p:spPr>
        <p:txBody>
          <a:bodyPr wrap="square" lIns="0" tIns="0" rIns="0" bIns="0" rtlCol="0" anchor="ctr"/>
          <a:lstStyle/>
          <a:p>
            <a:pPr marL="0" indent="0" algn="ctr">
              <a:buNone/>
            </a:pPr>
            <a:r>
              <a:rPr lang="en-US" sz="1900" b="1" dirty="0">
                <a:solidFill>
                  <a:srgbClr val="09243D"/>
                </a:solidFill>
                <a:latin typeface="Lato" pitchFamily="34" charset="0"/>
                <a:ea typeface="Lato" pitchFamily="34" charset="-122"/>
                <a:cs typeface="Lato" pitchFamily="34" charset="-120"/>
              </a:rPr>
              <a:t>0.8140</a:t>
            </a:r>
            <a:endParaRPr lang="en-US" sz="1900" dirty="0"/>
          </a:p>
        </p:txBody>
      </p:sp>
      <p:sp>
        <p:nvSpPr>
          <p:cNvPr id="15" name="Text 13"/>
          <p:cNvSpPr/>
          <p:nvPr/>
        </p:nvSpPr>
        <p:spPr>
          <a:xfrm>
            <a:off x="6080760" y="1920240"/>
            <a:ext cx="2011680" cy="502920"/>
          </a:xfrm>
          <a:prstGeom prst="rect">
            <a:avLst/>
          </a:prstGeom>
          <a:noFill/>
          <a:ln/>
        </p:spPr>
        <p:txBody>
          <a:bodyPr wrap="square" lIns="0" tIns="0" rIns="0" bIns="0" rtlCol="0" anchor="ctr">
            <a:normAutofit/>
          </a:bodyPr>
          <a:lstStyle/>
          <a:p>
            <a:pPr marL="0" indent="0" algn="ctr">
              <a:buNone/>
            </a:pPr>
            <a:r>
              <a:rPr lang="en-US" sz="950" b="1" dirty="0">
                <a:solidFill>
                  <a:srgbClr val="09243D"/>
                </a:solidFill>
                <a:latin typeface="Lato" pitchFamily="34" charset="0"/>
                <a:ea typeface="Lato" pitchFamily="34" charset="-122"/>
                <a:cs typeface="Lato" pitchFamily="34" charset="-120"/>
              </a:rPr>
              <a:t>Untouched test ROC-AUC</a:t>
            </a:r>
            <a:endParaRPr lang="en-US" sz="950" dirty="0"/>
          </a:p>
        </p:txBody>
      </p:sp>
      <p:sp>
        <p:nvSpPr>
          <p:cNvPr id="16" name="Text 14"/>
          <p:cNvSpPr/>
          <p:nvPr/>
        </p:nvSpPr>
        <p:spPr>
          <a:xfrm>
            <a:off x="685800" y="3063240"/>
            <a:ext cx="7223760" cy="1280160"/>
          </a:xfrm>
          <a:prstGeom prst="rect">
            <a:avLst/>
          </a:prstGeom>
          <a:noFill/>
          <a:ln/>
        </p:spPr>
        <p:txBody>
          <a:bodyPr wrap="square" lIns="762" tIns="762" rIns="762" bIns="762" rtlCol="0" anchor="t">
            <a:normAutofit/>
          </a:bodyPr>
          <a:lstStyle/>
          <a:p>
            <a:pPr marL="0" indent="0">
              <a:buNone/>
            </a:pPr>
            <a:r>
              <a:rPr lang="en-US" sz="1500" dirty="0">
                <a:solidFill>
                  <a:srgbClr val="152238"/>
                </a:solidFill>
                <a:latin typeface="Lato" pitchFamily="34" charset="0"/>
                <a:ea typeface="Lato" pitchFamily="34" charset="-122"/>
                <a:cs typeface="Lato" pitchFamily="34" charset="-120"/>
              </a:rPr>
              <a:t>Selected model: Base Gradient Boosting + Random Oversampling.</a:t>
            </a:r>
            <a:endParaRPr lang="en-US" sz="1500" dirty="0"/>
          </a:p>
          <a:p>
            <a:pPr marL="0" indent="0">
              <a:buNone/>
            </a:pPr>
            <a:r>
              <a:rPr lang="en-US" sz="1500" dirty="0">
                <a:solidFill>
                  <a:srgbClr val="152238"/>
                </a:solidFill>
                <a:latin typeface="Lato" pitchFamily="34" charset="0"/>
                <a:ea typeface="Lato" pitchFamily="34" charset="-122"/>
                <a:cs typeface="Lato" pitchFamily="34" charset="-120"/>
              </a:rPr>
              <a:t>Test-set AP is consistent with cross-validation, supporting client ranking on unseen data.</a:t>
            </a:r>
            <a:endParaRPr lang="en-US" sz="1500" dirty="0"/>
          </a:p>
          <a:p>
            <a:pPr marL="0" indent="0">
              <a:buNone/>
            </a:pPr>
            <a:r>
              <a:rPr lang="en-US" sz="1500" dirty="0">
                <a:solidFill>
                  <a:srgbClr val="152238"/>
                </a:solidFill>
                <a:latin typeface="Lato" pitchFamily="34" charset="0"/>
                <a:ea typeface="Lato" pitchFamily="34" charset="-122"/>
                <a:cs typeface="Lato" pitchFamily="34" charset="-120"/>
              </a:rPr>
              <a:t>Average Precision remains the main metric because the positive class is only 11.27%.</a:t>
            </a:r>
            <a:endParaRPr lang="en-US" sz="1500" dirty="0"/>
          </a:p>
        </p:txBody>
      </p:sp>
      <p:sp>
        <p:nvSpPr>
          <p:cNvPr id="17" name="Shape 15"/>
          <p:cNvSpPr/>
          <p:nvPr/>
        </p:nvSpPr>
        <p:spPr>
          <a:xfrm>
            <a:off x="8503920" y="2194560"/>
            <a:ext cx="2377440" cy="1280160"/>
          </a:xfrm>
          <a:prstGeom prst="roundRect">
            <a:avLst>
              <a:gd name="adj" fmla="val 3571"/>
            </a:avLst>
          </a:prstGeom>
          <a:solidFill>
            <a:srgbClr val="F4F8FA"/>
          </a:solidFill>
          <a:ln w="7620">
            <a:solidFill>
              <a:srgbClr val="D7E4EA"/>
            </a:solidFill>
            <a:prstDash val="solid"/>
          </a:ln>
        </p:spPr>
      </p:sp>
      <p:sp>
        <p:nvSpPr>
          <p:cNvPr id="18" name="Shape 16"/>
          <p:cNvSpPr/>
          <p:nvPr/>
        </p:nvSpPr>
        <p:spPr>
          <a:xfrm>
            <a:off x="8503920" y="2194560"/>
            <a:ext cx="73152" cy="1280160"/>
          </a:xfrm>
          <a:prstGeom prst="rect">
            <a:avLst/>
          </a:prstGeom>
          <a:solidFill>
            <a:srgbClr val="20A7A6"/>
          </a:solidFill>
          <a:ln w="12700">
            <a:solidFill>
              <a:srgbClr val="20A7A6">
                <a:alpha val="0"/>
              </a:srgbClr>
            </a:solidFill>
            <a:prstDash val="solid"/>
          </a:ln>
        </p:spPr>
      </p:sp>
      <p:sp>
        <p:nvSpPr>
          <p:cNvPr id="19" name="Text 17"/>
          <p:cNvSpPr/>
          <p:nvPr/>
        </p:nvSpPr>
        <p:spPr>
          <a:xfrm>
            <a:off x="8668512" y="2322576"/>
            <a:ext cx="213969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Metric rationale</a:t>
            </a:r>
            <a:endParaRPr lang="en-US" sz="1250" dirty="0"/>
          </a:p>
        </p:txBody>
      </p:sp>
      <p:sp>
        <p:nvSpPr>
          <p:cNvPr id="20" name="Text 18"/>
          <p:cNvSpPr/>
          <p:nvPr/>
        </p:nvSpPr>
        <p:spPr>
          <a:xfrm>
            <a:off x="8668512" y="2633472"/>
            <a:ext cx="2121408" cy="768096"/>
          </a:xfrm>
          <a:prstGeom prst="rect">
            <a:avLst/>
          </a:prstGeom>
          <a:noFill/>
          <a:ln/>
        </p:spPr>
        <p:txBody>
          <a:bodyPr wrap="square" lIns="0" tIns="0" rIns="0" bIns="0" rtlCol="0" anchor="ctr">
            <a:normAutofit/>
          </a:bodyPr>
          <a:lstStyle/>
          <a:p>
            <a:pPr marL="0" indent="0">
              <a:buNone/>
            </a:pPr>
            <a:r>
              <a:rPr lang="en-US" sz="1200" dirty="0">
                <a:solidFill>
                  <a:srgbClr val="152238"/>
                </a:solidFill>
                <a:latin typeface="Lato" pitchFamily="34" charset="0"/>
                <a:ea typeface="Lato" pitchFamily="34" charset="-122"/>
                <a:cs typeface="Lato" pitchFamily="34" charset="-120"/>
              </a:rPr>
              <a:t>AP focuses on Precision–Recall behavior for subscribers under class imbalance.</a:t>
            </a:r>
            <a:endParaRPr lang="en-US" sz="1200" dirty="0"/>
          </a:p>
        </p:txBody>
      </p:sp>
      <p:sp>
        <p:nvSpPr>
          <p:cNvPr id="21" name="Shape 3">
            <a:extLst>
              <a:ext uri="{FF2B5EF4-FFF2-40B4-BE49-F238E27FC236}">
                <a16:creationId xmlns:a16="http://schemas.microsoft.com/office/drawing/2014/main" id="{21A5DF6A-B5F9-497C-49F2-B2ADD84341C2}"/>
              </a:ext>
            </a:extLst>
          </p:cNvPr>
          <p:cNvSpPr/>
          <p:nvPr/>
        </p:nvSpPr>
        <p:spPr>
          <a:xfrm>
            <a:off x="292608" y="1051560"/>
            <a:ext cx="1572768" cy="27432"/>
          </a:xfrm>
          <a:prstGeom prst="rect">
            <a:avLst/>
          </a:prstGeom>
          <a:solidFill>
            <a:srgbClr val="F4A340"/>
          </a:solidFill>
          <a:ln w="12700">
            <a:solidFill>
              <a:srgbClr val="F4A340"/>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09243D"/>
          </a:solidFill>
          <a:ln w="12700">
            <a:solidFill>
              <a:srgbClr val="09243D">
                <a:alpha val="0"/>
              </a:srgbClr>
            </a:solidFill>
            <a:prstDash val="solid"/>
          </a:ln>
        </p:spPr>
      </p:sp>
      <p:sp>
        <p:nvSpPr>
          <p:cNvPr id="3" name="Text 1"/>
          <p:cNvSpPr/>
          <p:nvPr/>
        </p:nvSpPr>
        <p:spPr>
          <a:xfrm>
            <a:off x="320040" y="201168"/>
            <a:ext cx="6949440" cy="201168"/>
          </a:xfrm>
          <a:prstGeom prst="rect">
            <a:avLst/>
          </a:prstGeom>
          <a:noFill/>
          <a:ln/>
        </p:spPr>
        <p:txBody>
          <a:bodyPr wrap="square" lIns="0" tIns="0" rIns="0" bIns="0" rtlCol="0" anchor="ctr"/>
          <a:lstStyle/>
          <a:p>
            <a:pPr marL="0" indent="0">
              <a:buNone/>
            </a:pPr>
            <a:r>
              <a:rPr lang="en-US" sz="850" b="1" dirty="0">
                <a:solidFill>
                  <a:srgbClr val="20A7A6"/>
                </a:solidFill>
                <a:latin typeface="Lato" pitchFamily="34" charset="0"/>
                <a:ea typeface="Lato" pitchFamily="34" charset="-122"/>
                <a:cs typeface="Lato" pitchFamily="34" charset="-120"/>
              </a:rPr>
              <a:t>MODEL MECHANICS</a:t>
            </a:r>
            <a:endParaRPr lang="en-US" sz="850" dirty="0"/>
          </a:p>
        </p:txBody>
      </p:sp>
      <p:sp>
        <p:nvSpPr>
          <p:cNvPr id="4" name="Text 2"/>
          <p:cNvSpPr/>
          <p:nvPr/>
        </p:nvSpPr>
        <p:spPr>
          <a:xfrm>
            <a:off x="11338560" y="182880"/>
            <a:ext cx="502920" cy="182880"/>
          </a:xfrm>
          <a:prstGeom prst="rect">
            <a:avLst/>
          </a:prstGeom>
          <a:noFill/>
          <a:ln/>
        </p:spPr>
        <p:txBody>
          <a:bodyPr wrap="square" lIns="0" tIns="0" rIns="0" bIns="0" rtlCol="0" anchor="ctr"/>
          <a:lstStyle/>
          <a:p>
            <a:pPr marL="0" indent="0" algn="r">
              <a:buNone/>
            </a:pPr>
            <a:r>
              <a:rPr lang="en-US" sz="750" dirty="0">
                <a:solidFill>
                  <a:srgbClr val="6B7280"/>
                </a:solidFill>
                <a:latin typeface="Lato" pitchFamily="34" charset="0"/>
                <a:ea typeface="Lato" pitchFamily="34" charset="-122"/>
                <a:cs typeface="Lato" pitchFamily="34" charset="-120"/>
              </a:rPr>
              <a:t>16/23</a:t>
            </a:r>
            <a:endParaRPr lang="en-US" sz="750" dirty="0"/>
          </a:p>
        </p:txBody>
      </p:sp>
      <p:sp>
        <p:nvSpPr>
          <p:cNvPr id="5" name="Text 3"/>
          <p:cNvSpPr/>
          <p:nvPr/>
        </p:nvSpPr>
        <p:spPr>
          <a:xfrm>
            <a:off x="320040" y="566928"/>
            <a:ext cx="7132320" cy="512064"/>
          </a:xfrm>
          <a:prstGeom prst="rect">
            <a:avLst/>
          </a:prstGeom>
          <a:noFill/>
          <a:ln/>
        </p:spPr>
        <p:txBody>
          <a:bodyPr wrap="square" lIns="0" tIns="0" rIns="0" bIns="0" rtlCol="0" anchor="ctr">
            <a:normAutofit/>
          </a:bodyPr>
          <a:lstStyle/>
          <a:p>
            <a:pPr marL="0" indent="0">
              <a:buNone/>
            </a:pPr>
            <a:r>
              <a:rPr lang="en-US" sz="2700" b="1" dirty="0">
                <a:solidFill>
                  <a:srgbClr val="09243D"/>
                </a:solidFill>
                <a:latin typeface="Lato" pitchFamily="34" charset="0"/>
                <a:ea typeface="Lato" pitchFamily="34" charset="-122"/>
                <a:cs typeface="Lato" pitchFamily="34" charset="-120"/>
              </a:rPr>
              <a:t>How the Final Model Works</a:t>
            </a:r>
            <a:endParaRPr lang="en-US" sz="2700" dirty="0"/>
          </a:p>
        </p:txBody>
      </p:sp>
      <p:sp>
        <p:nvSpPr>
          <p:cNvPr id="7" name="Text 5"/>
          <p:cNvSpPr/>
          <p:nvPr/>
        </p:nvSpPr>
        <p:spPr>
          <a:xfrm>
            <a:off x="502920" y="1353312"/>
            <a:ext cx="4754880" cy="2084832"/>
          </a:xfrm>
          <a:prstGeom prst="rect">
            <a:avLst/>
          </a:prstGeom>
          <a:noFill/>
          <a:ln/>
        </p:spPr>
        <p:txBody>
          <a:bodyPr wrap="square" lIns="762" tIns="762" rIns="762" bIns="762" rtlCol="0" anchor="ctr">
            <a:normAutofit/>
          </a:bodyPr>
          <a:lstStyle/>
          <a:p>
            <a:r>
              <a:rPr lang="en-US" sz="1320" dirty="0">
                <a:solidFill>
                  <a:srgbClr val="152238"/>
                </a:solidFill>
                <a:latin typeface="Lato" pitchFamily="34" charset="0"/>
                <a:ea typeface="Lato" pitchFamily="34" charset="-122"/>
                <a:cs typeface="Lato" pitchFamily="34" charset="-120"/>
              </a:rPr>
              <a:t>Gradient Boosting builds decision trees sequentially.</a:t>
            </a:r>
            <a:endParaRPr lang="en-US" sz="1320" dirty="0"/>
          </a:p>
          <a:p>
            <a:r>
              <a:rPr lang="en-US" sz="1320" dirty="0">
                <a:solidFill>
                  <a:srgbClr val="152238"/>
                </a:solidFill>
                <a:latin typeface="Lato" pitchFamily="34" charset="0"/>
                <a:ea typeface="Lato" pitchFamily="34" charset="-122"/>
                <a:cs typeface="Lato" pitchFamily="34" charset="-120"/>
              </a:rPr>
              <a:t>Each tree learns remaining prediction errors from previous trees.</a:t>
            </a:r>
            <a:endParaRPr lang="en-US" sz="1320" dirty="0"/>
          </a:p>
          <a:p>
            <a:r>
              <a:rPr lang="en-US" sz="1320" dirty="0">
                <a:solidFill>
                  <a:srgbClr val="152238"/>
                </a:solidFill>
                <a:latin typeface="Lato" pitchFamily="34" charset="0"/>
                <a:ea typeface="Lato" pitchFamily="34" charset="-122"/>
                <a:cs typeface="Lato" pitchFamily="34" charset="-120"/>
              </a:rPr>
              <a:t>Random Oversampling increases minority-class exposure during training folds only.</a:t>
            </a:r>
            <a:endParaRPr lang="en-US" sz="1320" dirty="0"/>
          </a:p>
          <a:p>
            <a:r>
              <a:rPr lang="en-US" sz="1320" dirty="0">
                <a:solidFill>
                  <a:srgbClr val="152238"/>
                </a:solidFill>
                <a:latin typeface="Lato" pitchFamily="34" charset="0"/>
                <a:ea typeface="Lato" pitchFamily="34" charset="-122"/>
                <a:cs typeface="Lato" pitchFamily="34" charset="-120"/>
              </a:rPr>
              <a:t>Final model outputs a score for ranking, not an automatic business decision.</a:t>
            </a:r>
            <a:endParaRPr lang="en-US" sz="1320" dirty="0"/>
          </a:p>
        </p:txBody>
      </p:sp>
      <p:sp>
        <p:nvSpPr>
          <p:cNvPr id="8" name="Shape 6"/>
          <p:cNvSpPr/>
          <p:nvPr/>
        </p:nvSpPr>
        <p:spPr>
          <a:xfrm>
            <a:off x="5623560" y="1481328"/>
            <a:ext cx="1051560" cy="694944"/>
          </a:xfrm>
          <a:prstGeom prst="roundRect">
            <a:avLst>
              <a:gd name="adj" fmla="val 6579"/>
            </a:avLst>
          </a:prstGeom>
          <a:solidFill>
            <a:srgbClr val="20A7A6"/>
          </a:solidFill>
          <a:ln w="12700">
            <a:solidFill>
              <a:srgbClr val="20A7A6">
                <a:alpha val="0"/>
              </a:srgbClr>
            </a:solidFill>
            <a:prstDash val="solid"/>
          </a:ln>
        </p:spPr>
      </p:sp>
      <p:sp>
        <p:nvSpPr>
          <p:cNvPr id="9" name="Text 7"/>
          <p:cNvSpPr/>
          <p:nvPr/>
        </p:nvSpPr>
        <p:spPr>
          <a:xfrm>
            <a:off x="5660136" y="1554480"/>
            <a:ext cx="978408" cy="548640"/>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Tree 1</a:t>
            </a:r>
            <a:endParaRPr lang="en-US" sz="1100" dirty="0"/>
          </a:p>
          <a:p>
            <a:pPr marL="0" indent="0" algn="ctr">
              <a:buNone/>
            </a:pPr>
            <a:r>
              <a:rPr lang="en-US" sz="1100" b="1" dirty="0">
                <a:solidFill>
                  <a:srgbClr val="FFFFFF"/>
                </a:solidFill>
                <a:latin typeface="Lato" pitchFamily="34" charset="0"/>
                <a:ea typeface="Lato" pitchFamily="34" charset="-122"/>
                <a:cs typeface="Lato" pitchFamily="34" charset="-120"/>
              </a:rPr>
              <a:t>initial pattern</a:t>
            </a:r>
            <a:endParaRPr lang="en-US" sz="1100" dirty="0"/>
          </a:p>
        </p:txBody>
      </p:sp>
      <p:sp>
        <p:nvSpPr>
          <p:cNvPr id="10" name="Shape 8"/>
          <p:cNvSpPr/>
          <p:nvPr/>
        </p:nvSpPr>
        <p:spPr>
          <a:xfrm>
            <a:off x="6675120" y="1828800"/>
            <a:ext cx="411480" cy="0"/>
          </a:xfrm>
          <a:prstGeom prst="line">
            <a:avLst/>
          </a:prstGeom>
          <a:noFill/>
          <a:ln w="15240">
            <a:solidFill>
              <a:srgbClr val="8096A3"/>
            </a:solidFill>
            <a:prstDash val="solid"/>
            <a:headEnd type="none"/>
            <a:tailEnd type="triangle"/>
          </a:ln>
        </p:spPr>
      </p:sp>
      <p:sp>
        <p:nvSpPr>
          <p:cNvPr id="11" name="Shape 9"/>
          <p:cNvSpPr/>
          <p:nvPr/>
        </p:nvSpPr>
        <p:spPr>
          <a:xfrm>
            <a:off x="7086600" y="1481328"/>
            <a:ext cx="1051560" cy="694944"/>
          </a:xfrm>
          <a:prstGeom prst="roundRect">
            <a:avLst>
              <a:gd name="adj" fmla="val 6579"/>
            </a:avLst>
          </a:prstGeom>
          <a:solidFill>
            <a:srgbClr val="09243D"/>
          </a:solidFill>
          <a:ln w="12700">
            <a:solidFill>
              <a:srgbClr val="09243D">
                <a:alpha val="0"/>
              </a:srgbClr>
            </a:solidFill>
            <a:prstDash val="solid"/>
          </a:ln>
        </p:spPr>
      </p:sp>
      <p:sp>
        <p:nvSpPr>
          <p:cNvPr id="12" name="Text 10"/>
          <p:cNvSpPr/>
          <p:nvPr/>
        </p:nvSpPr>
        <p:spPr>
          <a:xfrm>
            <a:off x="7123176" y="1554480"/>
            <a:ext cx="978408" cy="548640"/>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Tree 2</a:t>
            </a:r>
            <a:endParaRPr lang="en-US" sz="1100" dirty="0"/>
          </a:p>
          <a:p>
            <a:pPr marL="0" indent="0" algn="ctr">
              <a:buNone/>
            </a:pPr>
            <a:r>
              <a:rPr lang="en-US" sz="1100" b="1" dirty="0">
                <a:solidFill>
                  <a:srgbClr val="FFFFFF"/>
                </a:solidFill>
                <a:latin typeface="Lato" pitchFamily="34" charset="0"/>
                <a:ea typeface="Lato" pitchFamily="34" charset="-122"/>
                <a:cs typeface="Lato" pitchFamily="34" charset="-120"/>
              </a:rPr>
              <a:t>correct errors</a:t>
            </a:r>
            <a:endParaRPr lang="en-US" sz="1100" dirty="0"/>
          </a:p>
        </p:txBody>
      </p:sp>
      <p:sp>
        <p:nvSpPr>
          <p:cNvPr id="13" name="Shape 11"/>
          <p:cNvSpPr/>
          <p:nvPr/>
        </p:nvSpPr>
        <p:spPr>
          <a:xfrm>
            <a:off x="8138160" y="1828800"/>
            <a:ext cx="411480" cy="0"/>
          </a:xfrm>
          <a:prstGeom prst="line">
            <a:avLst/>
          </a:prstGeom>
          <a:noFill/>
          <a:ln w="15240">
            <a:solidFill>
              <a:srgbClr val="8096A3"/>
            </a:solidFill>
            <a:prstDash val="solid"/>
            <a:headEnd type="none"/>
            <a:tailEnd type="triangle"/>
          </a:ln>
        </p:spPr>
      </p:sp>
      <p:sp>
        <p:nvSpPr>
          <p:cNvPr id="14" name="Shape 12"/>
          <p:cNvSpPr/>
          <p:nvPr/>
        </p:nvSpPr>
        <p:spPr>
          <a:xfrm>
            <a:off x="8549640" y="1481328"/>
            <a:ext cx="1051560" cy="694944"/>
          </a:xfrm>
          <a:prstGeom prst="roundRect">
            <a:avLst>
              <a:gd name="adj" fmla="val 6579"/>
            </a:avLst>
          </a:prstGeom>
          <a:solidFill>
            <a:srgbClr val="09243D"/>
          </a:solidFill>
          <a:ln w="12700">
            <a:solidFill>
              <a:srgbClr val="09243D">
                <a:alpha val="0"/>
              </a:srgbClr>
            </a:solidFill>
            <a:prstDash val="solid"/>
          </a:ln>
        </p:spPr>
      </p:sp>
      <p:sp>
        <p:nvSpPr>
          <p:cNvPr id="15" name="Text 13"/>
          <p:cNvSpPr/>
          <p:nvPr/>
        </p:nvSpPr>
        <p:spPr>
          <a:xfrm>
            <a:off x="8586216" y="1554480"/>
            <a:ext cx="978408" cy="548640"/>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Tree 3...</a:t>
            </a:r>
            <a:endParaRPr lang="en-US" sz="1100" dirty="0"/>
          </a:p>
          <a:p>
            <a:pPr marL="0" indent="0" algn="ctr">
              <a:buNone/>
            </a:pPr>
            <a:r>
              <a:rPr lang="en-US" sz="1100" b="1" dirty="0">
                <a:solidFill>
                  <a:srgbClr val="FFFFFF"/>
                </a:solidFill>
                <a:latin typeface="Lato" pitchFamily="34" charset="0"/>
                <a:ea typeface="Lato" pitchFamily="34" charset="-122"/>
                <a:cs typeface="Lato" pitchFamily="34" charset="-120"/>
              </a:rPr>
              <a:t>refine</a:t>
            </a:r>
            <a:endParaRPr lang="en-US" sz="1100" dirty="0"/>
          </a:p>
        </p:txBody>
      </p:sp>
      <p:sp>
        <p:nvSpPr>
          <p:cNvPr id="16" name="Shape 14"/>
          <p:cNvSpPr/>
          <p:nvPr/>
        </p:nvSpPr>
        <p:spPr>
          <a:xfrm>
            <a:off x="9601200" y="1828800"/>
            <a:ext cx="411480" cy="0"/>
          </a:xfrm>
          <a:prstGeom prst="line">
            <a:avLst/>
          </a:prstGeom>
          <a:noFill/>
          <a:ln w="15240">
            <a:solidFill>
              <a:srgbClr val="8096A3"/>
            </a:solidFill>
            <a:prstDash val="solid"/>
            <a:headEnd type="none"/>
            <a:tailEnd type="triangle"/>
          </a:ln>
        </p:spPr>
      </p:sp>
      <p:sp>
        <p:nvSpPr>
          <p:cNvPr id="17" name="Shape 15"/>
          <p:cNvSpPr/>
          <p:nvPr/>
        </p:nvSpPr>
        <p:spPr>
          <a:xfrm>
            <a:off x="10012680" y="1481328"/>
            <a:ext cx="1051560" cy="694944"/>
          </a:xfrm>
          <a:prstGeom prst="roundRect">
            <a:avLst>
              <a:gd name="adj" fmla="val 6579"/>
            </a:avLst>
          </a:prstGeom>
          <a:solidFill>
            <a:srgbClr val="F5A33B"/>
          </a:solidFill>
          <a:ln w="12700">
            <a:solidFill>
              <a:srgbClr val="F5A33B">
                <a:alpha val="0"/>
              </a:srgbClr>
            </a:solidFill>
            <a:prstDash val="solid"/>
          </a:ln>
        </p:spPr>
      </p:sp>
      <p:sp>
        <p:nvSpPr>
          <p:cNvPr id="18" name="Text 16"/>
          <p:cNvSpPr/>
          <p:nvPr/>
        </p:nvSpPr>
        <p:spPr>
          <a:xfrm>
            <a:off x="10049256" y="1554480"/>
            <a:ext cx="978408" cy="548640"/>
          </a:xfrm>
          <a:prstGeom prst="rect">
            <a:avLst/>
          </a:prstGeom>
          <a:noFill/>
          <a:ln/>
        </p:spPr>
        <p:txBody>
          <a:bodyPr wrap="square" lIns="254" tIns="254" rIns="254" bIns="254" rtlCol="0" anchor="ctr">
            <a:normAutofit/>
          </a:bodyPr>
          <a:lstStyle/>
          <a:p>
            <a:pPr marL="0" indent="0" algn="ctr">
              <a:buNone/>
            </a:pPr>
            <a:r>
              <a:rPr lang="en-US" sz="1100" b="1" dirty="0">
                <a:solidFill>
                  <a:srgbClr val="FFFFFF"/>
                </a:solidFill>
                <a:latin typeface="Lato" pitchFamily="34" charset="0"/>
                <a:ea typeface="Lato" pitchFamily="34" charset="-122"/>
                <a:cs typeface="Lato" pitchFamily="34" charset="-120"/>
              </a:rPr>
              <a:t>Combined</a:t>
            </a:r>
            <a:endParaRPr lang="en-US" sz="1100" dirty="0"/>
          </a:p>
          <a:p>
            <a:pPr marL="0" indent="0" algn="ctr">
              <a:buNone/>
            </a:pPr>
            <a:r>
              <a:rPr lang="en-US" sz="1100" b="1" dirty="0">
                <a:solidFill>
                  <a:srgbClr val="FFFFFF"/>
                </a:solidFill>
                <a:latin typeface="Lato" pitchFamily="34" charset="0"/>
                <a:ea typeface="Lato" pitchFamily="34" charset="-122"/>
                <a:cs typeface="Lato" pitchFamily="34" charset="-120"/>
              </a:rPr>
              <a:t>prediction</a:t>
            </a:r>
            <a:endParaRPr lang="en-US" sz="1100" dirty="0"/>
          </a:p>
        </p:txBody>
      </p:sp>
      <p:sp>
        <p:nvSpPr>
          <p:cNvPr id="19" name="Shape 17"/>
          <p:cNvSpPr/>
          <p:nvPr/>
        </p:nvSpPr>
        <p:spPr>
          <a:xfrm>
            <a:off x="5669280" y="3063240"/>
            <a:ext cx="4389120" cy="1417320"/>
          </a:xfrm>
          <a:prstGeom prst="roundRect">
            <a:avLst>
              <a:gd name="adj" fmla="val 3226"/>
            </a:avLst>
          </a:prstGeom>
          <a:solidFill>
            <a:srgbClr val="F4F8FA"/>
          </a:solidFill>
          <a:ln w="7620">
            <a:solidFill>
              <a:srgbClr val="D7E4EA"/>
            </a:solidFill>
            <a:prstDash val="solid"/>
          </a:ln>
        </p:spPr>
      </p:sp>
      <p:sp>
        <p:nvSpPr>
          <p:cNvPr id="20" name="Shape 18"/>
          <p:cNvSpPr/>
          <p:nvPr/>
        </p:nvSpPr>
        <p:spPr>
          <a:xfrm>
            <a:off x="5669280" y="3063240"/>
            <a:ext cx="73152" cy="1417320"/>
          </a:xfrm>
          <a:prstGeom prst="rect">
            <a:avLst/>
          </a:prstGeom>
          <a:solidFill>
            <a:srgbClr val="09243D"/>
          </a:solidFill>
          <a:ln w="12700">
            <a:solidFill>
              <a:srgbClr val="09243D">
                <a:alpha val="0"/>
              </a:srgbClr>
            </a:solidFill>
            <a:prstDash val="solid"/>
          </a:ln>
        </p:spPr>
      </p:sp>
      <p:sp>
        <p:nvSpPr>
          <p:cNvPr id="21" name="Text 19"/>
          <p:cNvSpPr/>
          <p:nvPr/>
        </p:nvSpPr>
        <p:spPr>
          <a:xfrm>
            <a:off x="5833872" y="3191256"/>
            <a:ext cx="415137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Final configuration</a:t>
            </a:r>
            <a:endParaRPr lang="en-US" sz="1250" dirty="0"/>
          </a:p>
        </p:txBody>
      </p:sp>
      <p:sp>
        <p:nvSpPr>
          <p:cNvPr id="22" name="Text 20"/>
          <p:cNvSpPr/>
          <p:nvPr/>
        </p:nvSpPr>
        <p:spPr>
          <a:xfrm>
            <a:off x="5833872" y="3502152"/>
            <a:ext cx="4133088" cy="905256"/>
          </a:xfrm>
          <a:prstGeom prst="rect">
            <a:avLst/>
          </a:prstGeom>
          <a:noFill/>
          <a:ln/>
        </p:spPr>
        <p:txBody>
          <a:bodyPr wrap="square" lIns="0" tIns="0" rIns="0" bIns="0" rtlCol="0" anchor="ctr">
            <a:normAutofit/>
          </a:bodyPr>
          <a:lstStyle/>
          <a:p>
            <a:pPr marL="0" indent="0">
              <a:buNone/>
            </a:pPr>
            <a:r>
              <a:rPr lang="en-US" sz="1230" dirty="0">
                <a:solidFill>
                  <a:srgbClr val="152238"/>
                </a:solidFill>
                <a:latin typeface="Lato" pitchFamily="34" charset="0"/>
                <a:ea typeface="Lato" pitchFamily="34" charset="-122"/>
                <a:cs typeface="Lato" pitchFamily="34" charset="-120"/>
              </a:rPr>
              <a:t>n_estimators = 100</a:t>
            </a:r>
            <a:endParaRPr lang="en-US" sz="1230" dirty="0"/>
          </a:p>
          <a:p>
            <a:pPr marL="0" indent="0">
              <a:buNone/>
            </a:pPr>
            <a:r>
              <a:rPr lang="en-US" sz="1230" dirty="0">
                <a:solidFill>
                  <a:srgbClr val="152238"/>
                </a:solidFill>
                <a:latin typeface="Lato" pitchFamily="34" charset="0"/>
                <a:ea typeface="Lato" pitchFamily="34" charset="-122"/>
                <a:cs typeface="Lato" pitchFamily="34" charset="-120"/>
              </a:rPr>
              <a:t>learning_rate = 0.10</a:t>
            </a:r>
            <a:endParaRPr lang="en-US" sz="1230" dirty="0"/>
          </a:p>
          <a:p>
            <a:pPr marL="0" indent="0">
              <a:buNone/>
            </a:pPr>
            <a:r>
              <a:rPr lang="en-US" sz="1230" dirty="0">
                <a:solidFill>
                  <a:srgbClr val="152238"/>
                </a:solidFill>
                <a:latin typeface="Lato" pitchFamily="34" charset="0"/>
                <a:ea typeface="Lato" pitchFamily="34" charset="-122"/>
                <a:cs typeface="Lato" pitchFamily="34" charset="-120"/>
              </a:rPr>
              <a:t>max_depth = 3</a:t>
            </a:r>
            <a:endParaRPr lang="en-US" sz="1230" dirty="0"/>
          </a:p>
          <a:p>
            <a:pPr marL="0" indent="0">
              <a:buNone/>
            </a:pPr>
            <a:r>
              <a:rPr lang="en-US" sz="1230" dirty="0">
                <a:solidFill>
                  <a:srgbClr val="152238"/>
                </a:solidFill>
                <a:latin typeface="Lato" pitchFamily="34" charset="0"/>
                <a:ea typeface="Lato" pitchFamily="34" charset="-122"/>
                <a:cs typeface="Lato" pitchFamily="34" charset="-120"/>
              </a:rPr>
              <a:t>random_state = 42</a:t>
            </a:r>
            <a:endParaRPr lang="en-US" sz="1230" dirty="0"/>
          </a:p>
        </p:txBody>
      </p:sp>
      <p:sp>
        <p:nvSpPr>
          <p:cNvPr id="23" name="Shape 21"/>
          <p:cNvSpPr/>
          <p:nvPr/>
        </p:nvSpPr>
        <p:spPr>
          <a:xfrm>
            <a:off x="5669280" y="4800600"/>
            <a:ext cx="4389120" cy="685800"/>
          </a:xfrm>
          <a:prstGeom prst="roundRect">
            <a:avLst>
              <a:gd name="adj" fmla="val 6667"/>
            </a:avLst>
          </a:prstGeom>
          <a:solidFill>
            <a:srgbClr val="F4F8FA"/>
          </a:solidFill>
          <a:ln w="7620">
            <a:solidFill>
              <a:srgbClr val="D7E4EA"/>
            </a:solidFill>
            <a:prstDash val="solid"/>
          </a:ln>
        </p:spPr>
      </p:sp>
      <p:sp>
        <p:nvSpPr>
          <p:cNvPr id="24" name="Shape 22"/>
          <p:cNvSpPr/>
          <p:nvPr/>
        </p:nvSpPr>
        <p:spPr>
          <a:xfrm>
            <a:off x="5669280" y="4800600"/>
            <a:ext cx="73152" cy="685800"/>
          </a:xfrm>
          <a:prstGeom prst="rect">
            <a:avLst/>
          </a:prstGeom>
          <a:solidFill>
            <a:srgbClr val="F5A33B"/>
          </a:solidFill>
          <a:ln w="12700">
            <a:solidFill>
              <a:srgbClr val="F5A33B">
                <a:alpha val="0"/>
              </a:srgbClr>
            </a:solidFill>
            <a:prstDash val="solid"/>
          </a:ln>
        </p:spPr>
      </p:sp>
      <p:sp>
        <p:nvSpPr>
          <p:cNvPr id="25" name="Text 23"/>
          <p:cNvSpPr/>
          <p:nvPr/>
        </p:nvSpPr>
        <p:spPr>
          <a:xfrm>
            <a:off x="5833872" y="4928616"/>
            <a:ext cx="415137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Tuning decision</a:t>
            </a:r>
            <a:endParaRPr lang="en-US" sz="1250" dirty="0"/>
          </a:p>
        </p:txBody>
      </p:sp>
      <p:sp>
        <p:nvSpPr>
          <p:cNvPr id="26" name="Text 24"/>
          <p:cNvSpPr/>
          <p:nvPr/>
        </p:nvSpPr>
        <p:spPr>
          <a:xfrm>
            <a:off x="5833872" y="5239512"/>
            <a:ext cx="4133088" cy="173736"/>
          </a:xfrm>
          <a:prstGeom prst="rect">
            <a:avLst/>
          </a:prstGeom>
          <a:noFill/>
          <a:ln/>
        </p:spPr>
        <p:txBody>
          <a:bodyPr wrap="square" lIns="0" tIns="0" rIns="0" bIns="0" rtlCol="0" anchor="ctr">
            <a:normAutofit fontScale="70000" lnSpcReduction="20000"/>
          </a:bodyPr>
          <a:lstStyle/>
          <a:p>
            <a:pPr marL="0" indent="0">
              <a:buNone/>
            </a:pPr>
            <a:r>
              <a:rPr lang="en-US" sz="1050" dirty="0">
                <a:solidFill>
                  <a:srgbClr val="152238"/>
                </a:solidFill>
                <a:latin typeface="Lato" pitchFamily="34" charset="0"/>
                <a:ea typeface="Lato" pitchFamily="34" charset="-122"/>
                <a:cs typeface="Lato" pitchFamily="34" charset="-120"/>
              </a:rPr>
              <a:t>Tuned configuration was evaluated, but base configuration retained because AP was slightly higher and simpler.</a:t>
            </a:r>
            <a:endParaRPr lang="en-US" sz="1050" dirty="0"/>
          </a:p>
        </p:txBody>
      </p:sp>
      <p:sp>
        <p:nvSpPr>
          <p:cNvPr id="27" name="Shape 3">
            <a:extLst>
              <a:ext uri="{FF2B5EF4-FFF2-40B4-BE49-F238E27FC236}">
                <a16:creationId xmlns:a16="http://schemas.microsoft.com/office/drawing/2014/main" id="{5838B459-83F7-D9DB-6C1C-74C5E884BF25}"/>
              </a:ext>
            </a:extLst>
          </p:cNvPr>
          <p:cNvSpPr/>
          <p:nvPr/>
        </p:nvSpPr>
        <p:spPr>
          <a:xfrm>
            <a:off x="292608" y="1051560"/>
            <a:ext cx="1572768" cy="27432"/>
          </a:xfrm>
          <a:prstGeom prst="rect">
            <a:avLst/>
          </a:prstGeom>
          <a:solidFill>
            <a:srgbClr val="F4A340"/>
          </a:solidFill>
          <a:ln w="12700">
            <a:solidFill>
              <a:srgbClr val="F4A340"/>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09243D"/>
          </a:solidFill>
          <a:ln w="12700">
            <a:solidFill>
              <a:srgbClr val="09243D">
                <a:alpha val="0"/>
              </a:srgbClr>
            </a:solidFill>
            <a:prstDash val="solid"/>
          </a:ln>
        </p:spPr>
      </p:sp>
      <p:sp>
        <p:nvSpPr>
          <p:cNvPr id="3" name="Text 1"/>
          <p:cNvSpPr/>
          <p:nvPr/>
        </p:nvSpPr>
        <p:spPr>
          <a:xfrm>
            <a:off x="320040" y="201168"/>
            <a:ext cx="6949440" cy="201168"/>
          </a:xfrm>
          <a:prstGeom prst="rect">
            <a:avLst/>
          </a:prstGeom>
          <a:noFill/>
          <a:ln/>
        </p:spPr>
        <p:txBody>
          <a:bodyPr wrap="square" lIns="0" tIns="0" rIns="0" bIns="0" rtlCol="0" anchor="ctr"/>
          <a:lstStyle/>
          <a:p>
            <a:pPr marL="0" indent="0">
              <a:buNone/>
            </a:pPr>
            <a:r>
              <a:rPr lang="en-US" sz="850" b="1" dirty="0">
                <a:solidFill>
                  <a:srgbClr val="20A7A6"/>
                </a:solidFill>
                <a:latin typeface="Lato" pitchFamily="34" charset="0"/>
                <a:ea typeface="Lato" pitchFamily="34" charset="-122"/>
                <a:cs typeface="Lato" pitchFamily="34" charset="-120"/>
              </a:rPr>
              <a:t>OPERATING THRESHOLD TRADE-OFF</a:t>
            </a:r>
            <a:endParaRPr lang="en-US" sz="850" dirty="0"/>
          </a:p>
        </p:txBody>
      </p:sp>
      <p:sp>
        <p:nvSpPr>
          <p:cNvPr id="4" name="Text 2"/>
          <p:cNvSpPr/>
          <p:nvPr/>
        </p:nvSpPr>
        <p:spPr>
          <a:xfrm>
            <a:off x="11338560" y="182880"/>
            <a:ext cx="502920" cy="182880"/>
          </a:xfrm>
          <a:prstGeom prst="rect">
            <a:avLst/>
          </a:prstGeom>
          <a:noFill/>
          <a:ln/>
        </p:spPr>
        <p:txBody>
          <a:bodyPr wrap="square" lIns="0" tIns="0" rIns="0" bIns="0" rtlCol="0" anchor="ctr"/>
          <a:lstStyle/>
          <a:p>
            <a:pPr marL="0" indent="0" algn="r">
              <a:buNone/>
            </a:pPr>
            <a:r>
              <a:rPr lang="en-US" sz="750" dirty="0">
                <a:solidFill>
                  <a:srgbClr val="6B7280"/>
                </a:solidFill>
                <a:latin typeface="Lato" pitchFamily="34" charset="0"/>
                <a:ea typeface="Lato" pitchFamily="34" charset="-122"/>
                <a:cs typeface="Lato" pitchFamily="34" charset="-120"/>
              </a:rPr>
              <a:t>17/23</a:t>
            </a:r>
            <a:endParaRPr lang="en-US" sz="750" dirty="0"/>
          </a:p>
        </p:txBody>
      </p:sp>
      <p:sp>
        <p:nvSpPr>
          <p:cNvPr id="5" name="Text 3"/>
          <p:cNvSpPr/>
          <p:nvPr/>
        </p:nvSpPr>
        <p:spPr>
          <a:xfrm>
            <a:off x="320040" y="566928"/>
            <a:ext cx="9144000" cy="512064"/>
          </a:xfrm>
          <a:prstGeom prst="rect">
            <a:avLst/>
          </a:prstGeom>
          <a:noFill/>
          <a:ln/>
        </p:spPr>
        <p:txBody>
          <a:bodyPr wrap="square" lIns="0" tIns="0" rIns="0" bIns="0" rtlCol="0" anchor="ctr">
            <a:normAutofit/>
          </a:bodyPr>
          <a:lstStyle/>
          <a:p>
            <a:pPr marL="0" indent="0">
              <a:buNone/>
            </a:pPr>
            <a:r>
              <a:rPr lang="en-US" sz="2700" b="1" dirty="0">
                <a:solidFill>
                  <a:srgbClr val="09243D"/>
                </a:solidFill>
                <a:latin typeface="Lato" pitchFamily="34" charset="0"/>
                <a:ea typeface="Lato" pitchFamily="34" charset="-122"/>
                <a:cs typeface="Lato" pitchFamily="34" charset="-120"/>
              </a:rPr>
              <a:t>0.50 Covers More; 0.60 Is More Selective</a:t>
            </a:r>
            <a:endParaRPr lang="en-US" sz="2700" dirty="0"/>
          </a:p>
        </p:txBody>
      </p:sp>
      <p:pic>
        <p:nvPicPr>
          <p:cNvPr id="7" name="Image 0" descr="/mnt/data/bank_presentation_assets/threshold_scenarios.png"/>
          <p:cNvPicPr>
            <a:picLocks noChangeAspect="1"/>
          </p:cNvPicPr>
          <p:nvPr/>
        </p:nvPicPr>
        <p:blipFill>
          <a:blip r:embed="rId3"/>
          <a:stretch>
            <a:fillRect/>
          </a:stretch>
        </p:blipFill>
        <p:spPr>
          <a:xfrm>
            <a:off x="685800" y="1552578"/>
            <a:ext cx="4846320" cy="2838444"/>
          </a:xfrm>
          <a:prstGeom prst="rect">
            <a:avLst/>
          </a:prstGeom>
        </p:spPr>
      </p:pic>
      <p:sp>
        <p:nvSpPr>
          <p:cNvPr id="8" name="Shape 5"/>
          <p:cNvSpPr/>
          <p:nvPr/>
        </p:nvSpPr>
        <p:spPr>
          <a:xfrm>
            <a:off x="5943600" y="1463040"/>
            <a:ext cx="1417320" cy="868680"/>
          </a:xfrm>
          <a:prstGeom prst="roundRect">
            <a:avLst>
              <a:gd name="adj" fmla="val 4211"/>
            </a:avLst>
          </a:prstGeom>
          <a:solidFill>
            <a:srgbClr val="F4F8FA"/>
          </a:solidFill>
          <a:ln w="8890">
            <a:solidFill>
              <a:srgbClr val="DCE9EF"/>
            </a:solidFill>
            <a:prstDash val="solid"/>
          </a:ln>
        </p:spPr>
      </p:sp>
      <p:sp>
        <p:nvSpPr>
          <p:cNvPr id="9" name="Text 6"/>
          <p:cNvSpPr/>
          <p:nvPr/>
        </p:nvSpPr>
        <p:spPr>
          <a:xfrm>
            <a:off x="6035040" y="1600200"/>
            <a:ext cx="1234440" cy="292608"/>
          </a:xfrm>
          <a:prstGeom prst="rect">
            <a:avLst/>
          </a:prstGeom>
          <a:noFill/>
          <a:ln/>
        </p:spPr>
        <p:txBody>
          <a:bodyPr wrap="square" lIns="0" tIns="0" rIns="0" bIns="0" rtlCol="0" anchor="ctr"/>
          <a:lstStyle/>
          <a:p>
            <a:pPr marL="0" indent="0" algn="ctr">
              <a:buNone/>
            </a:pPr>
            <a:r>
              <a:rPr lang="en-US" sz="1900" b="1" dirty="0">
                <a:solidFill>
                  <a:srgbClr val="20A7A6"/>
                </a:solidFill>
                <a:latin typeface="Lato" pitchFamily="34" charset="0"/>
                <a:ea typeface="Lato" pitchFamily="34" charset="-122"/>
                <a:cs typeface="Lato" pitchFamily="34" charset="-120"/>
              </a:rPr>
              <a:t>0.50</a:t>
            </a:r>
            <a:endParaRPr lang="en-US" sz="1900" dirty="0"/>
          </a:p>
        </p:txBody>
      </p:sp>
      <p:sp>
        <p:nvSpPr>
          <p:cNvPr id="10" name="Text 7"/>
          <p:cNvSpPr/>
          <p:nvPr/>
        </p:nvSpPr>
        <p:spPr>
          <a:xfrm>
            <a:off x="6035040" y="1965960"/>
            <a:ext cx="1234440" cy="320040"/>
          </a:xfrm>
          <a:prstGeom prst="rect">
            <a:avLst/>
          </a:prstGeom>
          <a:noFill/>
          <a:ln/>
        </p:spPr>
        <p:txBody>
          <a:bodyPr wrap="square" lIns="0" tIns="0" rIns="0" bIns="0" rtlCol="0" anchor="ctr">
            <a:normAutofit/>
          </a:bodyPr>
          <a:lstStyle/>
          <a:p>
            <a:pPr marL="0" indent="0" algn="ctr">
              <a:buNone/>
            </a:pPr>
            <a:r>
              <a:rPr lang="en-US" sz="950" b="1" dirty="0">
                <a:solidFill>
                  <a:srgbClr val="09243D"/>
                </a:solidFill>
                <a:latin typeface="Lato" pitchFamily="34" charset="0"/>
                <a:ea typeface="Lato" pitchFamily="34" charset="-122"/>
                <a:cs typeface="Lato" pitchFamily="34" charset="-120"/>
              </a:rPr>
              <a:t>Recall 65.95%</a:t>
            </a:r>
            <a:endParaRPr lang="en-US" sz="950" dirty="0"/>
          </a:p>
          <a:p>
            <a:pPr marL="0" indent="0" algn="ctr">
              <a:buNone/>
            </a:pPr>
            <a:r>
              <a:rPr lang="en-US" sz="950" b="1" dirty="0">
                <a:solidFill>
                  <a:srgbClr val="09243D"/>
                </a:solidFill>
                <a:latin typeface="Lato" pitchFamily="34" charset="0"/>
                <a:ea typeface="Lato" pitchFamily="34" charset="-122"/>
                <a:cs typeface="Lato" pitchFamily="34" charset="-120"/>
              </a:rPr>
              <a:t>1,606 clients</a:t>
            </a:r>
            <a:endParaRPr lang="en-US" sz="950" dirty="0"/>
          </a:p>
        </p:txBody>
      </p:sp>
      <p:sp>
        <p:nvSpPr>
          <p:cNvPr id="11" name="Shape 8"/>
          <p:cNvSpPr/>
          <p:nvPr/>
        </p:nvSpPr>
        <p:spPr>
          <a:xfrm>
            <a:off x="7589520" y="1463040"/>
            <a:ext cx="1417320" cy="868680"/>
          </a:xfrm>
          <a:prstGeom prst="roundRect">
            <a:avLst>
              <a:gd name="adj" fmla="val 4211"/>
            </a:avLst>
          </a:prstGeom>
          <a:solidFill>
            <a:srgbClr val="F4F8FA"/>
          </a:solidFill>
          <a:ln w="8890">
            <a:solidFill>
              <a:srgbClr val="DCE9EF"/>
            </a:solidFill>
            <a:prstDash val="solid"/>
          </a:ln>
        </p:spPr>
      </p:sp>
      <p:sp>
        <p:nvSpPr>
          <p:cNvPr id="12" name="Text 9"/>
          <p:cNvSpPr/>
          <p:nvPr/>
        </p:nvSpPr>
        <p:spPr>
          <a:xfrm>
            <a:off x="7680960" y="1600200"/>
            <a:ext cx="1234440" cy="292608"/>
          </a:xfrm>
          <a:prstGeom prst="rect">
            <a:avLst/>
          </a:prstGeom>
          <a:noFill/>
          <a:ln/>
        </p:spPr>
        <p:txBody>
          <a:bodyPr wrap="square" lIns="0" tIns="0" rIns="0" bIns="0" rtlCol="0" anchor="ctr"/>
          <a:lstStyle/>
          <a:p>
            <a:pPr marL="0" indent="0" algn="ctr">
              <a:buNone/>
            </a:pPr>
            <a:r>
              <a:rPr lang="en-US" sz="1900" b="1" dirty="0">
                <a:solidFill>
                  <a:srgbClr val="F5A33B"/>
                </a:solidFill>
                <a:latin typeface="Lato" pitchFamily="34" charset="0"/>
                <a:ea typeface="Lato" pitchFamily="34" charset="-122"/>
                <a:cs typeface="Lato" pitchFamily="34" charset="-120"/>
              </a:rPr>
              <a:t>0.60</a:t>
            </a:r>
            <a:endParaRPr lang="en-US" sz="1900" dirty="0"/>
          </a:p>
        </p:txBody>
      </p:sp>
      <p:sp>
        <p:nvSpPr>
          <p:cNvPr id="13" name="Text 10"/>
          <p:cNvSpPr/>
          <p:nvPr/>
        </p:nvSpPr>
        <p:spPr>
          <a:xfrm>
            <a:off x="7680960" y="1965960"/>
            <a:ext cx="1234440" cy="320040"/>
          </a:xfrm>
          <a:prstGeom prst="rect">
            <a:avLst/>
          </a:prstGeom>
          <a:noFill/>
          <a:ln/>
        </p:spPr>
        <p:txBody>
          <a:bodyPr wrap="square" lIns="0" tIns="0" rIns="0" bIns="0" rtlCol="0" anchor="ctr">
            <a:normAutofit/>
          </a:bodyPr>
          <a:lstStyle/>
          <a:p>
            <a:pPr marL="0" indent="0" algn="ctr">
              <a:buNone/>
            </a:pPr>
            <a:r>
              <a:rPr lang="en-US" sz="950" b="1" dirty="0">
                <a:solidFill>
                  <a:srgbClr val="09243D"/>
                </a:solidFill>
                <a:latin typeface="Lato" pitchFamily="34" charset="0"/>
                <a:ea typeface="Lato" pitchFamily="34" charset="-122"/>
                <a:cs typeface="Lato" pitchFamily="34" charset="-120"/>
              </a:rPr>
              <a:t>Precision 43.81%</a:t>
            </a:r>
            <a:endParaRPr lang="en-US" sz="950" dirty="0"/>
          </a:p>
          <a:p>
            <a:pPr marL="0" indent="0" algn="ctr">
              <a:buNone/>
            </a:pPr>
            <a:r>
              <a:rPr lang="en-US" sz="950" b="1" dirty="0">
                <a:solidFill>
                  <a:srgbClr val="09243D"/>
                </a:solidFill>
                <a:latin typeface="Lato" pitchFamily="34" charset="0"/>
                <a:ea typeface="Lato" pitchFamily="34" charset="-122"/>
                <a:cs typeface="Lato" pitchFamily="34" charset="-120"/>
              </a:rPr>
              <a:t>1,301 clients</a:t>
            </a:r>
            <a:endParaRPr lang="en-US" sz="950" dirty="0"/>
          </a:p>
        </p:txBody>
      </p:sp>
      <p:sp>
        <p:nvSpPr>
          <p:cNvPr id="14" name="Text 11"/>
          <p:cNvSpPr/>
          <p:nvPr/>
        </p:nvSpPr>
        <p:spPr>
          <a:xfrm>
            <a:off x="5943600" y="2971800"/>
            <a:ext cx="4480560" cy="1143000"/>
          </a:xfrm>
          <a:prstGeom prst="rect">
            <a:avLst/>
          </a:prstGeom>
          <a:noFill/>
          <a:ln/>
        </p:spPr>
        <p:txBody>
          <a:bodyPr wrap="square" lIns="762" tIns="762" rIns="762" bIns="762" rtlCol="0" anchor="t">
            <a:normAutofit lnSpcReduction="10000"/>
          </a:bodyPr>
          <a:lstStyle/>
          <a:p>
            <a:pPr marL="0" indent="0">
              <a:buNone/>
            </a:pPr>
            <a:r>
              <a:rPr lang="en-US" sz="1500" dirty="0">
                <a:solidFill>
                  <a:srgbClr val="152238"/>
                </a:solidFill>
                <a:latin typeface="Lato" pitchFamily="34" charset="0"/>
                <a:ea typeface="Lato" pitchFamily="34" charset="-122"/>
                <a:cs typeface="Lato" pitchFamily="34" charset="-120"/>
              </a:rPr>
              <a:t>Threshold 0.50 captures more actual subscribers.</a:t>
            </a:r>
            <a:endParaRPr lang="en-US" sz="1500" dirty="0"/>
          </a:p>
          <a:p>
            <a:pPr marL="0" indent="0">
              <a:buNone/>
            </a:pPr>
            <a:r>
              <a:rPr lang="en-US" sz="1500" dirty="0">
                <a:solidFill>
                  <a:srgbClr val="152238"/>
                </a:solidFill>
                <a:latin typeface="Lato" pitchFamily="34" charset="0"/>
                <a:ea typeface="Lato" pitchFamily="34" charset="-122"/>
                <a:cs typeface="Lato" pitchFamily="34" charset="-120"/>
              </a:rPr>
              <a:t>Threshold 0.60 reduces target pool and improves precision.</a:t>
            </a:r>
            <a:endParaRPr lang="en-US" sz="1500" dirty="0"/>
          </a:p>
          <a:p>
            <a:pPr marL="0" indent="0">
              <a:buNone/>
            </a:pPr>
            <a:r>
              <a:rPr lang="en-US" sz="1500" dirty="0">
                <a:solidFill>
                  <a:srgbClr val="152238"/>
                </a:solidFill>
                <a:latin typeface="Lato" pitchFamily="34" charset="0"/>
                <a:ea typeface="Lato" pitchFamily="34" charset="-122"/>
                <a:cs typeface="Lato" pitchFamily="34" charset="-120"/>
              </a:rPr>
              <a:t>Final cut-off depends on campaign capacity and business priority.</a:t>
            </a:r>
            <a:endParaRPr lang="en-US" sz="1500" dirty="0"/>
          </a:p>
        </p:txBody>
      </p:sp>
      <p:sp>
        <p:nvSpPr>
          <p:cNvPr id="15" name="Shape 3">
            <a:extLst>
              <a:ext uri="{FF2B5EF4-FFF2-40B4-BE49-F238E27FC236}">
                <a16:creationId xmlns:a16="http://schemas.microsoft.com/office/drawing/2014/main" id="{D3048C30-5EDA-E12B-CE5D-E5808799BFC1}"/>
              </a:ext>
            </a:extLst>
          </p:cNvPr>
          <p:cNvSpPr/>
          <p:nvPr/>
        </p:nvSpPr>
        <p:spPr>
          <a:xfrm>
            <a:off x="292608" y="1051560"/>
            <a:ext cx="1572768" cy="27432"/>
          </a:xfrm>
          <a:prstGeom prst="rect">
            <a:avLst/>
          </a:prstGeom>
          <a:solidFill>
            <a:srgbClr val="F4A340"/>
          </a:solidFill>
          <a:ln w="12700">
            <a:solidFill>
              <a:srgbClr val="F4A340"/>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09243D"/>
          </a:solidFill>
          <a:ln w="12700">
            <a:solidFill>
              <a:srgbClr val="09243D">
                <a:alpha val="0"/>
              </a:srgbClr>
            </a:solidFill>
            <a:prstDash val="solid"/>
          </a:ln>
        </p:spPr>
      </p:sp>
      <p:sp>
        <p:nvSpPr>
          <p:cNvPr id="3" name="Text 1"/>
          <p:cNvSpPr/>
          <p:nvPr/>
        </p:nvSpPr>
        <p:spPr>
          <a:xfrm>
            <a:off x="320040" y="201168"/>
            <a:ext cx="6949440" cy="201168"/>
          </a:xfrm>
          <a:prstGeom prst="rect">
            <a:avLst/>
          </a:prstGeom>
          <a:noFill/>
          <a:ln/>
        </p:spPr>
        <p:txBody>
          <a:bodyPr wrap="square" lIns="0" tIns="0" rIns="0" bIns="0" rtlCol="0" anchor="ctr"/>
          <a:lstStyle/>
          <a:p>
            <a:pPr marL="0" indent="0">
              <a:buNone/>
            </a:pPr>
            <a:r>
              <a:rPr lang="en-US" sz="850" b="1" dirty="0">
                <a:solidFill>
                  <a:srgbClr val="20A7A6"/>
                </a:solidFill>
                <a:latin typeface="Lato" pitchFamily="34" charset="0"/>
                <a:ea typeface="Lato" pitchFamily="34" charset="-122"/>
                <a:cs typeface="Lato" pitchFamily="34" charset="-120"/>
              </a:rPr>
              <a:t>BUSINESS IMPACT FROM CONFUSION MATRIX</a:t>
            </a:r>
            <a:endParaRPr lang="en-US" sz="850" dirty="0"/>
          </a:p>
        </p:txBody>
      </p:sp>
      <p:sp>
        <p:nvSpPr>
          <p:cNvPr id="4" name="Text 2"/>
          <p:cNvSpPr/>
          <p:nvPr/>
        </p:nvSpPr>
        <p:spPr>
          <a:xfrm>
            <a:off x="11338560" y="182880"/>
            <a:ext cx="502920" cy="182880"/>
          </a:xfrm>
          <a:prstGeom prst="rect">
            <a:avLst/>
          </a:prstGeom>
          <a:noFill/>
          <a:ln/>
        </p:spPr>
        <p:txBody>
          <a:bodyPr wrap="square" lIns="0" tIns="0" rIns="0" bIns="0" rtlCol="0" anchor="ctr"/>
          <a:lstStyle/>
          <a:p>
            <a:pPr marL="0" indent="0" algn="r">
              <a:buNone/>
            </a:pPr>
            <a:r>
              <a:rPr lang="en-US" sz="750" dirty="0">
                <a:solidFill>
                  <a:srgbClr val="6B7280"/>
                </a:solidFill>
                <a:latin typeface="Lato" pitchFamily="34" charset="0"/>
                <a:ea typeface="Lato" pitchFamily="34" charset="-122"/>
                <a:cs typeface="Lato" pitchFamily="34" charset="-120"/>
              </a:rPr>
              <a:t>18/23</a:t>
            </a:r>
            <a:endParaRPr lang="en-US" sz="750" dirty="0"/>
          </a:p>
        </p:txBody>
      </p:sp>
      <p:sp>
        <p:nvSpPr>
          <p:cNvPr id="5" name="Text 3"/>
          <p:cNvSpPr/>
          <p:nvPr/>
        </p:nvSpPr>
        <p:spPr>
          <a:xfrm>
            <a:off x="320040" y="566928"/>
            <a:ext cx="9144000" cy="512064"/>
          </a:xfrm>
          <a:prstGeom prst="rect">
            <a:avLst/>
          </a:prstGeom>
          <a:noFill/>
          <a:ln/>
        </p:spPr>
        <p:txBody>
          <a:bodyPr wrap="square" lIns="0" tIns="0" rIns="0" bIns="0" rtlCol="0" anchor="ctr">
            <a:normAutofit/>
          </a:bodyPr>
          <a:lstStyle/>
          <a:p>
            <a:pPr marL="0" indent="0">
              <a:buNone/>
            </a:pPr>
            <a:r>
              <a:rPr lang="en-US" sz="2700" b="1" dirty="0">
                <a:solidFill>
                  <a:srgbClr val="09243D"/>
                </a:solidFill>
                <a:latin typeface="Lato" pitchFamily="34" charset="0"/>
                <a:ea typeface="Lato" pitchFamily="34" charset="-122"/>
                <a:cs typeface="Lato" pitchFamily="34" charset="-120"/>
              </a:rPr>
              <a:t>0.60 Reduces 263 False Positives</a:t>
            </a:r>
            <a:endParaRPr lang="en-US" sz="2700" dirty="0"/>
          </a:p>
        </p:txBody>
      </p:sp>
      <p:pic>
        <p:nvPicPr>
          <p:cNvPr id="7" name="Image 0" descr="/mnt/data/bank_presentation_assets/fp_fn_impact.png"/>
          <p:cNvPicPr>
            <a:picLocks noChangeAspect="1"/>
          </p:cNvPicPr>
          <p:nvPr/>
        </p:nvPicPr>
        <p:blipFill>
          <a:blip r:embed="rId3"/>
          <a:stretch>
            <a:fillRect/>
          </a:stretch>
        </p:blipFill>
        <p:spPr>
          <a:xfrm>
            <a:off x="594360" y="1622794"/>
            <a:ext cx="5074920" cy="2972333"/>
          </a:xfrm>
          <a:prstGeom prst="rect">
            <a:avLst/>
          </a:prstGeom>
        </p:spPr>
      </p:pic>
      <p:sp>
        <p:nvSpPr>
          <p:cNvPr id="8" name="Text 5"/>
          <p:cNvSpPr/>
          <p:nvPr/>
        </p:nvSpPr>
        <p:spPr>
          <a:xfrm>
            <a:off x="6035040" y="1417320"/>
            <a:ext cx="4297680" cy="2057400"/>
          </a:xfrm>
          <a:prstGeom prst="rect">
            <a:avLst/>
          </a:prstGeom>
          <a:noFill/>
          <a:ln/>
        </p:spPr>
        <p:txBody>
          <a:bodyPr wrap="square" lIns="762" tIns="762" rIns="762" bIns="762" rtlCol="0" anchor="t">
            <a:normAutofit/>
          </a:bodyPr>
          <a:lstStyle/>
          <a:p>
            <a:pPr marL="0" indent="0">
              <a:buNone/>
            </a:pPr>
            <a:r>
              <a:rPr lang="en-US" sz="1350" dirty="0">
                <a:solidFill>
                  <a:srgbClr val="152238"/>
                </a:solidFill>
                <a:latin typeface="Lato" pitchFamily="34" charset="0"/>
                <a:ea typeface="Lato" pitchFamily="34" charset="-122"/>
                <a:cs typeface="Lato" pitchFamily="34" charset="-120"/>
              </a:rPr>
              <a:t>Moving from 0.50 to 0.60 reduces FP from 994 to 731.</a:t>
            </a:r>
            <a:endParaRPr lang="en-US" sz="1350" dirty="0"/>
          </a:p>
          <a:p>
            <a:pPr marL="0" indent="0">
              <a:buNone/>
            </a:pPr>
            <a:r>
              <a:rPr lang="en-US" sz="1350" dirty="0">
                <a:solidFill>
                  <a:srgbClr val="152238"/>
                </a:solidFill>
                <a:latin typeface="Lato" pitchFamily="34" charset="0"/>
                <a:ea typeface="Lato" pitchFamily="34" charset="-122"/>
                <a:cs typeface="Lato" pitchFamily="34" charset="-120"/>
              </a:rPr>
              <a:t>Illustrative FP contact-cost reduction: USD 1,315 at USD 5/contact.</a:t>
            </a:r>
            <a:endParaRPr lang="en-US" sz="1350" dirty="0"/>
          </a:p>
          <a:p>
            <a:pPr marL="0" indent="0">
              <a:buNone/>
            </a:pPr>
            <a:r>
              <a:rPr lang="en-US" sz="1350" dirty="0">
                <a:solidFill>
                  <a:srgbClr val="152238"/>
                </a:solidFill>
                <a:latin typeface="Lato" pitchFamily="34" charset="0"/>
                <a:ea typeface="Lato" pitchFamily="34" charset="-122"/>
                <a:cs typeface="Lato" pitchFamily="34" charset="-120"/>
              </a:rPr>
              <a:t>Sensitivity scenario: USD 2,393.30 reduction at USD 9.10/contact.</a:t>
            </a:r>
            <a:endParaRPr lang="en-US" sz="1350" dirty="0"/>
          </a:p>
          <a:p>
            <a:pPr marL="0" indent="0">
              <a:buNone/>
            </a:pPr>
            <a:r>
              <a:rPr lang="en-US" sz="1350" dirty="0">
                <a:solidFill>
                  <a:srgbClr val="152238"/>
                </a:solidFill>
                <a:latin typeface="Lato" pitchFamily="34" charset="0"/>
                <a:ea typeface="Lato" pitchFamily="34" charset="-122"/>
                <a:cs typeface="Lato" pitchFamily="34" charset="-120"/>
              </a:rPr>
              <a:t>Trade-off: FN increases from 316 to 358, or 42 additional missed subscribers.</a:t>
            </a:r>
            <a:endParaRPr lang="en-US" sz="1350" dirty="0"/>
          </a:p>
        </p:txBody>
      </p:sp>
      <p:sp>
        <p:nvSpPr>
          <p:cNvPr id="9" name="Shape 6"/>
          <p:cNvSpPr/>
          <p:nvPr/>
        </p:nvSpPr>
        <p:spPr>
          <a:xfrm>
            <a:off x="6035040" y="4434840"/>
            <a:ext cx="4297680" cy="777240"/>
          </a:xfrm>
          <a:prstGeom prst="roundRect">
            <a:avLst>
              <a:gd name="adj" fmla="val 5882"/>
            </a:avLst>
          </a:prstGeom>
          <a:solidFill>
            <a:srgbClr val="F4F8FA"/>
          </a:solidFill>
          <a:ln w="7620">
            <a:solidFill>
              <a:srgbClr val="D7E4EA"/>
            </a:solidFill>
            <a:prstDash val="solid"/>
          </a:ln>
        </p:spPr>
      </p:sp>
      <p:sp>
        <p:nvSpPr>
          <p:cNvPr id="10" name="Shape 7"/>
          <p:cNvSpPr/>
          <p:nvPr/>
        </p:nvSpPr>
        <p:spPr>
          <a:xfrm>
            <a:off x="6035040" y="4434840"/>
            <a:ext cx="73152" cy="777240"/>
          </a:xfrm>
          <a:prstGeom prst="rect">
            <a:avLst/>
          </a:prstGeom>
          <a:solidFill>
            <a:srgbClr val="F5A33B"/>
          </a:solidFill>
          <a:ln w="12700">
            <a:solidFill>
              <a:srgbClr val="F5A33B">
                <a:alpha val="0"/>
              </a:srgbClr>
            </a:solidFill>
            <a:prstDash val="solid"/>
          </a:ln>
        </p:spPr>
      </p:sp>
      <p:sp>
        <p:nvSpPr>
          <p:cNvPr id="11" name="Text 8"/>
          <p:cNvSpPr/>
          <p:nvPr/>
        </p:nvSpPr>
        <p:spPr>
          <a:xfrm>
            <a:off x="6199632" y="4562856"/>
            <a:ext cx="405993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Business impact caveat</a:t>
            </a:r>
            <a:endParaRPr lang="en-US" sz="1250" dirty="0"/>
          </a:p>
        </p:txBody>
      </p:sp>
      <p:sp>
        <p:nvSpPr>
          <p:cNvPr id="12" name="Text 9"/>
          <p:cNvSpPr/>
          <p:nvPr/>
        </p:nvSpPr>
        <p:spPr>
          <a:xfrm>
            <a:off x="6199632" y="4873752"/>
            <a:ext cx="4041648" cy="265176"/>
          </a:xfrm>
          <a:prstGeom prst="rect">
            <a:avLst/>
          </a:prstGeom>
          <a:noFill/>
          <a:ln/>
        </p:spPr>
        <p:txBody>
          <a:bodyPr wrap="square" lIns="0" tIns="0" rIns="0" bIns="0" rtlCol="0" anchor="ctr">
            <a:normAutofit fontScale="92500" lnSpcReduction="20000"/>
          </a:bodyPr>
          <a:lstStyle/>
          <a:p>
            <a:pPr marL="0" indent="0">
              <a:buNone/>
            </a:pPr>
            <a:r>
              <a:rPr lang="en-US" sz="1130" dirty="0">
                <a:solidFill>
                  <a:srgbClr val="152238"/>
                </a:solidFill>
                <a:latin typeface="Lato" pitchFamily="34" charset="0"/>
                <a:ea typeface="Lato" pitchFamily="34" charset="-122"/>
                <a:cs typeface="Lato" pitchFamily="34" charset="-120"/>
              </a:rPr>
              <a:t>Actual pre-ML campaign cost baseline is unavailable. Impact is evaluated through illustrative operating scenarios.</a:t>
            </a:r>
            <a:endParaRPr lang="en-US" sz="1130" dirty="0"/>
          </a:p>
        </p:txBody>
      </p:sp>
      <p:sp>
        <p:nvSpPr>
          <p:cNvPr id="13" name="Shape 3">
            <a:extLst>
              <a:ext uri="{FF2B5EF4-FFF2-40B4-BE49-F238E27FC236}">
                <a16:creationId xmlns:a16="http://schemas.microsoft.com/office/drawing/2014/main" id="{4473CB8D-823E-789D-F0C8-AEA5F566AA6D}"/>
              </a:ext>
            </a:extLst>
          </p:cNvPr>
          <p:cNvSpPr/>
          <p:nvPr/>
        </p:nvSpPr>
        <p:spPr>
          <a:xfrm>
            <a:off x="292608" y="1051560"/>
            <a:ext cx="1572768" cy="27432"/>
          </a:xfrm>
          <a:prstGeom prst="rect">
            <a:avLst/>
          </a:prstGeom>
          <a:solidFill>
            <a:srgbClr val="F4A340"/>
          </a:solidFill>
          <a:ln w="12700">
            <a:solidFill>
              <a:srgbClr val="F4A340"/>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09243D"/>
          </a:solidFill>
          <a:ln w="12700">
            <a:solidFill>
              <a:srgbClr val="09243D">
                <a:alpha val="0"/>
              </a:srgbClr>
            </a:solidFill>
            <a:prstDash val="solid"/>
          </a:ln>
        </p:spPr>
      </p:sp>
      <p:sp>
        <p:nvSpPr>
          <p:cNvPr id="3" name="Text 1"/>
          <p:cNvSpPr/>
          <p:nvPr/>
        </p:nvSpPr>
        <p:spPr>
          <a:xfrm>
            <a:off x="320040" y="201168"/>
            <a:ext cx="6949440" cy="201168"/>
          </a:xfrm>
          <a:prstGeom prst="rect">
            <a:avLst/>
          </a:prstGeom>
          <a:noFill/>
          <a:ln/>
        </p:spPr>
        <p:txBody>
          <a:bodyPr wrap="square" lIns="0" tIns="0" rIns="0" bIns="0" rtlCol="0" anchor="ctr"/>
          <a:lstStyle/>
          <a:p>
            <a:pPr marL="0" indent="0">
              <a:buNone/>
            </a:pPr>
            <a:r>
              <a:rPr lang="en-US" sz="850" b="1" dirty="0">
                <a:solidFill>
                  <a:srgbClr val="20A7A6"/>
                </a:solidFill>
                <a:latin typeface="Lato" pitchFamily="34" charset="0"/>
                <a:ea typeface="Lato" pitchFamily="34" charset="-122"/>
                <a:cs typeface="Lato" pitchFamily="34" charset="-120"/>
              </a:rPr>
              <a:t>MODEL INTERPRETATION</a:t>
            </a:r>
            <a:endParaRPr lang="en-US" sz="850" dirty="0"/>
          </a:p>
        </p:txBody>
      </p:sp>
      <p:sp>
        <p:nvSpPr>
          <p:cNvPr id="4" name="Text 2"/>
          <p:cNvSpPr/>
          <p:nvPr/>
        </p:nvSpPr>
        <p:spPr>
          <a:xfrm>
            <a:off x="11338560" y="182880"/>
            <a:ext cx="502920" cy="182880"/>
          </a:xfrm>
          <a:prstGeom prst="rect">
            <a:avLst/>
          </a:prstGeom>
          <a:noFill/>
          <a:ln/>
        </p:spPr>
        <p:txBody>
          <a:bodyPr wrap="square" lIns="0" tIns="0" rIns="0" bIns="0" rtlCol="0" anchor="ctr"/>
          <a:lstStyle/>
          <a:p>
            <a:pPr marL="0" indent="0" algn="r">
              <a:buNone/>
            </a:pPr>
            <a:r>
              <a:rPr lang="en-US" sz="750" dirty="0">
                <a:solidFill>
                  <a:srgbClr val="6B7280"/>
                </a:solidFill>
                <a:latin typeface="Lato" pitchFamily="34" charset="0"/>
                <a:ea typeface="Lato" pitchFamily="34" charset="-122"/>
                <a:cs typeface="Lato" pitchFamily="34" charset="-120"/>
              </a:rPr>
              <a:t>19/23</a:t>
            </a:r>
            <a:endParaRPr lang="en-US" sz="750" dirty="0"/>
          </a:p>
        </p:txBody>
      </p:sp>
      <p:sp>
        <p:nvSpPr>
          <p:cNvPr id="5" name="Text 3"/>
          <p:cNvSpPr/>
          <p:nvPr/>
        </p:nvSpPr>
        <p:spPr>
          <a:xfrm>
            <a:off x="320040" y="566928"/>
            <a:ext cx="9601200" cy="512064"/>
          </a:xfrm>
          <a:prstGeom prst="rect">
            <a:avLst/>
          </a:prstGeom>
          <a:noFill/>
          <a:ln/>
        </p:spPr>
        <p:txBody>
          <a:bodyPr wrap="square" lIns="0" tIns="0" rIns="0" bIns="0" rtlCol="0" anchor="ctr">
            <a:normAutofit/>
          </a:bodyPr>
          <a:lstStyle/>
          <a:p>
            <a:pPr marL="0" indent="0">
              <a:buNone/>
            </a:pPr>
            <a:r>
              <a:rPr lang="en-US" sz="2700" b="1" dirty="0">
                <a:solidFill>
                  <a:srgbClr val="09243D"/>
                </a:solidFill>
                <a:latin typeface="Lato" pitchFamily="34" charset="0"/>
                <a:ea typeface="Lato" pitchFamily="34" charset="-122"/>
                <a:cs typeface="Lato" pitchFamily="34" charset="-120"/>
              </a:rPr>
              <a:t>Economic Indicators Are Major Predictive Signals</a:t>
            </a:r>
            <a:endParaRPr lang="en-US" sz="2700" dirty="0"/>
          </a:p>
        </p:txBody>
      </p:sp>
      <p:pic>
        <p:nvPicPr>
          <p:cNvPr id="7" name="Image 0" descr="/mnt/data/bank_presentation_assets/permutation_importance.png"/>
          <p:cNvPicPr>
            <a:picLocks noChangeAspect="1"/>
          </p:cNvPicPr>
          <p:nvPr/>
        </p:nvPicPr>
        <p:blipFill>
          <a:blip r:embed="rId3"/>
          <a:stretch>
            <a:fillRect/>
          </a:stretch>
        </p:blipFill>
        <p:spPr>
          <a:xfrm>
            <a:off x="685800" y="1593342"/>
            <a:ext cx="4663440" cy="3031236"/>
          </a:xfrm>
          <a:prstGeom prst="rect">
            <a:avLst/>
          </a:prstGeom>
        </p:spPr>
      </p:pic>
      <p:sp>
        <p:nvSpPr>
          <p:cNvPr id="8" name="Text 5"/>
          <p:cNvSpPr/>
          <p:nvPr/>
        </p:nvSpPr>
        <p:spPr>
          <a:xfrm>
            <a:off x="5897880" y="1463040"/>
            <a:ext cx="4480560" cy="2103120"/>
          </a:xfrm>
          <a:prstGeom prst="rect">
            <a:avLst/>
          </a:prstGeom>
          <a:noFill/>
          <a:ln/>
        </p:spPr>
        <p:txBody>
          <a:bodyPr wrap="square" lIns="762" tIns="762" rIns="762" bIns="762" rtlCol="0" anchor="t">
            <a:normAutofit/>
          </a:bodyPr>
          <a:lstStyle/>
          <a:p>
            <a:pPr marL="0" indent="0">
              <a:buNone/>
            </a:pPr>
            <a:r>
              <a:rPr lang="en-US" sz="1350" dirty="0">
                <a:solidFill>
                  <a:srgbClr val="152238"/>
                </a:solidFill>
                <a:latin typeface="Lato" pitchFamily="34" charset="0"/>
                <a:ea typeface="Lato" pitchFamily="34" charset="-122"/>
                <a:cs typeface="Lato" pitchFamily="34" charset="-120"/>
              </a:rPr>
              <a:t>Permutation Importance and SHAP use different definitions of importance.</a:t>
            </a:r>
            <a:endParaRPr lang="en-US" sz="1350" dirty="0"/>
          </a:p>
          <a:p>
            <a:pPr marL="0" indent="0">
              <a:buNone/>
            </a:pPr>
            <a:r>
              <a:rPr lang="en-US" sz="1350" dirty="0">
                <a:solidFill>
                  <a:srgbClr val="152238"/>
                </a:solidFill>
                <a:latin typeface="Lato" pitchFamily="34" charset="0"/>
                <a:ea typeface="Lato" pitchFamily="34" charset="-122"/>
                <a:cs typeface="Lato" pitchFamily="34" charset="-120"/>
              </a:rPr>
              <a:t>Both methods consistently highlight economic indicators as major predictive signals.</a:t>
            </a:r>
            <a:endParaRPr lang="en-US" sz="1350" dirty="0"/>
          </a:p>
          <a:p>
            <a:pPr marL="0" indent="0">
              <a:buNone/>
            </a:pPr>
            <a:r>
              <a:rPr lang="en-US" sz="1350" dirty="0">
                <a:solidFill>
                  <a:srgbClr val="152238"/>
                </a:solidFill>
                <a:latin typeface="Lato" pitchFamily="34" charset="0"/>
                <a:ea typeface="Lato" pitchFamily="34" charset="-122"/>
                <a:cs typeface="Lato" pitchFamily="34" charset="-120"/>
              </a:rPr>
              <a:t>`pdays` is interpreted through feature engineering as previous-contact history.</a:t>
            </a:r>
            <a:endParaRPr lang="en-US" sz="1350" dirty="0"/>
          </a:p>
          <a:p>
            <a:pPr marL="0" indent="0">
              <a:buNone/>
            </a:pPr>
            <a:r>
              <a:rPr lang="en-US" sz="1350" dirty="0">
                <a:solidFill>
                  <a:srgbClr val="152238"/>
                </a:solidFill>
                <a:latin typeface="Lato" pitchFamily="34" charset="0"/>
                <a:ea typeface="Lato" pitchFamily="34" charset="-122"/>
                <a:cs typeface="Lato" pitchFamily="34" charset="-120"/>
              </a:rPr>
              <a:t>Interpretation is predictive and associational, not causal.</a:t>
            </a:r>
            <a:endParaRPr lang="en-US" sz="1350" dirty="0"/>
          </a:p>
        </p:txBody>
      </p:sp>
      <p:sp>
        <p:nvSpPr>
          <p:cNvPr id="9" name="Shape 6"/>
          <p:cNvSpPr/>
          <p:nvPr/>
        </p:nvSpPr>
        <p:spPr>
          <a:xfrm>
            <a:off x="5897880" y="4434840"/>
            <a:ext cx="4389120" cy="658368"/>
          </a:xfrm>
          <a:prstGeom prst="roundRect">
            <a:avLst>
              <a:gd name="adj" fmla="val 6944"/>
            </a:avLst>
          </a:prstGeom>
          <a:solidFill>
            <a:srgbClr val="F4F8FA"/>
          </a:solidFill>
          <a:ln w="7620">
            <a:solidFill>
              <a:srgbClr val="D7E4EA"/>
            </a:solidFill>
            <a:prstDash val="solid"/>
          </a:ln>
        </p:spPr>
      </p:sp>
      <p:sp>
        <p:nvSpPr>
          <p:cNvPr id="10" name="Shape 7"/>
          <p:cNvSpPr/>
          <p:nvPr/>
        </p:nvSpPr>
        <p:spPr>
          <a:xfrm>
            <a:off x="5897880" y="4434840"/>
            <a:ext cx="73152" cy="658368"/>
          </a:xfrm>
          <a:prstGeom prst="rect">
            <a:avLst/>
          </a:prstGeom>
          <a:solidFill>
            <a:srgbClr val="20A7A6"/>
          </a:solidFill>
          <a:ln w="12700">
            <a:solidFill>
              <a:srgbClr val="20A7A6">
                <a:alpha val="0"/>
              </a:srgbClr>
            </a:solidFill>
            <a:prstDash val="solid"/>
          </a:ln>
        </p:spPr>
      </p:sp>
      <p:sp>
        <p:nvSpPr>
          <p:cNvPr id="11" name="Text 8"/>
          <p:cNvSpPr/>
          <p:nvPr/>
        </p:nvSpPr>
        <p:spPr>
          <a:xfrm>
            <a:off x="6062472" y="4562856"/>
            <a:ext cx="415137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Major signals</a:t>
            </a:r>
            <a:endParaRPr lang="en-US" sz="1250" dirty="0"/>
          </a:p>
        </p:txBody>
      </p:sp>
      <p:sp>
        <p:nvSpPr>
          <p:cNvPr id="12" name="Text 9"/>
          <p:cNvSpPr/>
          <p:nvPr/>
        </p:nvSpPr>
        <p:spPr>
          <a:xfrm>
            <a:off x="6062472" y="4873752"/>
            <a:ext cx="4133088" cy="146304"/>
          </a:xfrm>
          <a:prstGeom prst="rect">
            <a:avLst/>
          </a:prstGeom>
          <a:noFill/>
          <a:ln/>
        </p:spPr>
        <p:txBody>
          <a:bodyPr wrap="square" lIns="0" tIns="0" rIns="0" bIns="0" rtlCol="0" anchor="ctr">
            <a:normAutofit fontScale="77500" lnSpcReduction="20000"/>
          </a:bodyPr>
          <a:lstStyle/>
          <a:p>
            <a:pPr marL="0" indent="0">
              <a:buNone/>
            </a:pPr>
            <a:r>
              <a:rPr lang="en-US" sz="1150" dirty="0">
                <a:solidFill>
                  <a:srgbClr val="152238"/>
                </a:solidFill>
                <a:latin typeface="Lato" pitchFamily="34" charset="0"/>
                <a:ea typeface="Lato" pitchFamily="34" charset="-122"/>
                <a:cs typeface="Lato" pitchFamily="34" charset="-120"/>
              </a:rPr>
              <a:t>nr.employed, euribor3m, pdays, emp.var.rate, contact, campaign, poutcome.</a:t>
            </a:r>
            <a:endParaRPr lang="en-US" sz="1150" dirty="0"/>
          </a:p>
        </p:txBody>
      </p:sp>
      <p:sp>
        <p:nvSpPr>
          <p:cNvPr id="13" name="Shape 3">
            <a:extLst>
              <a:ext uri="{FF2B5EF4-FFF2-40B4-BE49-F238E27FC236}">
                <a16:creationId xmlns:a16="http://schemas.microsoft.com/office/drawing/2014/main" id="{370F05A0-1A84-A87E-F77A-2937E6E6E195}"/>
              </a:ext>
            </a:extLst>
          </p:cNvPr>
          <p:cNvSpPr/>
          <p:nvPr/>
        </p:nvSpPr>
        <p:spPr>
          <a:xfrm>
            <a:off x="292608" y="1051560"/>
            <a:ext cx="1572768" cy="27432"/>
          </a:xfrm>
          <a:prstGeom prst="rect">
            <a:avLst/>
          </a:prstGeom>
          <a:solidFill>
            <a:srgbClr val="F4A340"/>
          </a:solidFill>
          <a:ln w="12700">
            <a:solidFill>
              <a:srgbClr val="F4A340"/>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09243D"/>
          </a:solidFill>
          <a:ln w="12700">
            <a:solidFill>
              <a:srgbClr val="09243D">
                <a:alpha val="0"/>
              </a:srgbClr>
            </a:solidFill>
            <a:prstDash val="solid"/>
          </a:ln>
        </p:spPr>
      </p:sp>
      <p:sp>
        <p:nvSpPr>
          <p:cNvPr id="3" name="Text 1"/>
          <p:cNvSpPr/>
          <p:nvPr/>
        </p:nvSpPr>
        <p:spPr>
          <a:xfrm>
            <a:off x="320040" y="201168"/>
            <a:ext cx="6949440" cy="201168"/>
          </a:xfrm>
          <a:prstGeom prst="rect">
            <a:avLst/>
          </a:prstGeom>
          <a:noFill/>
          <a:ln/>
        </p:spPr>
        <p:txBody>
          <a:bodyPr wrap="square" lIns="0" tIns="0" rIns="0" bIns="0" rtlCol="0" anchor="ctr"/>
          <a:lstStyle/>
          <a:p>
            <a:pPr marL="0" indent="0">
              <a:buNone/>
            </a:pPr>
            <a:r>
              <a:rPr lang="en-US" sz="850" b="1" dirty="0">
                <a:solidFill>
                  <a:srgbClr val="20A7A6"/>
                </a:solidFill>
                <a:latin typeface="Lato" pitchFamily="34" charset="0"/>
                <a:ea typeface="Lato" pitchFamily="34" charset="-122"/>
                <a:cs typeface="Lato" pitchFamily="34" charset="-120"/>
              </a:rPr>
              <a:t>MODEL LIMITATION &amp; DATA GAPS</a:t>
            </a:r>
            <a:endParaRPr lang="en-US" sz="850" dirty="0"/>
          </a:p>
        </p:txBody>
      </p:sp>
      <p:sp>
        <p:nvSpPr>
          <p:cNvPr id="4" name="Text 2"/>
          <p:cNvSpPr/>
          <p:nvPr/>
        </p:nvSpPr>
        <p:spPr>
          <a:xfrm>
            <a:off x="11338560" y="182880"/>
            <a:ext cx="502920" cy="182880"/>
          </a:xfrm>
          <a:prstGeom prst="rect">
            <a:avLst/>
          </a:prstGeom>
          <a:noFill/>
          <a:ln/>
        </p:spPr>
        <p:txBody>
          <a:bodyPr wrap="square" lIns="0" tIns="0" rIns="0" bIns="0" rtlCol="0" anchor="ctr"/>
          <a:lstStyle/>
          <a:p>
            <a:pPr marL="0" indent="0" algn="r">
              <a:buNone/>
            </a:pPr>
            <a:r>
              <a:rPr lang="en-US" sz="750" dirty="0">
                <a:solidFill>
                  <a:srgbClr val="6B7280"/>
                </a:solidFill>
                <a:latin typeface="Lato" pitchFamily="34" charset="0"/>
                <a:ea typeface="Lato" pitchFamily="34" charset="-122"/>
                <a:cs typeface="Lato" pitchFamily="34" charset="-120"/>
              </a:rPr>
              <a:t>20/23</a:t>
            </a:r>
            <a:endParaRPr lang="en-US" sz="750" dirty="0"/>
          </a:p>
        </p:txBody>
      </p:sp>
      <p:sp>
        <p:nvSpPr>
          <p:cNvPr id="5" name="Text 3"/>
          <p:cNvSpPr/>
          <p:nvPr/>
        </p:nvSpPr>
        <p:spPr>
          <a:xfrm>
            <a:off x="320040" y="566928"/>
            <a:ext cx="7772400" cy="512064"/>
          </a:xfrm>
          <a:prstGeom prst="rect">
            <a:avLst/>
          </a:prstGeom>
          <a:noFill/>
          <a:ln/>
        </p:spPr>
        <p:txBody>
          <a:bodyPr wrap="square" lIns="0" tIns="0" rIns="0" bIns="0" rtlCol="0" anchor="ctr">
            <a:normAutofit/>
          </a:bodyPr>
          <a:lstStyle/>
          <a:p>
            <a:pPr marL="0" indent="0">
              <a:buNone/>
            </a:pPr>
            <a:r>
              <a:rPr lang="en-US" sz="2700" b="1" dirty="0">
                <a:solidFill>
                  <a:srgbClr val="09243D"/>
                </a:solidFill>
                <a:latin typeface="Lato" pitchFamily="34" charset="0"/>
                <a:ea typeface="Lato" pitchFamily="34" charset="-122"/>
                <a:cs typeface="Lato" pitchFamily="34" charset="-120"/>
              </a:rPr>
              <a:t>Use Within Similar Campaign Context</a:t>
            </a:r>
            <a:endParaRPr lang="en-US" sz="2700" dirty="0"/>
          </a:p>
        </p:txBody>
      </p:sp>
      <p:sp>
        <p:nvSpPr>
          <p:cNvPr id="7" name="Shape 5"/>
          <p:cNvSpPr/>
          <p:nvPr/>
        </p:nvSpPr>
        <p:spPr>
          <a:xfrm>
            <a:off x="594360" y="1234440"/>
            <a:ext cx="4800600" cy="777240"/>
          </a:xfrm>
          <a:prstGeom prst="roundRect">
            <a:avLst>
              <a:gd name="adj" fmla="val 5882"/>
            </a:avLst>
          </a:prstGeom>
          <a:solidFill>
            <a:srgbClr val="F4F8FA"/>
          </a:solidFill>
          <a:ln w="7620">
            <a:solidFill>
              <a:srgbClr val="D7E4EA"/>
            </a:solidFill>
            <a:prstDash val="solid"/>
          </a:ln>
        </p:spPr>
      </p:sp>
      <p:sp>
        <p:nvSpPr>
          <p:cNvPr id="8" name="Shape 6"/>
          <p:cNvSpPr/>
          <p:nvPr/>
        </p:nvSpPr>
        <p:spPr>
          <a:xfrm>
            <a:off x="594360" y="1234440"/>
            <a:ext cx="73152" cy="777240"/>
          </a:xfrm>
          <a:prstGeom prst="rect">
            <a:avLst/>
          </a:prstGeom>
          <a:solidFill>
            <a:srgbClr val="20A7A6"/>
          </a:solidFill>
          <a:ln w="12700">
            <a:solidFill>
              <a:srgbClr val="20A7A6">
                <a:alpha val="0"/>
              </a:srgbClr>
            </a:solidFill>
            <a:prstDash val="solid"/>
          </a:ln>
        </p:spPr>
      </p:sp>
      <p:sp>
        <p:nvSpPr>
          <p:cNvPr id="9" name="Text 7"/>
          <p:cNvSpPr/>
          <p:nvPr/>
        </p:nvSpPr>
        <p:spPr>
          <a:xfrm>
            <a:off x="758952" y="1362456"/>
            <a:ext cx="456285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Temporal generalization</a:t>
            </a:r>
            <a:endParaRPr lang="en-US" sz="1250" dirty="0"/>
          </a:p>
        </p:txBody>
      </p:sp>
      <p:sp>
        <p:nvSpPr>
          <p:cNvPr id="10" name="Text 8"/>
          <p:cNvSpPr/>
          <p:nvPr/>
        </p:nvSpPr>
        <p:spPr>
          <a:xfrm>
            <a:off x="758952" y="1673352"/>
            <a:ext cx="4544568" cy="265176"/>
          </a:xfrm>
          <a:prstGeom prst="rect">
            <a:avLst/>
          </a:prstGeom>
          <a:noFill/>
          <a:ln/>
        </p:spPr>
        <p:txBody>
          <a:bodyPr wrap="square" lIns="0" tIns="0" rIns="0" bIns="0" rtlCol="0" anchor="ctr">
            <a:normAutofit fontScale="85000" lnSpcReduction="20000"/>
          </a:bodyPr>
          <a:lstStyle/>
          <a:p>
            <a:pPr marL="0" indent="0">
              <a:buNone/>
            </a:pPr>
            <a:r>
              <a:rPr lang="en-US" sz="1150" dirty="0">
                <a:solidFill>
                  <a:srgbClr val="152238"/>
                </a:solidFill>
                <a:latin typeface="Lato" pitchFamily="34" charset="0"/>
                <a:ea typeface="Lato" pitchFamily="34" charset="-122"/>
                <a:cs typeface="Lato" pitchFamily="34" charset="-120"/>
              </a:rPr>
              <a:t>Dataset reflects one historical campaign context; performance may shift across periods.</a:t>
            </a:r>
            <a:endParaRPr lang="en-US" sz="1150" dirty="0"/>
          </a:p>
        </p:txBody>
      </p:sp>
      <p:sp>
        <p:nvSpPr>
          <p:cNvPr id="11" name="Shape 9"/>
          <p:cNvSpPr/>
          <p:nvPr/>
        </p:nvSpPr>
        <p:spPr>
          <a:xfrm>
            <a:off x="5715000" y="1234440"/>
            <a:ext cx="4800600" cy="777240"/>
          </a:xfrm>
          <a:prstGeom prst="roundRect">
            <a:avLst>
              <a:gd name="adj" fmla="val 5882"/>
            </a:avLst>
          </a:prstGeom>
          <a:solidFill>
            <a:srgbClr val="F4F8FA"/>
          </a:solidFill>
          <a:ln w="7620">
            <a:solidFill>
              <a:srgbClr val="D7E4EA"/>
            </a:solidFill>
            <a:prstDash val="solid"/>
          </a:ln>
        </p:spPr>
      </p:sp>
      <p:sp>
        <p:nvSpPr>
          <p:cNvPr id="12" name="Shape 10"/>
          <p:cNvSpPr/>
          <p:nvPr/>
        </p:nvSpPr>
        <p:spPr>
          <a:xfrm>
            <a:off x="5715000" y="1234440"/>
            <a:ext cx="73152" cy="777240"/>
          </a:xfrm>
          <a:prstGeom prst="rect">
            <a:avLst/>
          </a:prstGeom>
          <a:solidFill>
            <a:srgbClr val="F5A33B"/>
          </a:solidFill>
          <a:ln w="12700">
            <a:solidFill>
              <a:srgbClr val="F5A33B">
                <a:alpha val="0"/>
              </a:srgbClr>
            </a:solidFill>
            <a:prstDash val="solid"/>
          </a:ln>
        </p:spPr>
      </p:sp>
      <p:sp>
        <p:nvSpPr>
          <p:cNvPr id="13" name="Text 11"/>
          <p:cNvSpPr/>
          <p:nvPr/>
        </p:nvSpPr>
        <p:spPr>
          <a:xfrm>
            <a:off x="5879592" y="1362456"/>
            <a:ext cx="456285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No revenue / CLV</a:t>
            </a:r>
            <a:endParaRPr lang="en-US" sz="1250" dirty="0"/>
          </a:p>
        </p:txBody>
      </p:sp>
      <p:sp>
        <p:nvSpPr>
          <p:cNvPr id="14" name="Text 12"/>
          <p:cNvSpPr/>
          <p:nvPr/>
        </p:nvSpPr>
        <p:spPr>
          <a:xfrm>
            <a:off x="5879592" y="1673352"/>
            <a:ext cx="4544568" cy="265176"/>
          </a:xfrm>
          <a:prstGeom prst="rect">
            <a:avLst/>
          </a:prstGeom>
          <a:noFill/>
          <a:ln/>
        </p:spPr>
        <p:txBody>
          <a:bodyPr wrap="square" lIns="0" tIns="0" rIns="0" bIns="0" rtlCol="0" anchor="ctr">
            <a:normAutofit fontScale="92500" lnSpcReduction="20000"/>
          </a:bodyPr>
          <a:lstStyle/>
          <a:p>
            <a:pPr marL="0" indent="0">
              <a:buNone/>
            </a:pPr>
            <a:r>
              <a:rPr lang="en-US" sz="1120" dirty="0">
                <a:solidFill>
                  <a:srgbClr val="152238"/>
                </a:solidFill>
                <a:latin typeface="Lato" pitchFamily="34" charset="0"/>
                <a:ea typeface="Lato" pitchFamily="34" charset="-122"/>
                <a:cs typeface="Lato" pitchFamily="34" charset="-120"/>
              </a:rPr>
              <a:t>Dataset does not contain revenue per subscription, deposit value, or customer profitability.</a:t>
            </a:r>
            <a:endParaRPr lang="en-US" sz="1120" dirty="0"/>
          </a:p>
        </p:txBody>
      </p:sp>
      <p:sp>
        <p:nvSpPr>
          <p:cNvPr id="15" name="Shape 13"/>
          <p:cNvSpPr/>
          <p:nvPr/>
        </p:nvSpPr>
        <p:spPr>
          <a:xfrm>
            <a:off x="594360" y="2331720"/>
            <a:ext cx="4800600" cy="777240"/>
          </a:xfrm>
          <a:prstGeom prst="roundRect">
            <a:avLst>
              <a:gd name="adj" fmla="val 5882"/>
            </a:avLst>
          </a:prstGeom>
          <a:solidFill>
            <a:srgbClr val="F4F8FA"/>
          </a:solidFill>
          <a:ln w="7620">
            <a:solidFill>
              <a:srgbClr val="D7E4EA"/>
            </a:solidFill>
            <a:prstDash val="solid"/>
          </a:ln>
        </p:spPr>
      </p:sp>
      <p:sp>
        <p:nvSpPr>
          <p:cNvPr id="16" name="Shape 14"/>
          <p:cNvSpPr/>
          <p:nvPr/>
        </p:nvSpPr>
        <p:spPr>
          <a:xfrm>
            <a:off x="594360" y="2331720"/>
            <a:ext cx="73152" cy="777240"/>
          </a:xfrm>
          <a:prstGeom prst="rect">
            <a:avLst/>
          </a:prstGeom>
          <a:solidFill>
            <a:srgbClr val="09243D"/>
          </a:solidFill>
          <a:ln w="12700">
            <a:solidFill>
              <a:srgbClr val="09243D">
                <a:alpha val="0"/>
              </a:srgbClr>
            </a:solidFill>
            <a:prstDash val="solid"/>
          </a:ln>
        </p:spPr>
      </p:sp>
      <p:sp>
        <p:nvSpPr>
          <p:cNvPr id="17" name="Text 15"/>
          <p:cNvSpPr/>
          <p:nvPr/>
        </p:nvSpPr>
        <p:spPr>
          <a:xfrm>
            <a:off x="758952" y="2459736"/>
            <a:ext cx="456285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No unique client ID</a:t>
            </a:r>
            <a:endParaRPr lang="en-US" sz="1250" dirty="0"/>
          </a:p>
        </p:txBody>
      </p:sp>
      <p:sp>
        <p:nvSpPr>
          <p:cNvPr id="18" name="Text 16"/>
          <p:cNvSpPr/>
          <p:nvPr/>
        </p:nvSpPr>
        <p:spPr>
          <a:xfrm>
            <a:off x="758952" y="2770632"/>
            <a:ext cx="4544568" cy="265176"/>
          </a:xfrm>
          <a:prstGeom prst="rect">
            <a:avLst/>
          </a:prstGeom>
          <a:noFill/>
          <a:ln/>
        </p:spPr>
        <p:txBody>
          <a:bodyPr wrap="square" lIns="0" tIns="0" rIns="0" bIns="0" rtlCol="0" anchor="ctr">
            <a:normAutofit fontScale="92500"/>
          </a:bodyPr>
          <a:lstStyle/>
          <a:p>
            <a:pPr marL="0" indent="0">
              <a:buNone/>
            </a:pPr>
            <a:r>
              <a:rPr lang="en-US" sz="1150" dirty="0">
                <a:solidFill>
                  <a:srgbClr val="152238"/>
                </a:solidFill>
                <a:latin typeface="Lato" pitchFamily="34" charset="0"/>
                <a:ea typeface="Lato" pitchFamily="34" charset="-122"/>
                <a:cs typeface="Lato" pitchFamily="34" charset="-120"/>
              </a:rPr>
              <a:t>Rows represent campaign observations, not necessarily unique customers.</a:t>
            </a:r>
            <a:endParaRPr lang="en-US" sz="1150" dirty="0"/>
          </a:p>
        </p:txBody>
      </p:sp>
      <p:sp>
        <p:nvSpPr>
          <p:cNvPr id="19" name="Shape 17"/>
          <p:cNvSpPr/>
          <p:nvPr/>
        </p:nvSpPr>
        <p:spPr>
          <a:xfrm>
            <a:off x="5715000" y="2331720"/>
            <a:ext cx="4800600" cy="777240"/>
          </a:xfrm>
          <a:prstGeom prst="roundRect">
            <a:avLst>
              <a:gd name="adj" fmla="val 5882"/>
            </a:avLst>
          </a:prstGeom>
          <a:solidFill>
            <a:srgbClr val="F4F8FA"/>
          </a:solidFill>
          <a:ln w="7620">
            <a:solidFill>
              <a:srgbClr val="D7E4EA"/>
            </a:solidFill>
            <a:prstDash val="solid"/>
          </a:ln>
        </p:spPr>
      </p:sp>
      <p:sp>
        <p:nvSpPr>
          <p:cNvPr id="20" name="Shape 18"/>
          <p:cNvSpPr/>
          <p:nvPr/>
        </p:nvSpPr>
        <p:spPr>
          <a:xfrm>
            <a:off x="5715000" y="2331720"/>
            <a:ext cx="73152" cy="777240"/>
          </a:xfrm>
          <a:prstGeom prst="rect">
            <a:avLst/>
          </a:prstGeom>
          <a:solidFill>
            <a:srgbClr val="20A7A6"/>
          </a:solidFill>
          <a:ln w="12700">
            <a:solidFill>
              <a:srgbClr val="20A7A6">
                <a:alpha val="0"/>
              </a:srgbClr>
            </a:solidFill>
            <a:prstDash val="solid"/>
          </a:ln>
        </p:spPr>
      </p:sp>
      <p:sp>
        <p:nvSpPr>
          <p:cNvPr id="21" name="Text 19"/>
          <p:cNvSpPr/>
          <p:nvPr/>
        </p:nvSpPr>
        <p:spPr>
          <a:xfrm>
            <a:off x="5879592" y="2459736"/>
            <a:ext cx="456285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Conditional features</a:t>
            </a:r>
            <a:endParaRPr lang="en-US" sz="1250" dirty="0"/>
          </a:p>
        </p:txBody>
      </p:sp>
      <p:sp>
        <p:nvSpPr>
          <p:cNvPr id="22" name="Text 20"/>
          <p:cNvSpPr/>
          <p:nvPr/>
        </p:nvSpPr>
        <p:spPr>
          <a:xfrm>
            <a:off x="5879592" y="2770632"/>
            <a:ext cx="4544568" cy="265176"/>
          </a:xfrm>
          <a:prstGeom prst="rect">
            <a:avLst/>
          </a:prstGeom>
          <a:noFill/>
          <a:ln/>
        </p:spPr>
        <p:txBody>
          <a:bodyPr wrap="square" lIns="0" tIns="0" rIns="0" bIns="0" rtlCol="0" anchor="ctr">
            <a:normAutofit fontScale="92500" lnSpcReduction="20000"/>
          </a:bodyPr>
          <a:lstStyle/>
          <a:p>
            <a:pPr marL="0" indent="0">
              <a:buNone/>
            </a:pPr>
            <a:r>
              <a:rPr lang="en-US" sz="1120" dirty="0">
                <a:solidFill>
                  <a:srgbClr val="152238"/>
                </a:solidFill>
                <a:latin typeface="Lato" pitchFamily="34" charset="0"/>
                <a:ea typeface="Lato" pitchFamily="34" charset="-122"/>
                <a:cs typeface="Lato" pitchFamily="34" charset="-120"/>
              </a:rPr>
              <a:t>`contact`, `month`, `day_of_week`, and `campaign` depend on scoring-time availability.</a:t>
            </a:r>
            <a:endParaRPr lang="en-US" sz="1120" dirty="0"/>
          </a:p>
        </p:txBody>
      </p:sp>
      <p:sp>
        <p:nvSpPr>
          <p:cNvPr id="23" name="Shape 21"/>
          <p:cNvSpPr/>
          <p:nvPr/>
        </p:nvSpPr>
        <p:spPr>
          <a:xfrm>
            <a:off x="594360" y="3520440"/>
            <a:ext cx="4800600" cy="868680"/>
          </a:xfrm>
          <a:prstGeom prst="roundRect">
            <a:avLst>
              <a:gd name="adj" fmla="val 5263"/>
            </a:avLst>
          </a:prstGeom>
          <a:solidFill>
            <a:srgbClr val="F4F8FA"/>
          </a:solidFill>
          <a:ln w="7620">
            <a:solidFill>
              <a:srgbClr val="D7E4EA"/>
            </a:solidFill>
            <a:prstDash val="solid"/>
          </a:ln>
        </p:spPr>
      </p:sp>
      <p:sp>
        <p:nvSpPr>
          <p:cNvPr id="24" name="Shape 22"/>
          <p:cNvSpPr/>
          <p:nvPr/>
        </p:nvSpPr>
        <p:spPr>
          <a:xfrm>
            <a:off x="594360" y="3520440"/>
            <a:ext cx="73152" cy="868680"/>
          </a:xfrm>
          <a:prstGeom prst="rect">
            <a:avLst/>
          </a:prstGeom>
          <a:solidFill>
            <a:srgbClr val="F5A33B"/>
          </a:solidFill>
          <a:ln w="12700">
            <a:solidFill>
              <a:srgbClr val="F5A33B">
                <a:alpha val="0"/>
              </a:srgbClr>
            </a:solidFill>
            <a:prstDash val="solid"/>
          </a:ln>
        </p:spPr>
      </p:sp>
      <p:sp>
        <p:nvSpPr>
          <p:cNvPr id="25" name="Text 23"/>
          <p:cNvSpPr/>
          <p:nvPr/>
        </p:nvSpPr>
        <p:spPr>
          <a:xfrm>
            <a:off x="758952" y="3648456"/>
            <a:ext cx="456285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Alternative models evaluated</a:t>
            </a:r>
            <a:endParaRPr lang="en-US" sz="1250" dirty="0"/>
          </a:p>
        </p:txBody>
      </p:sp>
      <p:sp>
        <p:nvSpPr>
          <p:cNvPr id="26" name="Text 24"/>
          <p:cNvSpPr/>
          <p:nvPr/>
        </p:nvSpPr>
        <p:spPr>
          <a:xfrm>
            <a:off x="758952" y="3959352"/>
            <a:ext cx="4544568" cy="356616"/>
          </a:xfrm>
          <a:prstGeom prst="rect">
            <a:avLst/>
          </a:prstGeom>
          <a:noFill/>
          <a:ln/>
        </p:spPr>
        <p:txBody>
          <a:bodyPr wrap="square" lIns="0" tIns="0" rIns="0" bIns="0" rtlCol="0" anchor="ctr">
            <a:normAutofit/>
          </a:bodyPr>
          <a:lstStyle/>
          <a:p>
            <a:pPr marL="0" indent="0">
              <a:buNone/>
            </a:pPr>
            <a:r>
              <a:rPr lang="en-US" sz="1060" dirty="0">
                <a:solidFill>
                  <a:srgbClr val="152238"/>
                </a:solidFill>
                <a:latin typeface="Lato" pitchFamily="34" charset="0"/>
                <a:ea typeface="Lato" pitchFamily="34" charset="-122"/>
                <a:cs typeface="Lato" pitchFamily="34" charset="-120"/>
              </a:rPr>
              <a:t>Logistic Regression, Random Forest, Extra Trees, Gradient Boosting, class weighting, and Random Oversampling were compared.</a:t>
            </a:r>
            <a:endParaRPr lang="en-US" sz="1060" dirty="0"/>
          </a:p>
        </p:txBody>
      </p:sp>
      <p:sp>
        <p:nvSpPr>
          <p:cNvPr id="27" name="Shape 25"/>
          <p:cNvSpPr/>
          <p:nvPr/>
        </p:nvSpPr>
        <p:spPr>
          <a:xfrm>
            <a:off x="5715000" y="3520440"/>
            <a:ext cx="4800600" cy="868680"/>
          </a:xfrm>
          <a:prstGeom prst="roundRect">
            <a:avLst>
              <a:gd name="adj" fmla="val 5263"/>
            </a:avLst>
          </a:prstGeom>
          <a:solidFill>
            <a:srgbClr val="F4F8FA"/>
          </a:solidFill>
          <a:ln w="7620">
            <a:solidFill>
              <a:srgbClr val="D7E4EA"/>
            </a:solidFill>
            <a:prstDash val="solid"/>
          </a:ln>
        </p:spPr>
      </p:sp>
      <p:sp>
        <p:nvSpPr>
          <p:cNvPr id="28" name="Shape 26"/>
          <p:cNvSpPr/>
          <p:nvPr/>
        </p:nvSpPr>
        <p:spPr>
          <a:xfrm>
            <a:off x="5715000" y="3520440"/>
            <a:ext cx="73152" cy="868680"/>
          </a:xfrm>
          <a:prstGeom prst="rect">
            <a:avLst/>
          </a:prstGeom>
          <a:solidFill>
            <a:srgbClr val="09243D"/>
          </a:solidFill>
          <a:ln w="12700">
            <a:solidFill>
              <a:srgbClr val="09243D">
                <a:alpha val="0"/>
              </a:srgbClr>
            </a:solidFill>
            <a:prstDash val="solid"/>
          </a:ln>
        </p:spPr>
      </p:sp>
      <p:sp>
        <p:nvSpPr>
          <p:cNvPr id="29" name="Text 27"/>
          <p:cNvSpPr/>
          <p:nvPr/>
        </p:nvSpPr>
        <p:spPr>
          <a:xfrm>
            <a:off x="5879592" y="3648456"/>
            <a:ext cx="456285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Potential additional data</a:t>
            </a:r>
            <a:endParaRPr lang="en-US" sz="1250" dirty="0"/>
          </a:p>
        </p:txBody>
      </p:sp>
      <p:sp>
        <p:nvSpPr>
          <p:cNvPr id="30" name="Text 28"/>
          <p:cNvSpPr/>
          <p:nvPr/>
        </p:nvSpPr>
        <p:spPr>
          <a:xfrm>
            <a:off x="5879592" y="3959352"/>
            <a:ext cx="4544568" cy="356616"/>
          </a:xfrm>
          <a:prstGeom prst="rect">
            <a:avLst/>
          </a:prstGeom>
          <a:noFill/>
          <a:ln/>
        </p:spPr>
        <p:txBody>
          <a:bodyPr wrap="square" lIns="0" tIns="0" rIns="0" bIns="0" rtlCol="0" anchor="ctr">
            <a:normAutofit/>
          </a:bodyPr>
          <a:lstStyle/>
          <a:p>
            <a:pPr marL="0" indent="0">
              <a:buNone/>
            </a:pPr>
            <a:r>
              <a:rPr lang="en-US" sz="1080" dirty="0">
                <a:solidFill>
                  <a:srgbClr val="152238"/>
                </a:solidFill>
                <a:latin typeface="Lato" pitchFamily="34" charset="0"/>
                <a:ea typeface="Lato" pitchFamily="34" charset="-122"/>
                <a:cs typeface="Lato" pitchFamily="34" charset="-120"/>
              </a:rPr>
              <a:t>Campaign capacity, actual contact cost, revenue per subscription, deposit amount, and customer profitability / CLV.</a:t>
            </a:r>
            <a:endParaRPr lang="en-US" sz="1080" dirty="0"/>
          </a:p>
        </p:txBody>
      </p:sp>
      <p:sp>
        <p:nvSpPr>
          <p:cNvPr id="31" name="Shape 3">
            <a:extLst>
              <a:ext uri="{FF2B5EF4-FFF2-40B4-BE49-F238E27FC236}">
                <a16:creationId xmlns:a16="http://schemas.microsoft.com/office/drawing/2014/main" id="{9F973D26-EB20-D8A7-BDFC-ADBD8E88A47E}"/>
              </a:ext>
            </a:extLst>
          </p:cNvPr>
          <p:cNvSpPr/>
          <p:nvPr/>
        </p:nvSpPr>
        <p:spPr>
          <a:xfrm>
            <a:off x="292608" y="1051560"/>
            <a:ext cx="1572768" cy="27432"/>
          </a:xfrm>
          <a:prstGeom prst="rect">
            <a:avLst/>
          </a:prstGeom>
          <a:solidFill>
            <a:srgbClr val="F4A340"/>
          </a:solidFill>
          <a:ln w="12700">
            <a:solidFill>
              <a:srgbClr val="F4A340"/>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09243D"/>
          </a:solidFill>
          <a:ln w="12700">
            <a:solidFill>
              <a:srgbClr val="09243D">
                <a:alpha val="0"/>
              </a:srgbClr>
            </a:solidFill>
            <a:prstDash val="solid"/>
          </a:ln>
        </p:spPr>
      </p:sp>
      <p:sp>
        <p:nvSpPr>
          <p:cNvPr id="3" name="Text 1"/>
          <p:cNvSpPr/>
          <p:nvPr/>
        </p:nvSpPr>
        <p:spPr>
          <a:xfrm>
            <a:off x="320040" y="201168"/>
            <a:ext cx="6949440" cy="201168"/>
          </a:xfrm>
          <a:prstGeom prst="rect">
            <a:avLst/>
          </a:prstGeom>
          <a:noFill/>
          <a:ln/>
        </p:spPr>
        <p:txBody>
          <a:bodyPr wrap="square" lIns="0" tIns="0" rIns="0" bIns="0" rtlCol="0" anchor="ctr"/>
          <a:lstStyle/>
          <a:p>
            <a:pPr marL="0" indent="0">
              <a:buNone/>
            </a:pPr>
            <a:r>
              <a:rPr lang="en-US" sz="850" b="1" dirty="0">
                <a:solidFill>
                  <a:srgbClr val="20A7A6"/>
                </a:solidFill>
                <a:latin typeface="Lato" pitchFamily="34" charset="0"/>
                <a:ea typeface="Lato" pitchFamily="34" charset="-122"/>
                <a:cs typeface="Lato" pitchFamily="34" charset="-120"/>
              </a:rPr>
              <a:t>CONCLUSION</a:t>
            </a:r>
            <a:endParaRPr lang="en-US" sz="850" dirty="0"/>
          </a:p>
        </p:txBody>
      </p:sp>
      <p:sp>
        <p:nvSpPr>
          <p:cNvPr id="4" name="Text 2"/>
          <p:cNvSpPr/>
          <p:nvPr/>
        </p:nvSpPr>
        <p:spPr>
          <a:xfrm>
            <a:off x="11338560" y="182880"/>
            <a:ext cx="502920" cy="182880"/>
          </a:xfrm>
          <a:prstGeom prst="rect">
            <a:avLst/>
          </a:prstGeom>
          <a:noFill/>
          <a:ln/>
        </p:spPr>
        <p:txBody>
          <a:bodyPr wrap="square" lIns="0" tIns="0" rIns="0" bIns="0" rtlCol="0" anchor="ctr"/>
          <a:lstStyle/>
          <a:p>
            <a:pPr marL="0" indent="0" algn="r">
              <a:buNone/>
            </a:pPr>
            <a:r>
              <a:rPr lang="en-US" sz="750" dirty="0">
                <a:solidFill>
                  <a:srgbClr val="6B7280"/>
                </a:solidFill>
                <a:latin typeface="Lato" pitchFamily="34" charset="0"/>
                <a:ea typeface="Lato" pitchFamily="34" charset="-122"/>
                <a:cs typeface="Lato" pitchFamily="34" charset="-120"/>
              </a:rPr>
              <a:t>21/23</a:t>
            </a:r>
            <a:endParaRPr lang="en-US" sz="750" dirty="0"/>
          </a:p>
        </p:txBody>
      </p:sp>
      <p:sp>
        <p:nvSpPr>
          <p:cNvPr id="5" name="Text 3"/>
          <p:cNvSpPr/>
          <p:nvPr/>
        </p:nvSpPr>
        <p:spPr>
          <a:xfrm>
            <a:off x="320040" y="566928"/>
            <a:ext cx="5486400" cy="512064"/>
          </a:xfrm>
          <a:prstGeom prst="rect">
            <a:avLst/>
          </a:prstGeom>
          <a:noFill/>
          <a:ln/>
        </p:spPr>
        <p:txBody>
          <a:bodyPr wrap="square" lIns="0" tIns="0" rIns="0" bIns="0" rtlCol="0" anchor="ctr">
            <a:normAutofit/>
          </a:bodyPr>
          <a:lstStyle/>
          <a:p>
            <a:pPr marL="0" indent="0">
              <a:buNone/>
            </a:pPr>
            <a:r>
              <a:rPr lang="en-US" sz="2700" b="1" dirty="0">
                <a:solidFill>
                  <a:srgbClr val="09243D"/>
                </a:solidFill>
                <a:latin typeface="Lato" pitchFamily="34" charset="0"/>
                <a:ea typeface="Lato" pitchFamily="34" charset="-122"/>
                <a:cs typeface="Lato" pitchFamily="34" charset="-120"/>
              </a:rPr>
              <a:t>What We Learned</a:t>
            </a:r>
            <a:endParaRPr lang="en-US" sz="2700" dirty="0"/>
          </a:p>
        </p:txBody>
      </p:sp>
      <p:sp>
        <p:nvSpPr>
          <p:cNvPr id="7" name="Shape 5"/>
          <p:cNvSpPr/>
          <p:nvPr/>
        </p:nvSpPr>
        <p:spPr>
          <a:xfrm>
            <a:off x="594360" y="1234440"/>
            <a:ext cx="3246120" cy="1828800"/>
          </a:xfrm>
          <a:prstGeom prst="roundRect">
            <a:avLst>
              <a:gd name="adj" fmla="val 2500"/>
            </a:avLst>
          </a:prstGeom>
          <a:solidFill>
            <a:srgbClr val="F4F8FA"/>
          </a:solidFill>
          <a:ln w="7620">
            <a:solidFill>
              <a:srgbClr val="D7E4EA"/>
            </a:solidFill>
            <a:prstDash val="solid"/>
          </a:ln>
        </p:spPr>
      </p:sp>
      <p:sp>
        <p:nvSpPr>
          <p:cNvPr id="8" name="Shape 6"/>
          <p:cNvSpPr/>
          <p:nvPr/>
        </p:nvSpPr>
        <p:spPr>
          <a:xfrm>
            <a:off x="594360" y="1234440"/>
            <a:ext cx="73152" cy="1828800"/>
          </a:xfrm>
          <a:prstGeom prst="rect">
            <a:avLst/>
          </a:prstGeom>
          <a:solidFill>
            <a:srgbClr val="20A7A6"/>
          </a:solidFill>
          <a:ln w="12700">
            <a:solidFill>
              <a:srgbClr val="20A7A6">
                <a:alpha val="0"/>
              </a:srgbClr>
            </a:solidFill>
            <a:prstDash val="solid"/>
          </a:ln>
        </p:spPr>
      </p:sp>
      <p:sp>
        <p:nvSpPr>
          <p:cNvPr id="9" name="Text 7"/>
          <p:cNvSpPr/>
          <p:nvPr/>
        </p:nvSpPr>
        <p:spPr>
          <a:xfrm>
            <a:off x="758952" y="1362456"/>
            <a:ext cx="300837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Diagnostic insights</a:t>
            </a:r>
            <a:endParaRPr lang="en-US" sz="1250" dirty="0"/>
          </a:p>
        </p:txBody>
      </p:sp>
      <p:sp>
        <p:nvSpPr>
          <p:cNvPr id="10" name="Text 8"/>
          <p:cNvSpPr/>
          <p:nvPr/>
        </p:nvSpPr>
        <p:spPr>
          <a:xfrm>
            <a:off x="758952" y="1673352"/>
            <a:ext cx="2990088" cy="1316736"/>
          </a:xfrm>
          <a:prstGeom prst="rect">
            <a:avLst/>
          </a:prstGeom>
          <a:noFill/>
          <a:ln/>
        </p:spPr>
        <p:txBody>
          <a:bodyPr wrap="square" lIns="0" tIns="0" rIns="0" bIns="0" rtlCol="0" anchor="ctr">
            <a:normAutofit/>
          </a:bodyPr>
          <a:lstStyle/>
          <a:p>
            <a:pPr marL="0" indent="0">
              <a:buNone/>
            </a:pPr>
            <a:r>
              <a:rPr lang="en-US" sz="1120" dirty="0">
                <a:solidFill>
                  <a:srgbClr val="152238"/>
                </a:solidFill>
                <a:latin typeface="Lato" pitchFamily="34" charset="0"/>
                <a:ea typeface="Lato" pitchFamily="34" charset="-122"/>
                <a:cs typeface="Lato" pitchFamily="34" charset="-120"/>
              </a:rPr>
              <a:t>Previous success is a strong historical signal.</a:t>
            </a:r>
            <a:endParaRPr lang="en-US" sz="1120" dirty="0"/>
          </a:p>
          <a:p>
            <a:pPr marL="0" indent="0">
              <a:buNone/>
            </a:pPr>
            <a:r>
              <a:rPr lang="en-US" sz="1120" dirty="0">
                <a:solidFill>
                  <a:srgbClr val="152238"/>
                </a:solidFill>
                <a:latin typeface="Lato" pitchFamily="34" charset="0"/>
                <a:ea typeface="Lato" pitchFamily="34" charset="-122"/>
                <a:cs typeface="Lato" pitchFamily="34" charset="-120"/>
              </a:rPr>
              <a:t>Repeated contacts need review, not automatic escalation.</a:t>
            </a:r>
            <a:endParaRPr lang="en-US" sz="1120" dirty="0"/>
          </a:p>
          <a:p>
            <a:pPr marL="0" indent="0">
              <a:buNone/>
            </a:pPr>
            <a:r>
              <a:rPr lang="en-US" sz="1120" dirty="0">
                <a:solidFill>
                  <a:srgbClr val="152238"/>
                </a:solidFill>
                <a:latin typeface="Lato" pitchFamily="34" charset="0"/>
                <a:ea typeface="Lato" pitchFamily="34" charset="-122"/>
                <a:cs typeface="Lato" pitchFamily="34" charset="-120"/>
              </a:rPr>
              <a:t>Economic conditions affect interpretation across periods.</a:t>
            </a:r>
            <a:endParaRPr lang="en-US" sz="1120" dirty="0"/>
          </a:p>
        </p:txBody>
      </p:sp>
      <p:sp>
        <p:nvSpPr>
          <p:cNvPr id="11" name="Shape 9"/>
          <p:cNvSpPr/>
          <p:nvPr/>
        </p:nvSpPr>
        <p:spPr>
          <a:xfrm>
            <a:off x="4160520" y="1234440"/>
            <a:ext cx="3246120" cy="1828800"/>
          </a:xfrm>
          <a:prstGeom prst="roundRect">
            <a:avLst>
              <a:gd name="adj" fmla="val 2500"/>
            </a:avLst>
          </a:prstGeom>
          <a:solidFill>
            <a:srgbClr val="F4F8FA"/>
          </a:solidFill>
          <a:ln w="7620">
            <a:solidFill>
              <a:srgbClr val="D7E4EA"/>
            </a:solidFill>
            <a:prstDash val="solid"/>
          </a:ln>
        </p:spPr>
      </p:sp>
      <p:sp>
        <p:nvSpPr>
          <p:cNvPr id="12" name="Shape 10"/>
          <p:cNvSpPr/>
          <p:nvPr/>
        </p:nvSpPr>
        <p:spPr>
          <a:xfrm>
            <a:off x="4160520" y="1234440"/>
            <a:ext cx="73152" cy="1828800"/>
          </a:xfrm>
          <a:prstGeom prst="rect">
            <a:avLst/>
          </a:prstGeom>
          <a:solidFill>
            <a:srgbClr val="F5A33B"/>
          </a:solidFill>
          <a:ln w="12700">
            <a:solidFill>
              <a:srgbClr val="F5A33B">
                <a:alpha val="0"/>
              </a:srgbClr>
            </a:solidFill>
            <a:prstDash val="solid"/>
          </a:ln>
        </p:spPr>
      </p:sp>
      <p:sp>
        <p:nvSpPr>
          <p:cNvPr id="13" name="Text 11"/>
          <p:cNvSpPr/>
          <p:nvPr/>
        </p:nvSpPr>
        <p:spPr>
          <a:xfrm>
            <a:off x="4325112" y="1362456"/>
            <a:ext cx="300837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Predictive solution</a:t>
            </a:r>
            <a:endParaRPr lang="en-US" sz="1250" dirty="0"/>
          </a:p>
        </p:txBody>
      </p:sp>
      <p:sp>
        <p:nvSpPr>
          <p:cNvPr id="14" name="Text 12"/>
          <p:cNvSpPr/>
          <p:nvPr/>
        </p:nvSpPr>
        <p:spPr>
          <a:xfrm>
            <a:off x="4325112" y="1673352"/>
            <a:ext cx="2990088" cy="1316736"/>
          </a:xfrm>
          <a:prstGeom prst="rect">
            <a:avLst/>
          </a:prstGeom>
          <a:noFill/>
          <a:ln/>
        </p:spPr>
        <p:txBody>
          <a:bodyPr wrap="square" lIns="0" tIns="0" rIns="0" bIns="0" rtlCol="0" anchor="ctr">
            <a:normAutofit/>
          </a:bodyPr>
          <a:lstStyle/>
          <a:p>
            <a:pPr marL="0" indent="0">
              <a:buNone/>
            </a:pPr>
            <a:r>
              <a:rPr lang="en-US" sz="1120" dirty="0">
                <a:solidFill>
                  <a:srgbClr val="152238"/>
                </a:solidFill>
                <a:latin typeface="Lato" pitchFamily="34" charset="0"/>
                <a:ea typeface="Lato" pitchFamily="34" charset="-122"/>
                <a:cs typeface="Lato" pitchFamily="34" charset="-120"/>
              </a:rPr>
              <a:t>Base Gradient Boosting + ROS selected.</a:t>
            </a:r>
            <a:endParaRPr lang="en-US" sz="1120" dirty="0"/>
          </a:p>
          <a:p>
            <a:pPr marL="0" indent="0">
              <a:buNone/>
            </a:pPr>
            <a:r>
              <a:rPr lang="en-US" sz="1120" dirty="0">
                <a:solidFill>
                  <a:srgbClr val="152238"/>
                </a:solidFill>
                <a:latin typeface="Lato" pitchFamily="34" charset="0"/>
                <a:ea typeface="Lato" pitchFamily="34" charset="-122"/>
                <a:cs typeface="Lato" pitchFamily="34" charset="-120"/>
              </a:rPr>
              <a:t>Test AP 0.4810; ROC-AUC 0.8140.</a:t>
            </a:r>
            <a:endParaRPr lang="en-US" sz="1120" dirty="0"/>
          </a:p>
          <a:p>
            <a:pPr marL="0" indent="0">
              <a:buNone/>
            </a:pPr>
            <a:r>
              <a:rPr lang="en-US" sz="1120" dirty="0">
                <a:solidFill>
                  <a:srgbClr val="152238"/>
                </a:solidFill>
                <a:latin typeface="Lato" pitchFamily="34" charset="0"/>
                <a:ea typeface="Lato" pitchFamily="34" charset="-122"/>
                <a:cs typeface="Lato" pitchFamily="34" charset="-120"/>
              </a:rPr>
              <a:t>Prediction score supports client ranking.</a:t>
            </a:r>
            <a:endParaRPr lang="en-US" sz="1120" dirty="0"/>
          </a:p>
        </p:txBody>
      </p:sp>
      <p:sp>
        <p:nvSpPr>
          <p:cNvPr id="15" name="Shape 13"/>
          <p:cNvSpPr/>
          <p:nvPr/>
        </p:nvSpPr>
        <p:spPr>
          <a:xfrm>
            <a:off x="7726680" y="1234440"/>
            <a:ext cx="3246120" cy="1828800"/>
          </a:xfrm>
          <a:prstGeom prst="roundRect">
            <a:avLst>
              <a:gd name="adj" fmla="val 2500"/>
            </a:avLst>
          </a:prstGeom>
          <a:solidFill>
            <a:srgbClr val="F4F8FA"/>
          </a:solidFill>
          <a:ln w="7620">
            <a:solidFill>
              <a:srgbClr val="D7E4EA"/>
            </a:solidFill>
            <a:prstDash val="solid"/>
          </a:ln>
        </p:spPr>
      </p:sp>
      <p:sp>
        <p:nvSpPr>
          <p:cNvPr id="16" name="Shape 14"/>
          <p:cNvSpPr/>
          <p:nvPr/>
        </p:nvSpPr>
        <p:spPr>
          <a:xfrm>
            <a:off x="7726680" y="1234440"/>
            <a:ext cx="73152" cy="1828800"/>
          </a:xfrm>
          <a:prstGeom prst="rect">
            <a:avLst/>
          </a:prstGeom>
          <a:solidFill>
            <a:srgbClr val="09243D"/>
          </a:solidFill>
          <a:ln w="12700">
            <a:solidFill>
              <a:srgbClr val="09243D">
                <a:alpha val="0"/>
              </a:srgbClr>
            </a:solidFill>
            <a:prstDash val="solid"/>
          </a:ln>
        </p:spPr>
      </p:sp>
      <p:sp>
        <p:nvSpPr>
          <p:cNvPr id="17" name="Text 15"/>
          <p:cNvSpPr/>
          <p:nvPr/>
        </p:nvSpPr>
        <p:spPr>
          <a:xfrm>
            <a:off x="7891272" y="1362456"/>
            <a:ext cx="300837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Decision implication</a:t>
            </a:r>
            <a:endParaRPr lang="en-US" sz="1250" dirty="0"/>
          </a:p>
        </p:txBody>
      </p:sp>
      <p:sp>
        <p:nvSpPr>
          <p:cNvPr id="18" name="Text 16"/>
          <p:cNvSpPr/>
          <p:nvPr/>
        </p:nvSpPr>
        <p:spPr>
          <a:xfrm>
            <a:off x="7891272" y="1673352"/>
            <a:ext cx="2990088" cy="1316736"/>
          </a:xfrm>
          <a:prstGeom prst="rect">
            <a:avLst/>
          </a:prstGeom>
          <a:noFill/>
          <a:ln/>
        </p:spPr>
        <p:txBody>
          <a:bodyPr wrap="square" lIns="0" tIns="0" rIns="0" bIns="0" rtlCol="0" anchor="ctr">
            <a:normAutofit/>
          </a:bodyPr>
          <a:lstStyle/>
          <a:p>
            <a:pPr marL="0" indent="0">
              <a:buNone/>
            </a:pPr>
            <a:r>
              <a:rPr lang="en-US" sz="1120" dirty="0">
                <a:solidFill>
                  <a:srgbClr val="152238"/>
                </a:solidFill>
                <a:latin typeface="Lato" pitchFamily="34" charset="0"/>
                <a:ea typeface="Lato" pitchFamily="34" charset="-122"/>
                <a:cs typeface="Lato" pitchFamily="34" charset="-120"/>
              </a:rPr>
              <a:t>0.50 prioritizes coverage.</a:t>
            </a:r>
            <a:endParaRPr lang="en-US" sz="1120" dirty="0"/>
          </a:p>
          <a:p>
            <a:pPr marL="0" indent="0">
              <a:buNone/>
            </a:pPr>
            <a:r>
              <a:rPr lang="en-US" sz="1120" dirty="0">
                <a:solidFill>
                  <a:srgbClr val="152238"/>
                </a:solidFill>
                <a:latin typeface="Lato" pitchFamily="34" charset="0"/>
                <a:ea typeface="Lato" pitchFamily="34" charset="-122"/>
                <a:cs typeface="Lato" pitchFamily="34" charset="-120"/>
              </a:rPr>
              <a:t>0.60 improves selectivity.</a:t>
            </a:r>
            <a:endParaRPr lang="en-US" sz="1120" dirty="0"/>
          </a:p>
          <a:p>
            <a:pPr marL="0" indent="0">
              <a:buNone/>
            </a:pPr>
            <a:r>
              <a:rPr lang="en-US" sz="1120" dirty="0">
                <a:solidFill>
                  <a:srgbClr val="152238"/>
                </a:solidFill>
                <a:latin typeface="Lato" pitchFamily="34" charset="0"/>
                <a:ea typeface="Lato" pitchFamily="34" charset="-122"/>
                <a:cs typeface="Lato" pitchFamily="34" charset="-120"/>
              </a:rPr>
              <a:t>Final threshold depends on capacity and business priorities.</a:t>
            </a:r>
            <a:endParaRPr lang="en-US" sz="1120" dirty="0"/>
          </a:p>
        </p:txBody>
      </p:sp>
      <p:sp>
        <p:nvSpPr>
          <p:cNvPr id="19" name="Shape 17"/>
          <p:cNvSpPr/>
          <p:nvPr/>
        </p:nvSpPr>
        <p:spPr>
          <a:xfrm>
            <a:off x="1188720" y="4251960"/>
            <a:ext cx="9326880" cy="777240"/>
          </a:xfrm>
          <a:prstGeom prst="roundRect">
            <a:avLst>
              <a:gd name="adj" fmla="val 5882"/>
            </a:avLst>
          </a:prstGeom>
          <a:solidFill>
            <a:srgbClr val="F4F8FA"/>
          </a:solidFill>
          <a:ln w="7620">
            <a:solidFill>
              <a:srgbClr val="D7E4EA"/>
            </a:solidFill>
            <a:prstDash val="solid"/>
          </a:ln>
        </p:spPr>
      </p:sp>
      <p:sp>
        <p:nvSpPr>
          <p:cNvPr id="20" name="Shape 18"/>
          <p:cNvSpPr/>
          <p:nvPr/>
        </p:nvSpPr>
        <p:spPr>
          <a:xfrm>
            <a:off x="1188720" y="4251960"/>
            <a:ext cx="73152" cy="777240"/>
          </a:xfrm>
          <a:prstGeom prst="rect">
            <a:avLst/>
          </a:prstGeom>
          <a:solidFill>
            <a:srgbClr val="20A7A6"/>
          </a:solidFill>
          <a:ln w="12700">
            <a:solidFill>
              <a:srgbClr val="20A7A6">
                <a:alpha val="0"/>
              </a:srgbClr>
            </a:solidFill>
            <a:prstDash val="solid"/>
          </a:ln>
        </p:spPr>
      </p:sp>
      <p:sp>
        <p:nvSpPr>
          <p:cNvPr id="21" name="Text 19"/>
          <p:cNvSpPr/>
          <p:nvPr/>
        </p:nvSpPr>
        <p:spPr>
          <a:xfrm>
            <a:off x="1353312" y="4379976"/>
            <a:ext cx="908913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Overall conclusion</a:t>
            </a:r>
            <a:endParaRPr lang="en-US" sz="1250" dirty="0"/>
          </a:p>
        </p:txBody>
      </p:sp>
      <p:sp>
        <p:nvSpPr>
          <p:cNvPr id="22" name="Text 20"/>
          <p:cNvSpPr/>
          <p:nvPr/>
        </p:nvSpPr>
        <p:spPr>
          <a:xfrm>
            <a:off x="1353312" y="4690872"/>
            <a:ext cx="9070848" cy="265176"/>
          </a:xfrm>
          <a:prstGeom prst="rect">
            <a:avLst/>
          </a:prstGeom>
          <a:noFill/>
          <a:ln/>
        </p:spPr>
        <p:txBody>
          <a:bodyPr wrap="square" lIns="0" tIns="0" rIns="0" bIns="0" rtlCol="0" anchor="ctr">
            <a:normAutofit fontScale="92500"/>
          </a:bodyPr>
          <a:lstStyle/>
          <a:p>
            <a:pPr marL="0" indent="0">
              <a:buNone/>
            </a:pPr>
            <a:r>
              <a:rPr lang="en-US" sz="1300" dirty="0">
                <a:solidFill>
                  <a:srgbClr val="152238"/>
                </a:solidFill>
                <a:latin typeface="Lato" pitchFamily="34" charset="0"/>
                <a:ea typeface="Lato" pitchFamily="34" charset="-122"/>
                <a:cs typeface="Lato" pitchFamily="34" charset="-120"/>
              </a:rPr>
              <a:t>Combine historical response, campaign context, economic conditions, and prediction score for more focused campaign prioritization.</a:t>
            </a:r>
            <a:endParaRPr lang="en-US" sz="1300" dirty="0"/>
          </a:p>
        </p:txBody>
      </p:sp>
      <p:sp>
        <p:nvSpPr>
          <p:cNvPr id="23" name="Shape 3">
            <a:extLst>
              <a:ext uri="{FF2B5EF4-FFF2-40B4-BE49-F238E27FC236}">
                <a16:creationId xmlns:a16="http://schemas.microsoft.com/office/drawing/2014/main" id="{15BA9BD0-6041-AE33-8D50-7DCFDFC31386}"/>
              </a:ext>
            </a:extLst>
          </p:cNvPr>
          <p:cNvSpPr/>
          <p:nvPr/>
        </p:nvSpPr>
        <p:spPr>
          <a:xfrm>
            <a:off x="292608" y="1051560"/>
            <a:ext cx="1572768" cy="27432"/>
          </a:xfrm>
          <a:prstGeom prst="rect">
            <a:avLst/>
          </a:prstGeom>
          <a:solidFill>
            <a:srgbClr val="F4A340"/>
          </a:solidFill>
          <a:ln w="12700">
            <a:solidFill>
              <a:srgbClr val="F4A340"/>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09243D"/>
          </a:solidFill>
          <a:ln w="12700">
            <a:solidFill>
              <a:srgbClr val="09243D">
                <a:alpha val="0"/>
              </a:srgbClr>
            </a:solidFill>
            <a:prstDash val="solid"/>
          </a:ln>
        </p:spPr>
      </p:sp>
      <p:sp>
        <p:nvSpPr>
          <p:cNvPr id="3" name="Text 1"/>
          <p:cNvSpPr/>
          <p:nvPr/>
        </p:nvSpPr>
        <p:spPr>
          <a:xfrm>
            <a:off x="320040" y="201168"/>
            <a:ext cx="6949440" cy="201168"/>
          </a:xfrm>
          <a:prstGeom prst="rect">
            <a:avLst/>
          </a:prstGeom>
          <a:noFill/>
          <a:ln/>
        </p:spPr>
        <p:txBody>
          <a:bodyPr wrap="square" lIns="0" tIns="0" rIns="0" bIns="0" rtlCol="0" anchor="ctr"/>
          <a:lstStyle/>
          <a:p>
            <a:pPr marL="0" indent="0">
              <a:buNone/>
            </a:pPr>
            <a:r>
              <a:rPr lang="en-US" sz="850" b="1" dirty="0">
                <a:solidFill>
                  <a:srgbClr val="20A7A6"/>
                </a:solidFill>
                <a:latin typeface="Lato" pitchFamily="34" charset="0"/>
                <a:ea typeface="Lato" pitchFamily="34" charset="-122"/>
                <a:cs typeface="Lato" pitchFamily="34" charset="-120"/>
              </a:rPr>
              <a:t>ACTIONABLE RECOMMENDATIONS</a:t>
            </a:r>
            <a:endParaRPr lang="en-US" sz="850" dirty="0"/>
          </a:p>
        </p:txBody>
      </p:sp>
      <p:sp>
        <p:nvSpPr>
          <p:cNvPr id="4" name="Text 2"/>
          <p:cNvSpPr/>
          <p:nvPr/>
        </p:nvSpPr>
        <p:spPr>
          <a:xfrm>
            <a:off x="11338560" y="182880"/>
            <a:ext cx="502920" cy="182880"/>
          </a:xfrm>
          <a:prstGeom prst="rect">
            <a:avLst/>
          </a:prstGeom>
          <a:noFill/>
          <a:ln/>
        </p:spPr>
        <p:txBody>
          <a:bodyPr wrap="square" lIns="0" tIns="0" rIns="0" bIns="0" rtlCol="0" anchor="ctr"/>
          <a:lstStyle/>
          <a:p>
            <a:pPr marL="0" indent="0" algn="r">
              <a:buNone/>
            </a:pPr>
            <a:r>
              <a:rPr lang="en-US" sz="750" dirty="0">
                <a:solidFill>
                  <a:srgbClr val="6B7280"/>
                </a:solidFill>
                <a:latin typeface="Lato" pitchFamily="34" charset="0"/>
                <a:ea typeface="Lato" pitchFamily="34" charset="-122"/>
                <a:cs typeface="Lato" pitchFamily="34" charset="-120"/>
              </a:rPr>
              <a:t>22/23</a:t>
            </a:r>
            <a:endParaRPr lang="en-US" sz="750" dirty="0"/>
          </a:p>
        </p:txBody>
      </p:sp>
      <p:sp>
        <p:nvSpPr>
          <p:cNvPr id="5" name="Text 3"/>
          <p:cNvSpPr/>
          <p:nvPr/>
        </p:nvSpPr>
        <p:spPr>
          <a:xfrm>
            <a:off x="320040" y="566928"/>
            <a:ext cx="9144000" cy="512064"/>
          </a:xfrm>
          <a:prstGeom prst="rect">
            <a:avLst/>
          </a:prstGeom>
          <a:noFill/>
          <a:ln/>
        </p:spPr>
        <p:txBody>
          <a:bodyPr wrap="square" lIns="0" tIns="0" rIns="0" bIns="0" rtlCol="0" anchor="ctr">
            <a:normAutofit/>
          </a:bodyPr>
          <a:lstStyle/>
          <a:p>
            <a:pPr marL="0" indent="0">
              <a:buNone/>
            </a:pPr>
            <a:r>
              <a:rPr lang="en-US" sz="2700" b="1" dirty="0">
                <a:solidFill>
                  <a:srgbClr val="09243D"/>
                </a:solidFill>
                <a:latin typeface="Lato" pitchFamily="34" charset="0"/>
                <a:ea typeface="Lato" pitchFamily="34" charset="-122"/>
                <a:cs typeface="Lato" pitchFamily="34" charset="-120"/>
              </a:rPr>
              <a:t>Turn Scores into Campaign Decisions</a:t>
            </a:r>
            <a:endParaRPr lang="en-US" sz="2700" dirty="0"/>
          </a:p>
        </p:txBody>
      </p:sp>
      <p:sp>
        <p:nvSpPr>
          <p:cNvPr id="7" name="Text 5"/>
          <p:cNvSpPr/>
          <p:nvPr/>
        </p:nvSpPr>
        <p:spPr>
          <a:xfrm>
            <a:off x="640080" y="1271016"/>
            <a:ext cx="320040" cy="274320"/>
          </a:xfrm>
          <a:prstGeom prst="rect">
            <a:avLst/>
          </a:prstGeom>
          <a:noFill/>
          <a:ln/>
        </p:spPr>
        <p:txBody>
          <a:bodyPr wrap="square" lIns="0" tIns="0" rIns="0" bIns="0" rtlCol="0" anchor="ctr"/>
          <a:lstStyle/>
          <a:p>
            <a:pPr marL="0" indent="0">
              <a:buNone/>
            </a:pPr>
            <a:r>
              <a:rPr lang="en-US" sz="1400" b="1" dirty="0">
                <a:solidFill>
                  <a:srgbClr val="20A7A6"/>
                </a:solidFill>
                <a:latin typeface="Lato" pitchFamily="34" charset="0"/>
                <a:ea typeface="Lato" pitchFamily="34" charset="-122"/>
                <a:cs typeface="Lato" pitchFamily="34" charset="-120"/>
              </a:rPr>
              <a:t>1</a:t>
            </a:r>
            <a:endParaRPr lang="en-US" sz="1400" dirty="0"/>
          </a:p>
        </p:txBody>
      </p:sp>
      <p:sp>
        <p:nvSpPr>
          <p:cNvPr id="8" name="Text 6"/>
          <p:cNvSpPr/>
          <p:nvPr/>
        </p:nvSpPr>
        <p:spPr>
          <a:xfrm>
            <a:off x="1078992" y="1234440"/>
            <a:ext cx="2468880" cy="320040"/>
          </a:xfrm>
          <a:prstGeom prst="rect">
            <a:avLst/>
          </a:prstGeom>
          <a:noFill/>
          <a:ln/>
        </p:spPr>
        <p:txBody>
          <a:bodyPr wrap="square" lIns="0" tIns="0" rIns="0" bIns="0" rtlCol="0" anchor="ctr">
            <a:normAutofit/>
          </a:bodyPr>
          <a:lstStyle/>
          <a:p>
            <a:pPr marL="0" indent="0">
              <a:buNone/>
            </a:pPr>
            <a:r>
              <a:rPr lang="en-US" sz="1260" b="1" dirty="0">
                <a:solidFill>
                  <a:srgbClr val="09243D"/>
                </a:solidFill>
                <a:latin typeface="Lato" pitchFamily="34" charset="0"/>
                <a:ea typeface="Lato" pitchFamily="34" charset="-122"/>
                <a:cs typeface="Lato" pitchFamily="34" charset="-120"/>
              </a:rPr>
              <a:t>Rank eligible clients</a:t>
            </a:r>
            <a:endParaRPr lang="en-US" sz="1260" dirty="0"/>
          </a:p>
        </p:txBody>
      </p:sp>
      <p:sp>
        <p:nvSpPr>
          <p:cNvPr id="9" name="Text 7"/>
          <p:cNvSpPr/>
          <p:nvPr/>
        </p:nvSpPr>
        <p:spPr>
          <a:xfrm>
            <a:off x="3657600" y="1234440"/>
            <a:ext cx="3931920" cy="411480"/>
          </a:xfrm>
          <a:prstGeom prst="rect">
            <a:avLst/>
          </a:prstGeom>
          <a:noFill/>
          <a:ln/>
        </p:spPr>
        <p:txBody>
          <a:bodyPr wrap="square" lIns="0" tIns="0" rIns="0" bIns="0" rtlCol="0" anchor="ctr">
            <a:normAutofit/>
          </a:bodyPr>
          <a:lstStyle/>
          <a:p>
            <a:pPr marL="0" indent="0">
              <a:buNone/>
            </a:pPr>
            <a:r>
              <a:rPr lang="en-US" sz="1120" dirty="0">
                <a:solidFill>
                  <a:srgbClr val="152238"/>
                </a:solidFill>
                <a:latin typeface="Lato" pitchFamily="34" charset="0"/>
                <a:ea typeface="Lato" pitchFamily="34" charset="-122"/>
                <a:cs typeface="Lato" pitchFamily="34" charset="-120"/>
              </a:rPr>
              <a:t>Score clients before contact and prioritize highest prediction score within campaign capacity.</a:t>
            </a:r>
            <a:endParaRPr lang="en-US" sz="1120" dirty="0"/>
          </a:p>
        </p:txBody>
      </p:sp>
      <p:sp>
        <p:nvSpPr>
          <p:cNvPr id="10" name="Text 8"/>
          <p:cNvSpPr/>
          <p:nvPr/>
        </p:nvSpPr>
        <p:spPr>
          <a:xfrm>
            <a:off x="640080" y="2093976"/>
            <a:ext cx="320040" cy="274320"/>
          </a:xfrm>
          <a:prstGeom prst="rect">
            <a:avLst/>
          </a:prstGeom>
          <a:noFill/>
          <a:ln/>
        </p:spPr>
        <p:txBody>
          <a:bodyPr wrap="square" lIns="0" tIns="0" rIns="0" bIns="0" rtlCol="0" anchor="ctr"/>
          <a:lstStyle/>
          <a:p>
            <a:pPr marL="0" indent="0">
              <a:buNone/>
            </a:pPr>
            <a:r>
              <a:rPr lang="en-US" sz="1400" b="1" dirty="0">
                <a:solidFill>
                  <a:srgbClr val="20A7A6"/>
                </a:solidFill>
                <a:latin typeface="Lato" pitchFamily="34" charset="0"/>
                <a:ea typeface="Lato" pitchFamily="34" charset="-122"/>
                <a:cs typeface="Lato" pitchFamily="34" charset="-120"/>
              </a:rPr>
              <a:t>2</a:t>
            </a:r>
            <a:endParaRPr lang="en-US" sz="1400" dirty="0"/>
          </a:p>
        </p:txBody>
      </p:sp>
      <p:sp>
        <p:nvSpPr>
          <p:cNvPr id="11" name="Text 9"/>
          <p:cNvSpPr/>
          <p:nvPr/>
        </p:nvSpPr>
        <p:spPr>
          <a:xfrm>
            <a:off x="1078992" y="2057400"/>
            <a:ext cx="2468880" cy="320040"/>
          </a:xfrm>
          <a:prstGeom prst="rect">
            <a:avLst/>
          </a:prstGeom>
          <a:noFill/>
          <a:ln/>
        </p:spPr>
        <p:txBody>
          <a:bodyPr wrap="square" lIns="0" tIns="0" rIns="0" bIns="0" rtlCol="0" anchor="ctr">
            <a:normAutofit/>
          </a:bodyPr>
          <a:lstStyle/>
          <a:p>
            <a:pPr marL="0" indent="0">
              <a:buNone/>
            </a:pPr>
            <a:r>
              <a:rPr lang="en-US" sz="1260" b="1" dirty="0">
                <a:solidFill>
                  <a:srgbClr val="09243D"/>
                </a:solidFill>
                <a:latin typeface="Lato" pitchFamily="34" charset="0"/>
                <a:ea typeface="Lato" pitchFamily="34" charset="-122"/>
                <a:cs typeface="Lato" pitchFamily="34" charset="-120"/>
              </a:rPr>
              <a:t>Use historical response as context</a:t>
            </a:r>
            <a:endParaRPr lang="en-US" sz="1260" dirty="0"/>
          </a:p>
        </p:txBody>
      </p:sp>
      <p:sp>
        <p:nvSpPr>
          <p:cNvPr id="12" name="Text 10"/>
          <p:cNvSpPr/>
          <p:nvPr/>
        </p:nvSpPr>
        <p:spPr>
          <a:xfrm>
            <a:off x="3657600" y="2057400"/>
            <a:ext cx="3931920" cy="411480"/>
          </a:xfrm>
          <a:prstGeom prst="rect">
            <a:avLst/>
          </a:prstGeom>
          <a:noFill/>
          <a:ln/>
        </p:spPr>
        <p:txBody>
          <a:bodyPr wrap="square" lIns="0" tIns="0" rIns="0" bIns="0" rtlCol="0" anchor="ctr">
            <a:normAutofit/>
          </a:bodyPr>
          <a:lstStyle/>
          <a:p>
            <a:pPr marL="0" indent="0">
              <a:buNone/>
            </a:pPr>
            <a:r>
              <a:rPr lang="en-US" sz="1120" dirty="0">
                <a:solidFill>
                  <a:srgbClr val="152238"/>
                </a:solidFill>
                <a:latin typeface="Lato" pitchFamily="34" charset="0"/>
                <a:ea typeface="Lato" pitchFamily="34" charset="-122"/>
                <a:cs typeface="Lato" pitchFamily="34" charset="-120"/>
              </a:rPr>
              <a:t>Use `poutcome` and contact history for segmentation support, not standalone rule.</a:t>
            </a:r>
            <a:endParaRPr lang="en-US" sz="1120" dirty="0"/>
          </a:p>
        </p:txBody>
      </p:sp>
      <p:sp>
        <p:nvSpPr>
          <p:cNvPr id="13" name="Text 11"/>
          <p:cNvSpPr/>
          <p:nvPr/>
        </p:nvSpPr>
        <p:spPr>
          <a:xfrm>
            <a:off x="640080" y="2916936"/>
            <a:ext cx="320040" cy="274320"/>
          </a:xfrm>
          <a:prstGeom prst="rect">
            <a:avLst/>
          </a:prstGeom>
          <a:noFill/>
          <a:ln/>
        </p:spPr>
        <p:txBody>
          <a:bodyPr wrap="square" lIns="0" tIns="0" rIns="0" bIns="0" rtlCol="0" anchor="ctr"/>
          <a:lstStyle/>
          <a:p>
            <a:pPr marL="0" indent="0">
              <a:buNone/>
            </a:pPr>
            <a:r>
              <a:rPr lang="en-US" sz="1400" b="1" dirty="0">
                <a:solidFill>
                  <a:srgbClr val="20A7A6"/>
                </a:solidFill>
                <a:latin typeface="Lato" pitchFamily="34" charset="0"/>
                <a:ea typeface="Lato" pitchFamily="34" charset="-122"/>
                <a:cs typeface="Lato" pitchFamily="34" charset="-120"/>
              </a:rPr>
              <a:t>3</a:t>
            </a:r>
            <a:endParaRPr lang="en-US" sz="1400" dirty="0"/>
          </a:p>
        </p:txBody>
      </p:sp>
      <p:sp>
        <p:nvSpPr>
          <p:cNvPr id="14" name="Text 12"/>
          <p:cNvSpPr/>
          <p:nvPr/>
        </p:nvSpPr>
        <p:spPr>
          <a:xfrm>
            <a:off x="1078992" y="2880360"/>
            <a:ext cx="2468880" cy="320040"/>
          </a:xfrm>
          <a:prstGeom prst="rect">
            <a:avLst/>
          </a:prstGeom>
          <a:noFill/>
          <a:ln/>
        </p:spPr>
        <p:txBody>
          <a:bodyPr wrap="square" lIns="0" tIns="0" rIns="0" bIns="0" rtlCol="0" anchor="ctr">
            <a:normAutofit/>
          </a:bodyPr>
          <a:lstStyle/>
          <a:p>
            <a:pPr marL="0" indent="0">
              <a:buNone/>
            </a:pPr>
            <a:r>
              <a:rPr lang="en-US" sz="1260" b="1" dirty="0">
                <a:solidFill>
                  <a:srgbClr val="09243D"/>
                </a:solidFill>
                <a:latin typeface="Lato" pitchFamily="34" charset="0"/>
                <a:ea typeface="Lato" pitchFamily="34" charset="-122"/>
                <a:cs typeface="Lato" pitchFamily="34" charset="-120"/>
              </a:rPr>
              <a:t>Review repeated contacts</a:t>
            </a:r>
            <a:endParaRPr lang="en-US" sz="1260" dirty="0"/>
          </a:p>
        </p:txBody>
      </p:sp>
      <p:sp>
        <p:nvSpPr>
          <p:cNvPr id="15" name="Text 13"/>
          <p:cNvSpPr/>
          <p:nvPr/>
        </p:nvSpPr>
        <p:spPr>
          <a:xfrm>
            <a:off x="3657600" y="2880360"/>
            <a:ext cx="3931920" cy="411480"/>
          </a:xfrm>
          <a:prstGeom prst="rect">
            <a:avLst/>
          </a:prstGeom>
          <a:noFill/>
          <a:ln/>
        </p:spPr>
        <p:txBody>
          <a:bodyPr wrap="square" lIns="0" tIns="0" rIns="0" bIns="0" rtlCol="0" anchor="ctr">
            <a:normAutofit/>
          </a:bodyPr>
          <a:lstStyle/>
          <a:p>
            <a:pPr marL="0" indent="0">
              <a:buNone/>
            </a:pPr>
            <a:r>
              <a:rPr lang="en-US" sz="1120" dirty="0">
                <a:solidFill>
                  <a:srgbClr val="152238"/>
                </a:solidFill>
                <a:latin typeface="Lato" pitchFamily="34" charset="0"/>
                <a:ea typeface="Lato" pitchFamily="34" charset="-122"/>
                <a:cs typeface="Lato" pitchFamily="34" charset="-120"/>
              </a:rPr>
              <a:t>Flag high-contact-count clients and review score before additional attempts.</a:t>
            </a:r>
            <a:endParaRPr lang="en-US" sz="1120" dirty="0"/>
          </a:p>
        </p:txBody>
      </p:sp>
      <p:sp>
        <p:nvSpPr>
          <p:cNvPr id="16" name="Text 14"/>
          <p:cNvSpPr/>
          <p:nvPr/>
        </p:nvSpPr>
        <p:spPr>
          <a:xfrm>
            <a:off x="640080" y="3739896"/>
            <a:ext cx="320040" cy="274320"/>
          </a:xfrm>
          <a:prstGeom prst="rect">
            <a:avLst/>
          </a:prstGeom>
          <a:noFill/>
          <a:ln/>
        </p:spPr>
        <p:txBody>
          <a:bodyPr wrap="square" lIns="0" tIns="0" rIns="0" bIns="0" rtlCol="0" anchor="ctr"/>
          <a:lstStyle/>
          <a:p>
            <a:pPr marL="0" indent="0">
              <a:buNone/>
            </a:pPr>
            <a:r>
              <a:rPr lang="en-US" sz="1400" b="1" dirty="0">
                <a:solidFill>
                  <a:srgbClr val="20A7A6"/>
                </a:solidFill>
                <a:latin typeface="Lato" pitchFamily="34" charset="0"/>
                <a:ea typeface="Lato" pitchFamily="34" charset="-122"/>
                <a:cs typeface="Lato" pitchFamily="34" charset="-120"/>
              </a:rPr>
              <a:t>4</a:t>
            </a:r>
            <a:endParaRPr lang="en-US" sz="1400" dirty="0"/>
          </a:p>
        </p:txBody>
      </p:sp>
      <p:sp>
        <p:nvSpPr>
          <p:cNvPr id="17" name="Text 15"/>
          <p:cNvSpPr/>
          <p:nvPr/>
        </p:nvSpPr>
        <p:spPr>
          <a:xfrm>
            <a:off x="1078992" y="3703320"/>
            <a:ext cx="2468880" cy="320040"/>
          </a:xfrm>
          <a:prstGeom prst="rect">
            <a:avLst/>
          </a:prstGeom>
          <a:noFill/>
          <a:ln/>
        </p:spPr>
        <p:txBody>
          <a:bodyPr wrap="square" lIns="0" tIns="0" rIns="0" bIns="0" rtlCol="0" anchor="ctr">
            <a:normAutofit/>
          </a:bodyPr>
          <a:lstStyle/>
          <a:p>
            <a:pPr marL="0" indent="0">
              <a:buNone/>
            </a:pPr>
            <a:r>
              <a:rPr lang="en-US" sz="1260" b="1" dirty="0">
                <a:solidFill>
                  <a:srgbClr val="09243D"/>
                </a:solidFill>
                <a:latin typeface="Lato" pitchFamily="34" charset="0"/>
                <a:ea typeface="Lato" pitchFamily="34" charset="-122"/>
                <a:cs typeface="Lato" pitchFamily="34" charset="-120"/>
              </a:rPr>
              <a:t>Monitor economic context</a:t>
            </a:r>
            <a:endParaRPr lang="en-US" sz="1260" dirty="0"/>
          </a:p>
        </p:txBody>
      </p:sp>
      <p:sp>
        <p:nvSpPr>
          <p:cNvPr id="18" name="Text 16"/>
          <p:cNvSpPr/>
          <p:nvPr/>
        </p:nvSpPr>
        <p:spPr>
          <a:xfrm>
            <a:off x="3657600" y="3703320"/>
            <a:ext cx="3931920" cy="411480"/>
          </a:xfrm>
          <a:prstGeom prst="rect">
            <a:avLst/>
          </a:prstGeom>
          <a:noFill/>
          <a:ln/>
        </p:spPr>
        <p:txBody>
          <a:bodyPr wrap="square" lIns="0" tIns="0" rIns="0" bIns="0" rtlCol="0" anchor="ctr">
            <a:normAutofit/>
          </a:bodyPr>
          <a:lstStyle/>
          <a:p>
            <a:pPr marL="0" indent="0">
              <a:buNone/>
            </a:pPr>
            <a:r>
              <a:rPr lang="en-US" sz="1120" dirty="0">
                <a:solidFill>
                  <a:srgbClr val="152238"/>
                </a:solidFill>
                <a:latin typeface="Lato" pitchFamily="34" charset="0"/>
                <a:ea typeface="Lato" pitchFamily="34" charset="-122"/>
                <a:cs typeface="Lato" pitchFamily="34" charset="-120"/>
              </a:rPr>
              <a:t>Track economic feature distribution and model performance across campaign periods.</a:t>
            </a:r>
            <a:endParaRPr lang="en-US" sz="1120" dirty="0"/>
          </a:p>
        </p:txBody>
      </p:sp>
      <p:sp>
        <p:nvSpPr>
          <p:cNvPr id="19" name="Shape 17"/>
          <p:cNvSpPr/>
          <p:nvPr/>
        </p:nvSpPr>
        <p:spPr>
          <a:xfrm>
            <a:off x="8001000" y="1143000"/>
            <a:ext cx="2514600" cy="1188720"/>
          </a:xfrm>
          <a:prstGeom prst="roundRect">
            <a:avLst>
              <a:gd name="adj" fmla="val 3846"/>
            </a:avLst>
          </a:prstGeom>
          <a:solidFill>
            <a:srgbClr val="F4F8FA"/>
          </a:solidFill>
          <a:ln w="7620">
            <a:solidFill>
              <a:srgbClr val="D7E4EA"/>
            </a:solidFill>
            <a:prstDash val="solid"/>
          </a:ln>
        </p:spPr>
      </p:sp>
      <p:sp>
        <p:nvSpPr>
          <p:cNvPr id="20" name="Shape 18"/>
          <p:cNvSpPr/>
          <p:nvPr/>
        </p:nvSpPr>
        <p:spPr>
          <a:xfrm>
            <a:off x="8001000" y="1143000"/>
            <a:ext cx="73152" cy="1188720"/>
          </a:xfrm>
          <a:prstGeom prst="rect">
            <a:avLst/>
          </a:prstGeom>
          <a:solidFill>
            <a:srgbClr val="20A7A6"/>
          </a:solidFill>
          <a:ln w="12700">
            <a:solidFill>
              <a:srgbClr val="20A7A6">
                <a:alpha val="0"/>
              </a:srgbClr>
            </a:solidFill>
            <a:prstDash val="solid"/>
          </a:ln>
        </p:spPr>
      </p:sp>
      <p:sp>
        <p:nvSpPr>
          <p:cNvPr id="21" name="Text 19"/>
          <p:cNvSpPr/>
          <p:nvPr/>
        </p:nvSpPr>
        <p:spPr>
          <a:xfrm>
            <a:off x="8165592" y="1271016"/>
            <a:ext cx="227685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Coverage-oriented</a:t>
            </a:r>
            <a:endParaRPr lang="en-US" sz="1250" dirty="0"/>
          </a:p>
        </p:txBody>
      </p:sp>
      <p:sp>
        <p:nvSpPr>
          <p:cNvPr id="22" name="Text 20"/>
          <p:cNvSpPr/>
          <p:nvPr/>
        </p:nvSpPr>
        <p:spPr>
          <a:xfrm>
            <a:off x="8165592" y="1581912"/>
            <a:ext cx="2258568" cy="676656"/>
          </a:xfrm>
          <a:prstGeom prst="rect">
            <a:avLst/>
          </a:prstGeom>
          <a:noFill/>
          <a:ln/>
        </p:spPr>
        <p:txBody>
          <a:bodyPr wrap="square" lIns="0" tIns="0" rIns="0" bIns="0" rtlCol="0" anchor="ctr">
            <a:normAutofit/>
          </a:bodyPr>
          <a:lstStyle/>
          <a:p>
            <a:pPr marL="0" indent="0">
              <a:buNone/>
            </a:pPr>
            <a:r>
              <a:rPr lang="en-US" sz="1150" dirty="0">
                <a:solidFill>
                  <a:srgbClr val="152238"/>
                </a:solidFill>
                <a:latin typeface="Lato" pitchFamily="34" charset="0"/>
                <a:ea typeface="Lato" pitchFamily="34" charset="-122"/>
                <a:cs typeface="Lato" pitchFamily="34" charset="-120"/>
              </a:rPr>
              <a:t>Threshold 0.50 • 1,606 clients</a:t>
            </a:r>
            <a:endParaRPr lang="en-US" sz="1150" dirty="0"/>
          </a:p>
          <a:p>
            <a:pPr marL="0" indent="0">
              <a:buNone/>
            </a:pPr>
            <a:r>
              <a:rPr lang="en-US" sz="1150" dirty="0">
                <a:solidFill>
                  <a:srgbClr val="152238"/>
                </a:solidFill>
                <a:latin typeface="Lato" pitchFamily="34" charset="0"/>
                <a:ea typeface="Lato" pitchFamily="34" charset="-122"/>
                <a:cs typeface="Lato" pitchFamily="34" charset="-120"/>
              </a:rPr>
              <a:t>Use when campaign capacity is larger.</a:t>
            </a:r>
            <a:endParaRPr lang="en-US" sz="1150" dirty="0"/>
          </a:p>
        </p:txBody>
      </p:sp>
      <p:sp>
        <p:nvSpPr>
          <p:cNvPr id="23" name="Shape 21"/>
          <p:cNvSpPr/>
          <p:nvPr/>
        </p:nvSpPr>
        <p:spPr>
          <a:xfrm>
            <a:off x="8001000" y="2743200"/>
            <a:ext cx="2514600" cy="1188720"/>
          </a:xfrm>
          <a:prstGeom prst="roundRect">
            <a:avLst>
              <a:gd name="adj" fmla="val 3846"/>
            </a:avLst>
          </a:prstGeom>
          <a:solidFill>
            <a:srgbClr val="F4F8FA"/>
          </a:solidFill>
          <a:ln w="7620">
            <a:solidFill>
              <a:srgbClr val="D7E4EA"/>
            </a:solidFill>
            <a:prstDash val="solid"/>
          </a:ln>
        </p:spPr>
      </p:sp>
      <p:sp>
        <p:nvSpPr>
          <p:cNvPr id="24" name="Shape 22"/>
          <p:cNvSpPr/>
          <p:nvPr/>
        </p:nvSpPr>
        <p:spPr>
          <a:xfrm>
            <a:off x="8001000" y="2743200"/>
            <a:ext cx="73152" cy="1188720"/>
          </a:xfrm>
          <a:prstGeom prst="rect">
            <a:avLst/>
          </a:prstGeom>
          <a:solidFill>
            <a:srgbClr val="F5A33B"/>
          </a:solidFill>
          <a:ln w="12700">
            <a:solidFill>
              <a:srgbClr val="F5A33B">
                <a:alpha val="0"/>
              </a:srgbClr>
            </a:solidFill>
            <a:prstDash val="solid"/>
          </a:ln>
        </p:spPr>
      </p:sp>
      <p:sp>
        <p:nvSpPr>
          <p:cNvPr id="25" name="Text 23"/>
          <p:cNvSpPr/>
          <p:nvPr/>
        </p:nvSpPr>
        <p:spPr>
          <a:xfrm>
            <a:off x="8165592" y="2871216"/>
            <a:ext cx="227685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Efficiency-oriented</a:t>
            </a:r>
            <a:endParaRPr lang="en-US" sz="1250" dirty="0"/>
          </a:p>
        </p:txBody>
      </p:sp>
      <p:sp>
        <p:nvSpPr>
          <p:cNvPr id="26" name="Text 24"/>
          <p:cNvSpPr/>
          <p:nvPr/>
        </p:nvSpPr>
        <p:spPr>
          <a:xfrm>
            <a:off x="8165592" y="3182112"/>
            <a:ext cx="2258568" cy="676656"/>
          </a:xfrm>
          <a:prstGeom prst="rect">
            <a:avLst/>
          </a:prstGeom>
          <a:noFill/>
          <a:ln/>
        </p:spPr>
        <p:txBody>
          <a:bodyPr wrap="square" lIns="0" tIns="0" rIns="0" bIns="0" rtlCol="0" anchor="ctr">
            <a:normAutofit/>
          </a:bodyPr>
          <a:lstStyle/>
          <a:p>
            <a:pPr marL="0" indent="0">
              <a:buNone/>
            </a:pPr>
            <a:r>
              <a:rPr lang="en-US" sz="1150" dirty="0">
                <a:solidFill>
                  <a:srgbClr val="152238"/>
                </a:solidFill>
                <a:latin typeface="Lato" pitchFamily="34" charset="0"/>
                <a:ea typeface="Lato" pitchFamily="34" charset="-122"/>
                <a:cs typeface="Lato" pitchFamily="34" charset="-120"/>
              </a:rPr>
              <a:t>Threshold 0.60 • 1,301 clients</a:t>
            </a:r>
            <a:endParaRPr lang="en-US" sz="1150" dirty="0"/>
          </a:p>
          <a:p>
            <a:pPr marL="0" indent="0">
              <a:buNone/>
            </a:pPr>
            <a:r>
              <a:rPr lang="en-US" sz="1150" dirty="0">
                <a:solidFill>
                  <a:srgbClr val="152238"/>
                </a:solidFill>
                <a:latin typeface="Lato" pitchFamily="34" charset="0"/>
                <a:ea typeface="Lato" pitchFamily="34" charset="-122"/>
                <a:cs typeface="Lato" pitchFamily="34" charset="-120"/>
              </a:rPr>
              <a:t>Use when campaign capacity is tighter.</a:t>
            </a:r>
            <a:endParaRPr lang="en-US" sz="1150" dirty="0"/>
          </a:p>
        </p:txBody>
      </p:sp>
      <p:sp>
        <p:nvSpPr>
          <p:cNvPr id="27" name="Shape 25"/>
          <p:cNvSpPr/>
          <p:nvPr/>
        </p:nvSpPr>
        <p:spPr>
          <a:xfrm>
            <a:off x="1188720" y="5166360"/>
            <a:ext cx="9326880" cy="548640"/>
          </a:xfrm>
          <a:prstGeom prst="roundRect">
            <a:avLst>
              <a:gd name="adj" fmla="val 9091"/>
            </a:avLst>
          </a:prstGeom>
          <a:solidFill>
            <a:srgbClr val="F4F8FA"/>
          </a:solidFill>
          <a:ln w="7620">
            <a:solidFill>
              <a:srgbClr val="D7E4EA"/>
            </a:solidFill>
            <a:prstDash val="solid"/>
          </a:ln>
        </p:spPr>
      </p:sp>
      <p:sp>
        <p:nvSpPr>
          <p:cNvPr id="28" name="Shape 26"/>
          <p:cNvSpPr/>
          <p:nvPr/>
        </p:nvSpPr>
        <p:spPr>
          <a:xfrm>
            <a:off x="1188720" y="5176634"/>
            <a:ext cx="73152" cy="502920"/>
          </a:xfrm>
          <a:prstGeom prst="rect">
            <a:avLst/>
          </a:prstGeom>
          <a:solidFill>
            <a:srgbClr val="09243D"/>
          </a:solidFill>
          <a:ln w="12700">
            <a:solidFill>
              <a:srgbClr val="09243D">
                <a:alpha val="0"/>
              </a:srgbClr>
            </a:solidFill>
            <a:prstDash val="solid"/>
          </a:ln>
        </p:spPr>
      </p:sp>
      <p:sp>
        <p:nvSpPr>
          <p:cNvPr id="29" name="Text 27"/>
          <p:cNvSpPr/>
          <p:nvPr/>
        </p:nvSpPr>
        <p:spPr>
          <a:xfrm>
            <a:off x="1353312" y="5294376"/>
            <a:ext cx="9089136" cy="228600"/>
          </a:xfrm>
          <a:prstGeom prst="rect">
            <a:avLst/>
          </a:prstGeom>
          <a:noFill/>
          <a:ln/>
        </p:spPr>
        <p:txBody>
          <a:bodyPr wrap="square" lIns="0" tIns="0" rIns="0" bIns="0" rtlCol="0" anchor="ctr">
            <a:normAutofit/>
          </a:bodyPr>
          <a:lstStyle/>
          <a:p>
            <a:pPr marL="0" indent="0">
              <a:buNone/>
            </a:pPr>
            <a:r>
              <a:rPr lang="en-US" sz="1250" b="1" dirty="0">
                <a:solidFill>
                  <a:srgbClr val="09243D"/>
                </a:solidFill>
                <a:latin typeface="Lato" pitchFamily="34" charset="0"/>
                <a:ea typeface="Lato" pitchFamily="34" charset="-122"/>
                <a:cs typeface="Lato" pitchFamily="34" charset="-120"/>
              </a:rPr>
              <a:t>Final threshold</a:t>
            </a:r>
            <a:endParaRPr lang="en-US" sz="1250" dirty="0"/>
          </a:p>
        </p:txBody>
      </p:sp>
      <p:sp>
        <p:nvSpPr>
          <p:cNvPr id="30" name="Text 28"/>
          <p:cNvSpPr/>
          <p:nvPr/>
        </p:nvSpPr>
        <p:spPr>
          <a:xfrm>
            <a:off x="1353312" y="5605272"/>
            <a:ext cx="9070848" cy="0"/>
          </a:xfrm>
          <a:prstGeom prst="rect">
            <a:avLst/>
          </a:prstGeom>
          <a:noFill/>
          <a:ln/>
        </p:spPr>
        <p:txBody>
          <a:bodyPr wrap="square" lIns="0" tIns="0" rIns="0" bIns="0" rtlCol="0" anchor="ctr">
            <a:normAutofit fontScale="25000" lnSpcReduction="20000"/>
          </a:bodyPr>
          <a:lstStyle/>
          <a:p>
            <a:pPr marL="0" indent="0">
              <a:buNone/>
            </a:pPr>
            <a:r>
              <a:rPr lang="en-US" sz="1280" dirty="0">
                <a:solidFill>
                  <a:srgbClr val="152238"/>
                </a:solidFill>
                <a:latin typeface="Lato" pitchFamily="34" charset="0"/>
                <a:ea typeface="Lato" pitchFamily="34" charset="-122"/>
                <a:cs typeface="Lato" pitchFamily="34" charset="-120"/>
              </a:rPr>
              <a:t>Reflect actual campaign capacity, eligibility rules, observed performance, and business priorities.</a:t>
            </a:r>
            <a:endParaRPr lang="en-US" sz="1280" dirty="0"/>
          </a:p>
        </p:txBody>
      </p:sp>
      <p:sp>
        <p:nvSpPr>
          <p:cNvPr id="31" name="Shape 3">
            <a:extLst>
              <a:ext uri="{FF2B5EF4-FFF2-40B4-BE49-F238E27FC236}">
                <a16:creationId xmlns:a16="http://schemas.microsoft.com/office/drawing/2014/main" id="{1755DDF8-8946-AE1F-87B7-3104B49CFFA2}"/>
              </a:ext>
            </a:extLst>
          </p:cNvPr>
          <p:cNvSpPr/>
          <p:nvPr/>
        </p:nvSpPr>
        <p:spPr>
          <a:xfrm>
            <a:off x="292608" y="1051560"/>
            <a:ext cx="1572768" cy="27432"/>
          </a:xfrm>
          <a:prstGeom prst="rect">
            <a:avLst/>
          </a:prstGeom>
          <a:solidFill>
            <a:srgbClr val="F4A340"/>
          </a:solidFill>
          <a:ln w="12700">
            <a:solidFill>
              <a:srgbClr val="F4A340"/>
            </a:solidFill>
            <a:prstDash val="soli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384280" y="182880"/>
            <a:ext cx="457200" cy="182880"/>
          </a:xfrm>
          <a:prstGeom prst="rect">
            <a:avLst/>
          </a:prstGeom>
          <a:noFill/>
          <a:ln/>
        </p:spPr>
        <p:txBody>
          <a:bodyPr wrap="square" lIns="0" tIns="0" rIns="0" bIns="0" rtlCol="0" anchor="ctr"/>
          <a:lstStyle/>
          <a:p>
            <a:pPr marL="0" indent="0" algn="r">
              <a:buNone/>
            </a:pPr>
            <a:r>
              <a:rPr lang="en-US" sz="750" dirty="0">
                <a:solidFill>
                  <a:srgbClr val="6B7280"/>
                </a:solidFill>
                <a:latin typeface="Lato" pitchFamily="34" charset="0"/>
                <a:ea typeface="Lato" pitchFamily="34" charset="-122"/>
                <a:cs typeface="Lato" pitchFamily="34" charset="-120"/>
              </a:rPr>
              <a:t>23/23</a:t>
            </a:r>
            <a:endParaRPr lang="en-US" sz="750" dirty="0"/>
          </a:p>
        </p:txBody>
      </p:sp>
      <p:sp>
        <p:nvSpPr>
          <p:cNvPr id="3" name="Text 1"/>
          <p:cNvSpPr/>
          <p:nvPr/>
        </p:nvSpPr>
        <p:spPr>
          <a:xfrm>
            <a:off x="320040" y="502920"/>
            <a:ext cx="2743200" cy="228600"/>
          </a:xfrm>
          <a:prstGeom prst="rect">
            <a:avLst/>
          </a:prstGeom>
          <a:noFill/>
          <a:ln/>
        </p:spPr>
        <p:txBody>
          <a:bodyPr wrap="square" lIns="0" tIns="0" rIns="0" bIns="0" rtlCol="0" anchor="ctr"/>
          <a:lstStyle/>
          <a:p>
            <a:pPr marL="0" indent="0">
              <a:buNone/>
            </a:pPr>
            <a:r>
              <a:rPr lang="en-US" sz="900" b="1" dirty="0">
                <a:solidFill>
                  <a:srgbClr val="20A7A6"/>
                </a:solidFill>
                <a:latin typeface="Lato" pitchFamily="34" charset="0"/>
                <a:ea typeface="Lato" pitchFamily="34" charset="-122"/>
                <a:cs typeface="Lato" pitchFamily="34" charset="-120"/>
              </a:rPr>
              <a:t>CLOSING</a:t>
            </a:r>
            <a:endParaRPr lang="en-US" sz="900" dirty="0"/>
          </a:p>
        </p:txBody>
      </p:sp>
      <p:sp>
        <p:nvSpPr>
          <p:cNvPr id="4" name="Text 2"/>
          <p:cNvSpPr/>
          <p:nvPr/>
        </p:nvSpPr>
        <p:spPr>
          <a:xfrm>
            <a:off x="320040" y="1143000"/>
            <a:ext cx="4389120" cy="594360"/>
          </a:xfrm>
          <a:prstGeom prst="rect">
            <a:avLst/>
          </a:prstGeom>
          <a:noFill/>
          <a:ln/>
        </p:spPr>
        <p:txBody>
          <a:bodyPr wrap="square" lIns="0" tIns="0" rIns="0" bIns="0" rtlCol="0" anchor="ctr"/>
          <a:lstStyle/>
          <a:p>
            <a:pPr marL="0" indent="0">
              <a:buNone/>
            </a:pPr>
            <a:r>
              <a:rPr lang="en-US" sz="3100" b="1" dirty="0">
                <a:solidFill>
                  <a:srgbClr val="09243D"/>
                </a:solidFill>
                <a:latin typeface="Lato" pitchFamily="34" charset="0"/>
                <a:ea typeface="Lato" pitchFamily="34" charset="-122"/>
                <a:cs typeface="Lato" pitchFamily="34" charset="-120"/>
              </a:rPr>
              <a:t>Thank You</a:t>
            </a:r>
            <a:endParaRPr lang="en-US" sz="3100" dirty="0"/>
          </a:p>
        </p:txBody>
      </p:sp>
      <p:sp>
        <p:nvSpPr>
          <p:cNvPr id="5" name="Shape 3"/>
          <p:cNvSpPr/>
          <p:nvPr/>
        </p:nvSpPr>
        <p:spPr>
          <a:xfrm>
            <a:off x="320040" y="1874520"/>
            <a:ext cx="1371600" cy="45720"/>
          </a:xfrm>
          <a:prstGeom prst="rect">
            <a:avLst/>
          </a:prstGeom>
          <a:solidFill>
            <a:srgbClr val="F5A33B"/>
          </a:solidFill>
          <a:ln w="12700">
            <a:solidFill>
              <a:srgbClr val="F5A33B">
                <a:alpha val="0"/>
              </a:srgbClr>
            </a:solidFill>
            <a:prstDash val="solid"/>
          </a:ln>
        </p:spPr>
      </p:sp>
      <p:sp>
        <p:nvSpPr>
          <p:cNvPr id="6" name="Text 4"/>
          <p:cNvSpPr/>
          <p:nvPr/>
        </p:nvSpPr>
        <p:spPr>
          <a:xfrm>
            <a:off x="320040" y="2468880"/>
            <a:ext cx="3657600" cy="384048"/>
          </a:xfrm>
          <a:prstGeom prst="rect">
            <a:avLst/>
          </a:prstGeom>
          <a:noFill/>
          <a:ln/>
        </p:spPr>
        <p:txBody>
          <a:bodyPr wrap="square" lIns="0" tIns="0" rIns="0" bIns="0" rtlCol="0" anchor="ctr"/>
          <a:lstStyle/>
          <a:p>
            <a:pPr marL="0" indent="0">
              <a:buNone/>
            </a:pPr>
            <a:r>
              <a:rPr lang="en-US" sz="1800" dirty="0">
                <a:solidFill>
                  <a:srgbClr val="152238"/>
                </a:solidFill>
                <a:latin typeface="Lato" pitchFamily="34" charset="0"/>
                <a:ea typeface="Lato" pitchFamily="34" charset="-122"/>
                <a:cs typeface="Lato" pitchFamily="34" charset="-120"/>
              </a:rPr>
              <a:t>Questions &amp; Discussion</a:t>
            </a:r>
            <a:endParaRPr lang="en-US" sz="1800" dirty="0"/>
          </a:p>
        </p:txBody>
      </p:sp>
      <p:pic>
        <p:nvPicPr>
          <p:cNvPr id="7" name="Image 0" descr="/mnt/data/wide_clean_vector_flat_illustration_business_fina.png"/>
          <p:cNvPicPr>
            <a:picLocks noChangeAspect="1"/>
          </p:cNvPicPr>
          <p:nvPr/>
        </p:nvPicPr>
        <p:blipFill>
          <a:blip r:embed="rId3"/>
          <a:srcRect l="8772" r="8772"/>
          <a:stretch/>
        </p:blipFill>
        <p:spPr>
          <a:xfrm>
            <a:off x="4983480" y="1143000"/>
            <a:ext cx="5760720" cy="3931920"/>
          </a:xfrm>
          <a:prstGeom prst="rect">
            <a:avLst/>
          </a:prstGeom>
        </p:spPr>
      </p:pic>
      <p:sp>
        <p:nvSpPr>
          <p:cNvPr id="8" name="Text 5"/>
          <p:cNvSpPr/>
          <p:nvPr/>
        </p:nvSpPr>
        <p:spPr>
          <a:xfrm>
            <a:off x="320040" y="5806440"/>
            <a:ext cx="2926080" cy="320040"/>
          </a:xfrm>
          <a:prstGeom prst="rect">
            <a:avLst/>
          </a:prstGeom>
          <a:noFill/>
          <a:ln/>
        </p:spPr>
        <p:txBody>
          <a:bodyPr wrap="square" lIns="0" tIns="0" rIns="0" bIns="0" rtlCol="0" anchor="ctr"/>
          <a:lstStyle/>
          <a:p>
            <a:pPr marL="0" indent="0">
              <a:buNone/>
            </a:pPr>
            <a:r>
              <a:rPr lang="en-US" sz="850" dirty="0">
                <a:solidFill>
                  <a:srgbClr val="6B7280"/>
                </a:solidFill>
                <a:latin typeface="Lato" pitchFamily="34" charset="0"/>
                <a:ea typeface="Lato" pitchFamily="34" charset="-122"/>
                <a:cs typeface="Lato" pitchFamily="34" charset="-120"/>
              </a:rPr>
              <a:t>Data-Driven Bank Marketing</a:t>
            </a:r>
            <a:endParaRPr lang="en-US" sz="850" dirty="0"/>
          </a:p>
          <a:p>
            <a:pPr marL="0" indent="0">
              <a:buNone/>
            </a:pPr>
            <a:r>
              <a:rPr lang="en-US" sz="850" dirty="0">
                <a:solidFill>
                  <a:srgbClr val="6B7280"/>
                </a:solidFill>
                <a:latin typeface="Lato" pitchFamily="34" charset="0"/>
                <a:ea typeface="Lato" pitchFamily="34" charset="-122"/>
                <a:cs typeface="Lato" pitchFamily="34" charset="-120"/>
              </a:rPr>
              <a:t>Term Deposit Prediction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3312</Words>
  <Application>Microsoft Macintosh PowerPoint</Application>
  <PresentationFormat>Widescreen</PresentationFormat>
  <Paragraphs>424</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Arial</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Data-Driven Bank Marketing</dc:title>
  <dc:subject>Data-driven bank marketing presentation</dc:subject>
  <dc:creator>OpenAI</dc:creator>
  <cp:lastModifiedBy>Rika .</cp:lastModifiedBy>
  <cp:revision>10</cp:revision>
  <dcterms:created xsi:type="dcterms:W3CDTF">2026-10-09T16:15:17Z</dcterms:created>
  <dcterms:modified xsi:type="dcterms:W3CDTF">2026-10-09T17:11:32Z</dcterms:modified>
</cp:coreProperties>
</file>